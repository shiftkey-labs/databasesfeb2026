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3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7347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Database After Graduation</a:t>
            </a:r>
            <a:endParaRPr lang="en-US" sz="445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By Narges Yarahmadi Feb 2026</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290655"/>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Class 2: Production SQL &amp; Query Execution</a:t>
            </a:r>
            <a:endParaRPr lang="en-US" sz="4450" dirty="0"/>
          </a:p>
        </p:txBody>
      </p:sp>
      <p:sp>
        <p:nvSpPr>
          <p:cNvPr id="4" name="Text 1"/>
          <p:cNvSpPr/>
          <p:nvPr/>
        </p:nvSpPr>
        <p:spPr>
          <a:xfrm>
            <a:off x="793790" y="604837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Dive deep into optimizing SQL for real-world applications and understanding how your queries impact performance in live systems.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697242"/>
            <a:ext cx="11156394" cy="566976"/>
          </a:xfrm>
          <a:prstGeom prst="rect">
            <a:avLst/>
          </a:prstGeom>
          <a:noFill/>
          <a:ln/>
        </p:spPr>
        <p:txBody>
          <a:bodyPr wrap="none" lIns="0" tIns="0" rIns="0" bIns="0" rtlCol="0" anchor="t"/>
          <a:lstStyle/>
          <a:p>
            <a:pPr marL="0" indent="0" algn="l">
              <a:lnSpc>
                <a:spcPts val="4450"/>
              </a:lnSpc>
              <a:buNone/>
            </a:pPr>
            <a:r>
              <a:rPr lang="en-US" sz="3550" dirty="0">
                <a:solidFill>
                  <a:srgbClr val="FBF3FA"/>
                </a:solidFill>
                <a:latin typeface="Fira Mono Medium" pitchFamily="34" charset="0"/>
                <a:ea typeface="Fira Mono Medium" pitchFamily="34" charset="-122"/>
                <a:cs typeface="Fira Mono Medium" pitchFamily="34" charset="-120"/>
              </a:rPr>
              <a:t>Class 2: Production SQL &amp; Query Execution</a:t>
            </a:r>
            <a:endParaRPr lang="en-US" sz="3550" dirty="0"/>
          </a:p>
        </p:txBody>
      </p:sp>
      <p:sp>
        <p:nvSpPr>
          <p:cNvPr id="3" name="Text 1"/>
          <p:cNvSpPr/>
          <p:nvPr/>
        </p:nvSpPr>
        <p:spPr>
          <a:xfrm>
            <a:off x="793790" y="3717846"/>
            <a:ext cx="13042821" cy="1814513"/>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In this session, we move beyond “SQL that works” and focus on SQL that survives production. Real systems are not judged by whether a query returns correct rows, but by whether it does so efficiently, reliably, and predictably under load. This class is about learning how databases actually execute your queries and how small design choices can dramatically affect performance. We will explore how the database engine thinks, how it plans query execution, and how developers can guide that process using indexes and query structure.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57695"/>
            <a:ext cx="9795867" cy="566976"/>
          </a:xfrm>
          <a:prstGeom prst="rect">
            <a:avLst/>
          </a:prstGeom>
          <a:noFill/>
          <a:ln/>
        </p:spPr>
        <p:txBody>
          <a:bodyPr wrap="none" lIns="0" tIns="0" rIns="0" bIns="0" rtlCol="0" anchor="t"/>
          <a:lstStyle/>
          <a:p>
            <a:pPr marL="0" indent="0" algn="l">
              <a:lnSpc>
                <a:spcPts val="4450"/>
              </a:lnSpc>
              <a:buNone/>
            </a:pPr>
            <a:r>
              <a:rPr lang="en-US" sz="3550" dirty="0">
                <a:solidFill>
                  <a:srgbClr val="FBF3FA"/>
                </a:solidFill>
                <a:latin typeface="Fira Mono Medium" pitchFamily="34" charset="0"/>
                <a:ea typeface="Fira Mono Medium" pitchFamily="34" charset="-122"/>
                <a:cs typeface="Fira Mono Medium" pitchFamily="34" charset="-120"/>
              </a:rPr>
              <a:t>Writing Production-Level SQL Queries</a:t>
            </a:r>
            <a:endParaRPr lang="en-US" sz="3550" dirty="0"/>
          </a:p>
        </p:txBody>
      </p:sp>
      <p:sp>
        <p:nvSpPr>
          <p:cNvPr id="3" name="Text 1"/>
          <p:cNvSpPr/>
          <p:nvPr/>
        </p:nvSpPr>
        <p:spPr>
          <a:xfrm>
            <a:off x="793790" y="257829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In production systems, SQL queries must be readable, maintainable, and performant. A query may run thousands or millions of times per day, so clarity and efficiency matter more than clever tricks. We will discuss how to write SQL that:</a:t>
            </a:r>
            <a:endParaRPr lang="en-US" sz="1750" dirty="0"/>
          </a:p>
        </p:txBody>
      </p:sp>
      <p:sp>
        <p:nvSpPr>
          <p:cNvPr id="4" name="Text 2"/>
          <p:cNvSpPr/>
          <p:nvPr/>
        </p:nvSpPr>
        <p:spPr>
          <a:xfrm>
            <a:off x="793790" y="3559254"/>
            <a:ext cx="13042821" cy="181462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Uses clear aliases and consistent formatting</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Avoids unnecessary complexity</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Selects only required columns instead of using SELECT *</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Handles filtering, aggregation, and joins in a predictable way</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Scales well as data volume grows</a:t>
            </a:r>
            <a:endParaRPr lang="en-US" sz="1750" dirty="0"/>
          </a:p>
        </p:txBody>
      </p:sp>
      <p:sp>
        <p:nvSpPr>
          <p:cNvPr id="5" name="Text 3"/>
          <p:cNvSpPr/>
          <p:nvPr/>
        </p:nvSpPr>
        <p:spPr>
          <a:xfrm>
            <a:off x="793790" y="562902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We will also compare “developer-friendly” queries with “database-friendly” queries and learn how to balance readability with performance.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3241596"/>
            <a:ext cx="7891105" cy="566976"/>
          </a:xfrm>
          <a:prstGeom prst="rect">
            <a:avLst/>
          </a:prstGeom>
          <a:noFill/>
          <a:ln/>
        </p:spPr>
        <p:txBody>
          <a:bodyPr wrap="none" lIns="0" tIns="0" rIns="0" bIns="0" rtlCol="0" anchor="t"/>
          <a:lstStyle/>
          <a:p>
            <a:pPr marL="0" indent="0" algn="l">
              <a:lnSpc>
                <a:spcPts val="4450"/>
              </a:lnSpc>
              <a:buNone/>
            </a:pPr>
            <a:r>
              <a:rPr lang="en-US" sz="3550" dirty="0">
                <a:solidFill>
                  <a:srgbClr val="FBF3FA"/>
                </a:solidFill>
                <a:latin typeface="Fira Mono Medium" pitchFamily="34" charset="0"/>
                <a:ea typeface="Fira Mono Medium" pitchFamily="34" charset="-122"/>
                <a:cs typeface="Fira Mono Medium" pitchFamily="34" charset="-120"/>
              </a:rPr>
              <a:t>Let’s look into some samples:</a:t>
            </a:r>
            <a:endParaRPr lang="en-US" sz="3550" dirty="0"/>
          </a:p>
        </p:txBody>
      </p:sp>
      <p:sp>
        <p:nvSpPr>
          <p:cNvPr id="3" name="Text 1"/>
          <p:cNvSpPr/>
          <p:nvPr/>
        </p:nvSpPr>
        <p:spPr>
          <a:xfrm>
            <a:off x="793790" y="426219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Go to bright space and download the Creat_db_Insert_to_db.sql from week2 material. Run it. The dataset ER diagram would be as follow:</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20622" y="1295043"/>
            <a:ext cx="10389156" cy="752713"/>
          </a:xfrm>
          <a:prstGeom prst="rect">
            <a:avLst/>
          </a:prstGeom>
          <a:noFill/>
          <a:ln/>
        </p:spPr>
        <p:txBody>
          <a:bodyPr wrap="square" lIns="0" tIns="0" rIns="0" bIns="0" rtlCol="0" anchor="t"/>
          <a:lstStyle/>
          <a:p>
            <a:pPr marL="0" indent="0" algn="l">
              <a:lnSpc>
                <a:spcPts val="2950"/>
              </a:lnSpc>
              <a:buNone/>
            </a:pPr>
            <a:r>
              <a:rPr lang="en-US" sz="2350" dirty="0">
                <a:solidFill>
                  <a:srgbClr val="FBF3FA"/>
                </a:solidFill>
                <a:latin typeface="Fira Mono Medium" pitchFamily="34" charset="0"/>
                <a:ea typeface="Fira Mono Medium" pitchFamily="34" charset="-122"/>
                <a:cs typeface="Fira Mono Medium" pitchFamily="34" charset="-120"/>
              </a:rPr>
              <a:t>B) "Find customers who bought category X but never bought category Y"</a:t>
            </a:r>
            <a:endParaRPr lang="en-US" sz="2350" dirty="0"/>
          </a:p>
        </p:txBody>
      </p:sp>
      <p:sp>
        <p:nvSpPr>
          <p:cNvPr id="3" name="Text 1"/>
          <p:cNvSpPr/>
          <p:nvPr/>
        </p:nvSpPr>
        <p:spPr>
          <a:xfrm>
            <a:off x="2120622" y="2247543"/>
            <a:ext cx="10389156" cy="200382"/>
          </a:xfrm>
          <a:prstGeom prst="rect">
            <a:avLst/>
          </a:prstGeom>
          <a:noFill/>
          <a:ln/>
        </p:spPr>
        <p:txBody>
          <a:bodyPr wrap="none" lIns="0" tIns="0" rIns="0" bIns="0" rtlCol="0" anchor="t"/>
          <a:lstStyle/>
          <a:p>
            <a:pPr marL="0" indent="0" algn="l">
              <a:lnSpc>
                <a:spcPts val="1550"/>
              </a:lnSpc>
              <a:buNone/>
            </a:pPr>
            <a:r>
              <a:rPr lang="en-US" sz="1150" dirty="0">
                <a:solidFill>
                  <a:srgbClr val="E0D6DE"/>
                </a:solidFill>
                <a:latin typeface="Fira Sans" pitchFamily="34" charset="0"/>
                <a:ea typeface="Fira Sans" pitchFamily="34" charset="-122"/>
                <a:cs typeface="Fira Sans" pitchFamily="34" charset="-120"/>
              </a:rPr>
              <a:t>This is a classic production query used in marketing, recommendation, churn analysis.</a:t>
            </a:r>
            <a:endParaRPr lang="en-US" sz="1150" dirty="0"/>
          </a:p>
        </p:txBody>
      </p:sp>
      <p:sp>
        <p:nvSpPr>
          <p:cNvPr id="4" name="Text 2"/>
          <p:cNvSpPr/>
          <p:nvPr/>
        </p:nvSpPr>
        <p:spPr>
          <a:xfrm>
            <a:off x="2120622" y="2597825"/>
            <a:ext cx="3047643" cy="235268"/>
          </a:xfrm>
          <a:prstGeom prst="rect">
            <a:avLst/>
          </a:prstGeom>
          <a:noFill/>
          <a:ln/>
        </p:spPr>
        <p:txBody>
          <a:bodyPr wrap="none" lIns="0" tIns="0" rIns="0" bIns="0" rtlCol="0" anchor="t"/>
          <a:lstStyle/>
          <a:p>
            <a:pPr marL="0" indent="0" algn="l">
              <a:lnSpc>
                <a:spcPts val="1850"/>
              </a:lnSpc>
              <a:buNone/>
            </a:pPr>
            <a:r>
              <a:rPr lang="en-US" sz="1450" dirty="0">
                <a:solidFill>
                  <a:srgbClr val="FBF3FA"/>
                </a:solidFill>
                <a:latin typeface="Fira Mono Medium" pitchFamily="34" charset="0"/>
                <a:ea typeface="Fira Mono Medium" pitchFamily="34" charset="-122"/>
                <a:cs typeface="Fira Mono Medium" pitchFamily="34" charset="-120"/>
              </a:rPr>
              <a:t>Bad version (using NOT IN):</a:t>
            </a:r>
            <a:endParaRPr lang="en-US" sz="1450" dirty="0"/>
          </a:p>
        </p:txBody>
      </p:sp>
      <p:sp>
        <p:nvSpPr>
          <p:cNvPr id="5" name="Shape 3"/>
          <p:cNvSpPr/>
          <p:nvPr/>
        </p:nvSpPr>
        <p:spPr>
          <a:xfrm>
            <a:off x="2120622" y="2982992"/>
            <a:ext cx="10389156" cy="1027271"/>
          </a:xfrm>
          <a:prstGeom prst="roundRect">
            <a:avLst>
              <a:gd name="adj" fmla="val 2199"/>
            </a:avLst>
          </a:prstGeom>
          <a:solidFill>
            <a:srgbClr val="1C1C1D"/>
          </a:solidFill>
          <a:ln/>
        </p:spPr>
        <p:txBody>
          <a:bodyPr/>
          <a:lstStyle/>
          <a:p>
            <a:endParaRPr lang="en-US"/>
          </a:p>
        </p:txBody>
      </p:sp>
      <p:sp>
        <p:nvSpPr>
          <p:cNvPr id="6" name="Shape 4"/>
          <p:cNvSpPr/>
          <p:nvPr/>
        </p:nvSpPr>
        <p:spPr>
          <a:xfrm>
            <a:off x="2113121" y="2982992"/>
            <a:ext cx="10404158" cy="1027271"/>
          </a:xfrm>
          <a:prstGeom prst="roundRect">
            <a:avLst>
              <a:gd name="adj" fmla="val 2199"/>
            </a:avLst>
          </a:prstGeom>
          <a:solidFill>
            <a:srgbClr val="1C1C1D"/>
          </a:solidFill>
          <a:ln/>
        </p:spPr>
        <p:txBody>
          <a:bodyPr/>
          <a:lstStyle/>
          <a:p>
            <a:endParaRPr lang="en-US"/>
          </a:p>
        </p:txBody>
      </p:sp>
      <p:sp>
        <p:nvSpPr>
          <p:cNvPr id="7" name="Text 5"/>
          <p:cNvSpPr/>
          <p:nvPr/>
        </p:nvSpPr>
        <p:spPr>
          <a:xfrm>
            <a:off x="2263616" y="3095863"/>
            <a:ext cx="10103168" cy="801529"/>
          </a:xfrm>
          <a:prstGeom prst="rect">
            <a:avLst/>
          </a:prstGeom>
          <a:noFill/>
          <a:ln/>
        </p:spPr>
        <p:txBody>
          <a:bodyPr wrap="square" lIns="0" tIns="0" rIns="0" bIns="0" rtlCol="0" anchor="t"/>
          <a:lstStyle/>
          <a:p>
            <a:pPr marL="0" indent="0" algn="l">
              <a:lnSpc>
                <a:spcPts val="1550"/>
              </a:lnSpc>
              <a:buNone/>
            </a:pPr>
            <a:r>
              <a:rPr lang="en-US" sz="1150" dirty="0">
                <a:solidFill>
                  <a:srgbClr val="E0D6DE"/>
                </a:solidFill>
                <a:highlight>
                  <a:srgbClr val="1C1C1D"/>
                </a:highlight>
                <a:latin typeface="Consolas" pitchFamily="34" charset="0"/>
                <a:ea typeface="Consolas" pitchFamily="34" charset="-122"/>
                <a:cs typeface="Consolas" pitchFamily="34" charset="-120"/>
              </a:rPr>
              <a:t>EXPLAIN SELECT DISTINCT o.customer_id FROM orders o JOIN order_items oi ON oi.order_id = o.order_id JOIN products p ON p.product_id = oi.product_id WHERE o.order_status IN ('PAID','SHIPPED') AND p.category = 'phone' AND o.customer_id NOT IN ( SELECT o2.customer_id FROM orders o2 JOIN order_items oi2 ON oi2.order_id = o2.order_id JOIN products p2 ON p2.product_id = oi2.product_id WHERE o2.order_status IN ('PAID','SHIPPED') AND p2.category = 'laptop' );</a:t>
            </a:r>
            <a:endParaRPr lang="en-US" sz="1150" dirty="0"/>
          </a:p>
        </p:txBody>
      </p:sp>
      <p:sp>
        <p:nvSpPr>
          <p:cNvPr id="8" name="Text 6"/>
          <p:cNvSpPr/>
          <p:nvPr/>
        </p:nvSpPr>
        <p:spPr>
          <a:xfrm>
            <a:off x="2120622" y="4160163"/>
            <a:ext cx="9255562" cy="235268"/>
          </a:xfrm>
          <a:prstGeom prst="rect">
            <a:avLst/>
          </a:prstGeom>
          <a:noFill/>
          <a:ln/>
        </p:spPr>
        <p:txBody>
          <a:bodyPr wrap="none" lIns="0" tIns="0" rIns="0" bIns="0" rtlCol="0" anchor="t"/>
          <a:lstStyle/>
          <a:p>
            <a:pPr marL="0" indent="0" algn="l">
              <a:lnSpc>
                <a:spcPts val="1850"/>
              </a:lnSpc>
              <a:buNone/>
            </a:pPr>
            <a:r>
              <a:rPr lang="en-US" sz="1450" dirty="0">
                <a:solidFill>
                  <a:srgbClr val="FBF3FA"/>
                </a:solidFill>
                <a:latin typeface="Fira Mono Medium" pitchFamily="34" charset="0"/>
                <a:ea typeface="Fira Mono Medium" pitchFamily="34" charset="-122"/>
                <a:cs typeface="Fira Mono Medium" pitchFamily="34" charset="-120"/>
              </a:rPr>
              <a:t>Better production version using NOT EXISTS (more reliable than NOT IN with NULLs):</a:t>
            </a:r>
            <a:endParaRPr lang="en-US" sz="1450" dirty="0"/>
          </a:p>
        </p:txBody>
      </p:sp>
      <p:sp>
        <p:nvSpPr>
          <p:cNvPr id="9" name="Shape 7"/>
          <p:cNvSpPr/>
          <p:nvPr/>
        </p:nvSpPr>
        <p:spPr>
          <a:xfrm>
            <a:off x="2120622" y="4545330"/>
            <a:ext cx="10389156" cy="1027271"/>
          </a:xfrm>
          <a:prstGeom prst="roundRect">
            <a:avLst>
              <a:gd name="adj" fmla="val 2199"/>
            </a:avLst>
          </a:prstGeom>
          <a:solidFill>
            <a:srgbClr val="1C1C1D"/>
          </a:solidFill>
          <a:ln/>
        </p:spPr>
        <p:txBody>
          <a:bodyPr/>
          <a:lstStyle/>
          <a:p>
            <a:endParaRPr lang="en-US"/>
          </a:p>
        </p:txBody>
      </p:sp>
      <p:sp>
        <p:nvSpPr>
          <p:cNvPr id="10" name="Shape 8"/>
          <p:cNvSpPr/>
          <p:nvPr/>
        </p:nvSpPr>
        <p:spPr>
          <a:xfrm>
            <a:off x="2113121" y="4545330"/>
            <a:ext cx="10404158" cy="1027271"/>
          </a:xfrm>
          <a:prstGeom prst="roundRect">
            <a:avLst>
              <a:gd name="adj" fmla="val 2199"/>
            </a:avLst>
          </a:prstGeom>
          <a:solidFill>
            <a:srgbClr val="1C1C1D"/>
          </a:solidFill>
          <a:ln/>
        </p:spPr>
        <p:txBody>
          <a:bodyPr/>
          <a:lstStyle/>
          <a:p>
            <a:endParaRPr lang="en-US"/>
          </a:p>
        </p:txBody>
      </p:sp>
      <p:sp>
        <p:nvSpPr>
          <p:cNvPr id="11" name="Text 9"/>
          <p:cNvSpPr/>
          <p:nvPr/>
        </p:nvSpPr>
        <p:spPr>
          <a:xfrm>
            <a:off x="2263616" y="4658201"/>
            <a:ext cx="10103168" cy="801529"/>
          </a:xfrm>
          <a:prstGeom prst="rect">
            <a:avLst/>
          </a:prstGeom>
          <a:noFill/>
          <a:ln/>
        </p:spPr>
        <p:txBody>
          <a:bodyPr wrap="square" lIns="0" tIns="0" rIns="0" bIns="0" rtlCol="0" anchor="t"/>
          <a:lstStyle/>
          <a:p>
            <a:pPr marL="0" indent="0" algn="l">
              <a:lnSpc>
                <a:spcPts val="1550"/>
              </a:lnSpc>
              <a:buNone/>
            </a:pPr>
            <a:r>
              <a:rPr lang="en-US" sz="1150" dirty="0">
                <a:solidFill>
                  <a:srgbClr val="E0D6DE"/>
                </a:solidFill>
                <a:highlight>
                  <a:srgbClr val="1C1C1D"/>
                </a:highlight>
                <a:latin typeface="Consolas" pitchFamily="34" charset="0"/>
                <a:ea typeface="Consolas" pitchFamily="34" charset="-122"/>
                <a:cs typeface="Consolas" pitchFamily="34" charset="-120"/>
              </a:rPr>
              <a:t>EXPLAIN SELECT DISTINCT o.customer_id FROM orders o JOIN order_items oi ON oi.order_id = o.order_id JOIN products p ON p.product_id = oi.product_id WHERE o.order_status IN ('PAID','SHIPPED') AND p.category = 'phone' AND NOT EXISTS ( SELECT 1 FROM orders o2 JOIN order_items oi2 ON oi2.order_id = o2.order_id JOIN products p2 ON p2.product_id = oi2.product_id WHERE o2.customer_id = o.customer_id AND o2.order_status IN ('PAID','SHIPPED') AND p2.category = 'laptop' );</a:t>
            </a:r>
            <a:endParaRPr lang="en-US" sz="1150" dirty="0"/>
          </a:p>
        </p:txBody>
      </p:sp>
      <p:sp>
        <p:nvSpPr>
          <p:cNvPr id="12" name="Text 10"/>
          <p:cNvSpPr/>
          <p:nvPr/>
        </p:nvSpPr>
        <p:spPr>
          <a:xfrm>
            <a:off x="2120622" y="5722501"/>
            <a:ext cx="3611999" cy="235268"/>
          </a:xfrm>
          <a:prstGeom prst="rect">
            <a:avLst/>
          </a:prstGeom>
          <a:noFill/>
          <a:ln/>
        </p:spPr>
        <p:txBody>
          <a:bodyPr wrap="none" lIns="0" tIns="0" rIns="0" bIns="0" rtlCol="0" anchor="t"/>
          <a:lstStyle/>
          <a:p>
            <a:pPr marL="0" indent="0" algn="l">
              <a:lnSpc>
                <a:spcPts val="1850"/>
              </a:lnSpc>
              <a:buNone/>
            </a:pPr>
            <a:r>
              <a:rPr lang="en-US" sz="1450" dirty="0">
                <a:solidFill>
                  <a:srgbClr val="FBF3FA"/>
                </a:solidFill>
                <a:latin typeface="Fira Mono Medium" pitchFamily="34" charset="0"/>
                <a:ea typeface="Fira Mono Medium" pitchFamily="34" charset="-122"/>
                <a:cs typeface="Fira Mono Medium" pitchFamily="34" charset="-120"/>
              </a:rPr>
              <a:t>Index upgrades for this pattern:</a:t>
            </a:r>
            <a:endParaRPr lang="en-US" sz="1450" dirty="0"/>
          </a:p>
        </p:txBody>
      </p:sp>
      <p:sp>
        <p:nvSpPr>
          <p:cNvPr id="13" name="Shape 11"/>
          <p:cNvSpPr/>
          <p:nvPr/>
        </p:nvSpPr>
        <p:spPr>
          <a:xfrm>
            <a:off x="2120622" y="6107668"/>
            <a:ext cx="10389156" cy="826889"/>
          </a:xfrm>
          <a:prstGeom prst="roundRect">
            <a:avLst>
              <a:gd name="adj" fmla="val 2731"/>
            </a:avLst>
          </a:prstGeom>
          <a:solidFill>
            <a:srgbClr val="1C1C1D"/>
          </a:solidFill>
          <a:ln/>
        </p:spPr>
        <p:txBody>
          <a:bodyPr/>
          <a:lstStyle/>
          <a:p>
            <a:endParaRPr lang="en-US"/>
          </a:p>
        </p:txBody>
      </p:sp>
      <p:sp>
        <p:nvSpPr>
          <p:cNvPr id="14" name="Shape 12"/>
          <p:cNvSpPr/>
          <p:nvPr/>
        </p:nvSpPr>
        <p:spPr>
          <a:xfrm>
            <a:off x="2113121" y="6107668"/>
            <a:ext cx="10404158" cy="826889"/>
          </a:xfrm>
          <a:prstGeom prst="roundRect">
            <a:avLst>
              <a:gd name="adj" fmla="val 2731"/>
            </a:avLst>
          </a:prstGeom>
          <a:solidFill>
            <a:srgbClr val="1C1C1D"/>
          </a:solidFill>
          <a:ln/>
        </p:spPr>
        <p:txBody>
          <a:bodyPr/>
          <a:lstStyle/>
          <a:p>
            <a:endParaRPr lang="en-US"/>
          </a:p>
        </p:txBody>
      </p:sp>
      <p:sp>
        <p:nvSpPr>
          <p:cNvPr id="15" name="Text 13"/>
          <p:cNvSpPr/>
          <p:nvPr/>
        </p:nvSpPr>
        <p:spPr>
          <a:xfrm>
            <a:off x="2263616" y="6220539"/>
            <a:ext cx="10103168" cy="601147"/>
          </a:xfrm>
          <a:prstGeom prst="rect">
            <a:avLst/>
          </a:prstGeom>
          <a:noFill/>
          <a:ln/>
        </p:spPr>
        <p:txBody>
          <a:bodyPr wrap="square" lIns="0" tIns="0" rIns="0" bIns="0" rtlCol="0" anchor="t"/>
          <a:lstStyle/>
          <a:p>
            <a:pPr marL="0" indent="0" algn="l">
              <a:lnSpc>
                <a:spcPts val="1550"/>
              </a:lnSpc>
              <a:buNone/>
            </a:pPr>
            <a:r>
              <a:rPr lang="en-US" sz="1150" dirty="0">
                <a:solidFill>
                  <a:srgbClr val="E0D6DE"/>
                </a:solidFill>
                <a:highlight>
                  <a:srgbClr val="1C1C1D"/>
                </a:highlight>
                <a:latin typeface="Consolas" pitchFamily="34" charset="0"/>
                <a:ea typeface="Consolas" pitchFamily="34" charset="-122"/>
                <a:cs typeface="Consolas" pitchFamily="34" charset="-120"/>
              </a:rPr>
              <a:t>CREATE INDEX idx_products_category_id ON products(category, product_id);</a:t>
            </a:r>
            <a:endParaRPr lang="en-US" sz="1150" dirty="0"/>
          </a:p>
          <a:p>
            <a:pPr marL="0" indent="0" algn="l">
              <a:lnSpc>
                <a:spcPts val="1550"/>
              </a:lnSpc>
              <a:buNone/>
            </a:pPr>
            <a:r>
              <a:rPr lang="en-US" sz="1150" dirty="0">
                <a:solidFill>
                  <a:srgbClr val="E0D6DE"/>
                </a:solidFill>
                <a:highlight>
                  <a:srgbClr val="1C1C1D"/>
                </a:highlight>
                <a:latin typeface="Consolas" pitchFamily="34" charset="0"/>
                <a:ea typeface="Consolas" pitchFamily="34" charset="-122"/>
                <a:cs typeface="Consolas" pitchFamily="34" charset="-120"/>
              </a:rPr>
              <a:t>CREATE INDEX idx_orders_customer_status ON orders(customer_id, order_status, order_id);</a:t>
            </a:r>
            <a:endParaRPr lang="en-US" sz="1150" dirty="0"/>
          </a:p>
          <a:p>
            <a:pPr marL="0" indent="0" algn="l">
              <a:lnSpc>
                <a:spcPts val="1550"/>
              </a:lnSpc>
              <a:buNone/>
            </a:pPr>
            <a:r>
              <a:rPr lang="en-US" sz="1150" dirty="0">
                <a:solidFill>
                  <a:srgbClr val="E0D6DE"/>
                </a:solidFill>
                <a:highlight>
                  <a:srgbClr val="1C1C1D"/>
                </a:highlight>
                <a:latin typeface="Consolas" pitchFamily="34" charset="0"/>
                <a:ea typeface="Consolas" pitchFamily="34" charset="-122"/>
                <a:cs typeface="Consolas" pitchFamily="34" charset="-120"/>
              </a:rPr>
              <a:t>CREATE INDEX idx_items_order_product ON order_items(order_id, product_id);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816418" y="1315879"/>
            <a:ext cx="10756344" cy="498038"/>
          </a:xfrm>
          <a:prstGeom prst="rect">
            <a:avLst/>
          </a:prstGeom>
          <a:noFill/>
          <a:ln/>
        </p:spPr>
        <p:txBody>
          <a:bodyPr wrap="none" lIns="0" tIns="0" rIns="0" bIns="0" rtlCol="0" anchor="t"/>
          <a:lstStyle/>
          <a:p>
            <a:pPr marL="0" indent="0" algn="l">
              <a:lnSpc>
                <a:spcPts val="3900"/>
              </a:lnSpc>
              <a:buNone/>
            </a:pPr>
            <a:r>
              <a:rPr lang="en-US" sz="3100" dirty="0">
                <a:solidFill>
                  <a:srgbClr val="FBF3FA"/>
                </a:solidFill>
                <a:latin typeface="Fira Mono Medium" pitchFamily="34" charset="0"/>
                <a:ea typeface="Fira Mono Medium" pitchFamily="34" charset="-122"/>
                <a:cs typeface="Fira Mono Medium" pitchFamily="34" charset="-120"/>
              </a:rPr>
              <a:t>A) "Top customers by revenue in last 30 days"</a:t>
            </a:r>
            <a:endParaRPr lang="en-US" sz="3100" dirty="0"/>
          </a:p>
        </p:txBody>
      </p:sp>
      <p:sp>
        <p:nvSpPr>
          <p:cNvPr id="3" name="Text 1"/>
          <p:cNvSpPr/>
          <p:nvPr/>
        </p:nvSpPr>
        <p:spPr>
          <a:xfrm>
            <a:off x="1816418" y="2037874"/>
            <a:ext cx="10997446" cy="217051"/>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Bad version (still correct, but heavier than needed):</a:t>
            </a:r>
            <a:endParaRPr lang="en-US" sz="1250" dirty="0"/>
          </a:p>
        </p:txBody>
      </p:sp>
      <p:sp>
        <p:nvSpPr>
          <p:cNvPr id="4" name="Shape 2"/>
          <p:cNvSpPr/>
          <p:nvPr/>
        </p:nvSpPr>
        <p:spPr>
          <a:xfrm>
            <a:off x="1816418" y="2380893"/>
            <a:ext cx="10997446" cy="889992"/>
          </a:xfrm>
          <a:prstGeom prst="roundRect">
            <a:avLst>
              <a:gd name="adj" fmla="val 2686"/>
            </a:avLst>
          </a:prstGeom>
          <a:solidFill>
            <a:srgbClr val="1C1C1D"/>
          </a:solidFill>
          <a:ln/>
        </p:spPr>
        <p:txBody>
          <a:bodyPr/>
          <a:lstStyle/>
          <a:p>
            <a:endParaRPr lang="en-US"/>
          </a:p>
        </p:txBody>
      </p:sp>
      <p:sp>
        <p:nvSpPr>
          <p:cNvPr id="5" name="Shape 3"/>
          <p:cNvSpPr/>
          <p:nvPr/>
        </p:nvSpPr>
        <p:spPr>
          <a:xfrm>
            <a:off x="1808559" y="2380893"/>
            <a:ext cx="11013162" cy="889992"/>
          </a:xfrm>
          <a:prstGeom prst="roundRect">
            <a:avLst>
              <a:gd name="adj" fmla="val 2686"/>
            </a:avLst>
          </a:prstGeom>
          <a:solidFill>
            <a:srgbClr val="1C1C1D"/>
          </a:solidFill>
          <a:ln/>
        </p:spPr>
        <p:txBody>
          <a:bodyPr/>
          <a:lstStyle/>
          <a:p>
            <a:endParaRPr lang="en-US"/>
          </a:p>
        </p:txBody>
      </p:sp>
      <p:sp>
        <p:nvSpPr>
          <p:cNvPr id="6" name="Text 4"/>
          <p:cNvSpPr/>
          <p:nvPr/>
        </p:nvSpPr>
        <p:spPr>
          <a:xfrm>
            <a:off x="1967865" y="2500313"/>
            <a:ext cx="10694551" cy="651153"/>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EXPLAIN SELECT c.customer_id, c.email, SUM(o.order_total) AS revenue FROM customers c JOIN orders o ON o.customer_id = c.customer_id WHERE o.placed_at &gt;= NOW() - INTERVAL 30 DAY AND o.order_status IN ('PAID','SHIPPED') GROUP BY c.customer_id, c.email ORDER BY revenue DESC LIMIT 20;</a:t>
            </a:r>
            <a:endParaRPr lang="en-US" sz="1250" dirty="0"/>
          </a:p>
        </p:txBody>
      </p:sp>
      <p:sp>
        <p:nvSpPr>
          <p:cNvPr id="7" name="Text 5"/>
          <p:cNvSpPr/>
          <p:nvPr/>
        </p:nvSpPr>
        <p:spPr>
          <a:xfrm>
            <a:off x="1816418" y="3396853"/>
            <a:ext cx="10997446" cy="217051"/>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Better version (filters early and only selects necessary columns):</a:t>
            </a:r>
            <a:endParaRPr lang="en-US" sz="1250" dirty="0"/>
          </a:p>
        </p:txBody>
      </p:sp>
      <p:sp>
        <p:nvSpPr>
          <p:cNvPr id="8" name="Shape 6"/>
          <p:cNvSpPr/>
          <p:nvPr/>
        </p:nvSpPr>
        <p:spPr>
          <a:xfrm>
            <a:off x="1816418" y="3739872"/>
            <a:ext cx="10997446" cy="672941"/>
          </a:xfrm>
          <a:prstGeom prst="roundRect">
            <a:avLst>
              <a:gd name="adj" fmla="val 3553"/>
            </a:avLst>
          </a:prstGeom>
          <a:solidFill>
            <a:srgbClr val="1C1C1D"/>
          </a:solidFill>
          <a:ln/>
        </p:spPr>
        <p:txBody>
          <a:bodyPr/>
          <a:lstStyle/>
          <a:p>
            <a:endParaRPr lang="en-US"/>
          </a:p>
        </p:txBody>
      </p:sp>
      <p:sp>
        <p:nvSpPr>
          <p:cNvPr id="9" name="Shape 7"/>
          <p:cNvSpPr/>
          <p:nvPr/>
        </p:nvSpPr>
        <p:spPr>
          <a:xfrm>
            <a:off x="1808559" y="3739872"/>
            <a:ext cx="11013162" cy="672941"/>
          </a:xfrm>
          <a:prstGeom prst="roundRect">
            <a:avLst>
              <a:gd name="adj" fmla="val 3553"/>
            </a:avLst>
          </a:prstGeom>
          <a:solidFill>
            <a:srgbClr val="1C1C1D"/>
          </a:solidFill>
          <a:ln/>
        </p:spPr>
        <p:txBody>
          <a:bodyPr/>
          <a:lstStyle/>
          <a:p>
            <a:endParaRPr lang="en-US"/>
          </a:p>
        </p:txBody>
      </p:sp>
      <p:sp>
        <p:nvSpPr>
          <p:cNvPr id="10" name="Text 8"/>
          <p:cNvSpPr/>
          <p:nvPr/>
        </p:nvSpPr>
        <p:spPr>
          <a:xfrm>
            <a:off x="1967865" y="3859292"/>
            <a:ext cx="10694551" cy="434102"/>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EXPLAIN SELECT o.customer_id, SUM(o.order_total) AS revenue FROM orders o WHERE o.placed_at &gt;= NOW() - INTERVAL 30 DAY AND o.order_status IN ('PAID','SHIPPED') GROUP BY o.customer_id ORDER BY revenue DESC LIMIT 20;</a:t>
            </a:r>
            <a:endParaRPr lang="en-US" sz="1250" dirty="0"/>
          </a:p>
        </p:txBody>
      </p:sp>
      <p:sp>
        <p:nvSpPr>
          <p:cNvPr id="11" name="Text 9"/>
          <p:cNvSpPr/>
          <p:nvPr/>
        </p:nvSpPr>
        <p:spPr>
          <a:xfrm>
            <a:off x="1816418" y="4538782"/>
            <a:ext cx="10997446" cy="217051"/>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Then join only the top 20 to customers:</a:t>
            </a:r>
            <a:endParaRPr lang="en-US" sz="1250" dirty="0"/>
          </a:p>
        </p:txBody>
      </p:sp>
      <p:sp>
        <p:nvSpPr>
          <p:cNvPr id="12" name="Shape 10"/>
          <p:cNvSpPr/>
          <p:nvPr/>
        </p:nvSpPr>
        <p:spPr>
          <a:xfrm>
            <a:off x="1816418" y="4881801"/>
            <a:ext cx="10997446" cy="889992"/>
          </a:xfrm>
          <a:prstGeom prst="roundRect">
            <a:avLst>
              <a:gd name="adj" fmla="val 2686"/>
            </a:avLst>
          </a:prstGeom>
          <a:solidFill>
            <a:srgbClr val="1C1C1D"/>
          </a:solidFill>
          <a:ln/>
        </p:spPr>
        <p:txBody>
          <a:bodyPr/>
          <a:lstStyle/>
          <a:p>
            <a:endParaRPr lang="en-US"/>
          </a:p>
        </p:txBody>
      </p:sp>
      <p:sp>
        <p:nvSpPr>
          <p:cNvPr id="13" name="Shape 11"/>
          <p:cNvSpPr/>
          <p:nvPr/>
        </p:nvSpPr>
        <p:spPr>
          <a:xfrm>
            <a:off x="1808559" y="4881801"/>
            <a:ext cx="11013162" cy="889992"/>
          </a:xfrm>
          <a:prstGeom prst="roundRect">
            <a:avLst>
              <a:gd name="adj" fmla="val 2686"/>
            </a:avLst>
          </a:prstGeom>
          <a:solidFill>
            <a:srgbClr val="1C1C1D"/>
          </a:solidFill>
          <a:ln/>
        </p:spPr>
        <p:txBody>
          <a:bodyPr/>
          <a:lstStyle/>
          <a:p>
            <a:endParaRPr lang="en-US"/>
          </a:p>
        </p:txBody>
      </p:sp>
      <p:sp>
        <p:nvSpPr>
          <p:cNvPr id="14" name="Text 12"/>
          <p:cNvSpPr/>
          <p:nvPr/>
        </p:nvSpPr>
        <p:spPr>
          <a:xfrm>
            <a:off x="1967865" y="5001220"/>
            <a:ext cx="10694551" cy="651153"/>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EXPLAIN SELECT c.customer_id, c.email, t.revenue FROM ( SELECT o.customer_id, SUM(o.order_total) AS revenue FROM orders o WHERE o.placed_at &gt;= NOW() - INTERVAL 30 DAY AND o.order_status IN ('PAID','SHIPPED') GROUP BY o.customer_id ORDER BY revenue DESC LIMIT 20 ) t JOIN customers c ON c.customer_id = t.customer_id ORDER BY t.revenue DESC;</a:t>
            </a:r>
            <a:endParaRPr lang="en-US" sz="1250" dirty="0"/>
          </a:p>
        </p:txBody>
      </p:sp>
      <p:sp>
        <p:nvSpPr>
          <p:cNvPr id="15" name="Text 13"/>
          <p:cNvSpPr/>
          <p:nvPr/>
        </p:nvSpPr>
        <p:spPr>
          <a:xfrm>
            <a:off x="1816418" y="5897761"/>
            <a:ext cx="10997446" cy="217051"/>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Index upgrade for this pattern:</a:t>
            </a:r>
            <a:endParaRPr lang="en-US" sz="1250" dirty="0"/>
          </a:p>
        </p:txBody>
      </p:sp>
      <p:sp>
        <p:nvSpPr>
          <p:cNvPr id="16" name="Shape 14"/>
          <p:cNvSpPr/>
          <p:nvPr/>
        </p:nvSpPr>
        <p:spPr>
          <a:xfrm>
            <a:off x="1816418" y="6240780"/>
            <a:ext cx="10997446" cy="672941"/>
          </a:xfrm>
          <a:prstGeom prst="roundRect">
            <a:avLst>
              <a:gd name="adj" fmla="val 3553"/>
            </a:avLst>
          </a:prstGeom>
          <a:solidFill>
            <a:srgbClr val="1C1C1D"/>
          </a:solidFill>
          <a:ln/>
        </p:spPr>
        <p:txBody>
          <a:bodyPr/>
          <a:lstStyle/>
          <a:p>
            <a:endParaRPr lang="en-US"/>
          </a:p>
        </p:txBody>
      </p:sp>
      <p:sp>
        <p:nvSpPr>
          <p:cNvPr id="17" name="Shape 15"/>
          <p:cNvSpPr/>
          <p:nvPr/>
        </p:nvSpPr>
        <p:spPr>
          <a:xfrm>
            <a:off x="1808559" y="6240780"/>
            <a:ext cx="11013162" cy="672941"/>
          </a:xfrm>
          <a:prstGeom prst="roundRect">
            <a:avLst>
              <a:gd name="adj" fmla="val 3553"/>
            </a:avLst>
          </a:prstGeom>
          <a:solidFill>
            <a:srgbClr val="1C1C1D"/>
          </a:solidFill>
          <a:ln/>
        </p:spPr>
        <p:txBody>
          <a:bodyPr/>
          <a:lstStyle/>
          <a:p>
            <a:endParaRPr lang="en-US"/>
          </a:p>
        </p:txBody>
      </p:sp>
      <p:sp>
        <p:nvSpPr>
          <p:cNvPr id="18" name="Text 16"/>
          <p:cNvSpPr/>
          <p:nvPr/>
        </p:nvSpPr>
        <p:spPr>
          <a:xfrm>
            <a:off x="1967865" y="6360200"/>
            <a:ext cx="10694551" cy="434102"/>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 Helps WHERE on status + placed_at and GROUP BY customer_id</a:t>
            </a:r>
            <a:endParaRPr lang="en-US" sz="1250" dirty="0"/>
          </a:p>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INDEX idx_orders_status_placed_customer ON orders(order_status, placed_at, customer_id);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3899" y="1184196"/>
            <a:ext cx="13202603" cy="1019651"/>
          </a:xfrm>
          <a:prstGeom prst="rect">
            <a:avLst/>
          </a:prstGeom>
          <a:noFill/>
          <a:ln/>
        </p:spPr>
        <p:txBody>
          <a:bodyPr wrap="square" lIns="0" tIns="0" rIns="0" bIns="0" rtlCol="0" anchor="t"/>
          <a:lstStyle/>
          <a:p>
            <a:pPr marL="0" indent="0" algn="l">
              <a:lnSpc>
                <a:spcPts val="4000"/>
              </a:lnSpc>
              <a:buNone/>
            </a:pPr>
            <a:r>
              <a:rPr lang="en-US" sz="3200" dirty="0">
                <a:solidFill>
                  <a:srgbClr val="FBF3FA"/>
                </a:solidFill>
                <a:latin typeface="Fira Mono Medium" pitchFamily="34" charset="0"/>
                <a:ea typeface="Fira Mono Medium" pitchFamily="34" charset="-122"/>
                <a:cs typeface="Fira Mono Medium" pitchFamily="34" charset="-120"/>
              </a:rPr>
              <a:t>“Find customers who bought category X but never bought category Y”</a:t>
            </a:r>
            <a:endParaRPr lang="en-US" sz="3200" dirty="0"/>
          </a:p>
        </p:txBody>
      </p:sp>
      <p:sp>
        <p:nvSpPr>
          <p:cNvPr id="3" name="Text 1"/>
          <p:cNvSpPr/>
          <p:nvPr/>
        </p:nvSpPr>
        <p:spPr>
          <a:xfrm>
            <a:off x="713899" y="2570678"/>
            <a:ext cx="13202603" cy="309801"/>
          </a:xfrm>
          <a:prstGeom prst="rect">
            <a:avLst/>
          </a:prstGeom>
          <a:noFill/>
          <a:ln/>
        </p:spPr>
        <p:txBody>
          <a:bodyPr wrap="none" lIns="0" tIns="0" rIns="0" bIns="0" rtlCol="0" anchor="t"/>
          <a:lstStyle/>
          <a:p>
            <a:pPr marL="0" indent="0" algn="l">
              <a:lnSpc>
                <a:spcPts val="2400"/>
              </a:lnSpc>
              <a:buNone/>
            </a:pPr>
            <a:r>
              <a:rPr lang="en-US" sz="1600" dirty="0">
                <a:solidFill>
                  <a:srgbClr val="E0D6DE"/>
                </a:solidFill>
                <a:latin typeface="Fira Sans" pitchFamily="34" charset="0"/>
                <a:ea typeface="Fira Sans" pitchFamily="34" charset="-122"/>
                <a:cs typeface="Fira Sans" pitchFamily="34" charset="-120"/>
              </a:rPr>
              <a:t>This is a classic production query used in marketing, recommendation, churn analysis.</a:t>
            </a:r>
            <a:endParaRPr lang="en-US" sz="1600" dirty="0"/>
          </a:p>
        </p:txBody>
      </p:sp>
      <p:sp>
        <p:nvSpPr>
          <p:cNvPr id="4" name="Shape 2"/>
          <p:cNvSpPr/>
          <p:nvPr/>
        </p:nvSpPr>
        <p:spPr>
          <a:xfrm>
            <a:off x="713899" y="3086814"/>
            <a:ext cx="13202603" cy="1544955"/>
          </a:xfrm>
          <a:prstGeom prst="roundRect">
            <a:avLst>
              <a:gd name="adj" fmla="val 1980"/>
            </a:avLst>
          </a:prstGeom>
          <a:solidFill>
            <a:srgbClr val="1C1C1D"/>
          </a:solidFill>
          <a:ln/>
        </p:spPr>
        <p:txBody>
          <a:bodyPr/>
          <a:lstStyle/>
          <a:p>
            <a:endParaRPr lang="en-US"/>
          </a:p>
        </p:txBody>
      </p:sp>
      <p:sp>
        <p:nvSpPr>
          <p:cNvPr id="5" name="Shape 3"/>
          <p:cNvSpPr/>
          <p:nvPr/>
        </p:nvSpPr>
        <p:spPr>
          <a:xfrm>
            <a:off x="703778" y="3086814"/>
            <a:ext cx="13222843" cy="1544955"/>
          </a:xfrm>
          <a:prstGeom prst="roundRect">
            <a:avLst>
              <a:gd name="adj" fmla="val 1980"/>
            </a:avLst>
          </a:prstGeom>
          <a:solidFill>
            <a:srgbClr val="1C1C1D"/>
          </a:solidFill>
          <a:ln/>
        </p:spPr>
        <p:txBody>
          <a:bodyPr/>
          <a:lstStyle/>
          <a:p>
            <a:endParaRPr lang="en-US"/>
          </a:p>
        </p:txBody>
      </p:sp>
      <p:sp>
        <p:nvSpPr>
          <p:cNvPr id="6" name="Text 4"/>
          <p:cNvSpPr/>
          <p:nvPr/>
        </p:nvSpPr>
        <p:spPr>
          <a:xfrm>
            <a:off x="907733" y="3239691"/>
            <a:ext cx="12814935" cy="1239203"/>
          </a:xfrm>
          <a:prstGeom prst="rect">
            <a:avLst/>
          </a:prstGeom>
          <a:noFill/>
          <a:ln/>
        </p:spPr>
        <p:txBody>
          <a:bodyPr wrap="square" lIns="0" tIns="0" rIns="0" bIns="0" rtlCol="0" anchor="t"/>
          <a:lstStyle/>
          <a:p>
            <a:pPr marL="0" indent="0" algn="l">
              <a:lnSpc>
                <a:spcPts val="2400"/>
              </a:lnSpc>
              <a:buNone/>
            </a:pPr>
            <a:r>
              <a:rPr lang="en-US" sz="1600" dirty="0">
                <a:solidFill>
                  <a:srgbClr val="E0D6DE"/>
                </a:solidFill>
                <a:highlight>
                  <a:srgbClr val="1C1C1D"/>
                </a:highlight>
                <a:latin typeface="Consolas" pitchFamily="34" charset="0"/>
                <a:ea typeface="Consolas" pitchFamily="34" charset="-122"/>
                <a:cs typeface="Consolas" pitchFamily="34" charset="-120"/>
              </a:rPr>
              <a:t>EXPLAIN SELECT DISTINCT o.customer_id FROM orders o JOIN order_items oi ON oi.order_id = o.order_id JOIN products p ON p.product_id = oi.product_id WHERE o.order_status IN ('PAID','SHIPPED') AND p.category = 'phone' AND o.customer_id NOT IN ( SELECT o2.customer_id FROM orders o2 JOIN order_items oi2 ON oi2.order_id = o2.order_id JOIN products p2 ON p2.product_id = oi2.product_id WHERE o2.order_status IN ('PAID','SHIPPED') AND p2.category = 'laptop' );</a:t>
            </a:r>
            <a:endParaRPr lang="en-US" sz="1600" dirty="0"/>
          </a:p>
        </p:txBody>
      </p:sp>
      <p:sp>
        <p:nvSpPr>
          <p:cNvPr id="7" name="Text 5"/>
          <p:cNvSpPr/>
          <p:nvPr/>
        </p:nvSpPr>
        <p:spPr>
          <a:xfrm>
            <a:off x="713899" y="4906804"/>
            <a:ext cx="12388810" cy="318611"/>
          </a:xfrm>
          <a:prstGeom prst="rect">
            <a:avLst/>
          </a:prstGeom>
          <a:noFill/>
          <a:ln/>
        </p:spPr>
        <p:txBody>
          <a:bodyPr wrap="none" lIns="0" tIns="0" rIns="0" bIns="0" rtlCol="0" anchor="t"/>
          <a:lstStyle/>
          <a:p>
            <a:pPr marL="0" indent="0" algn="l">
              <a:lnSpc>
                <a:spcPts val="2500"/>
              </a:lnSpc>
              <a:buNone/>
            </a:pPr>
            <a:r>
              <a:rPr lang="en-US" sz="2000" dirty="0">
                <a:solidFill>
                  <a:srgbClr val="FBF3FA"/>
                </a:solidFill>
                <a:latin typeface="Fira Mono Medium" pitchFamily="34" charset="0"/>
                <a:ea typeface="Fira Mono Medium" pitchFamily="34" charset="-122"/>
                <a:cs typeface="Fira Mono Medium" pitchFamily="34" charset="-120"/>
              </a:rPr>
              <a:t>Better production version using NOT EXISTS (more reliable than NOT IN with NULLs)</a:t>
            </a:r>
            <a:endParaRPr lang="en-US" sz="2000" dirty="0"/>
          </a:p>
        </p:txBody>
      </p:sp>
      <p:sp>
        <p:nvSpPr>
          <p:cNvPr id="8" name="Shape 6"/>
          <p:cNvSpPr/>
          <p:nvPr/>
        </p:nvSpPr>
        <p:spPr>
          <a:xfrm>
            <a:off x="713899" y="5500449"/>
            <a:ext cx="13202603" cy="1544955"/>
          </a:xfrm>
          <a:prstGeom prst="roundRect">
            <a:avLst>
              <a:gd name="adj" fmla="val 1980"/>
            </a:avLst>
          </a:prstGeom>
          <a:solidFill>
            <a:srgbClr val="1C1C1D"/>
          </a:solidFill>
          <a:ln/>
        </p:spPr>
        <p:txBody>
          <a:bodyPr/>
          <a:lstStyle/>
          <a:p>
            <a:endParaRPr lang="en-US"/>
          </a:p>
        </p:txBody>
      </p:sp>
      <p:sp>
        <p:nvSpPr>
          <p:cNvPr id="9" name="Shape 7"/>
          <p:cNvSpPr/>
          <p:nvPr/>
        </p:nvSpPr>
        <p:spPr>
          <a:xfrm>
            <a:off x="703778" y="5500449"/>
            <a:ext cx="13222843" cy="1877813"/>
          </a:xfrm>
          <a:prstGeom prst="roundRect">
            <a:avLst>
              <a:gd name="adj" fmla="val 1980"/>
            </a:avLst>
          </a:prstGeom>
          <a:solidFill>
            <a:srgbClr val="1C1C1D"/>
          </a:solidFill>
          <a:ln/>
        </p:spPr>
        <p:txBody>
          <a:bodyPr/>
          <a:lstStyle/>
          <a:p>
            <a:endParaRPr lang="en-US"/>
          </a:p>
        </p:txBody>
      </p:sp>
      <p:sp>
        <p:nvSpPr>
          <p:cNvPr id="10" name="Text 8"/>
          <p:cNvSpPr/>
          <p:nvPr/>
        </p:nvSpPr>
        <p:spPr>
          <a:xfrm>
            <a:off x="907733" y="5653326"/>
            <a:ext cx="12814935" cy="1239203"/>
          </a:xfrm>
          <a:prstGeom prst="rect">
            <a:avLst/>
          </a:prstGeom>
          <a:noFill/>
          <a:ln/>
        </p:spPr>
        <p:txBody>
          <a:bodyPr wrap="square" lIns="0" tIns="0" rIns="0" bIns="0" rtlCol="0" anchor="t"/>
          <a:lstStyle/>
          <a:p>
            <a:pPr marL="0" indent="0" algn="l">
              <a:lnSpc>
                <a:spcPts val="2400"/>
              </a:lnSpc>
              <a:buNone/>
            </a:pPr>
            <a:r>
              <a:rPr lang="en-US" sz="1600" dirty="0">
                <a:solidFill>
                  <a:srgbClr val="E0D6DE"/>
                </a:solidFill>
                <a:highlight>
                  <a:srgbClr val="1C1C1D"/>
                </a:highlight>
                <a:latin typeface="Consolas" pitchFamily="34" charset="0"/>
                <a:ea typeface="Consolas" pitchFamily="34" charset="-122"/>
                <a:cs typeface="Consolas" pitchFamily="34" charset="-120"/>
              </a:rPr>
              <a:t>EXPLAIN SELECT DISTINCT o.customer_id FROM orders o JOIN order_items oi ON oi.order_id = o.order_id JOIN products p ON p.product_id = oi.product_id WHERE o.order_status IN ('PAID','SHIPPED') AND p.category = 'phone' AND NOT EXISTS ( SELECT 1 FROM orders o2 JOIN order_items oi2 ON oi2.order_id = o2.order_id JOIN products p2 ON p2.product_id = oi2.product_id WHERE o2.customer_id = o.customer_id AND o2.order_status IN ('PAID','SHIPPED') AND p2.category = 'laptop' );</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736527" y="1236107"/>
            <a:ext cx="9943862" cy="505182"/>
          </a:xfrm>
          <a:prstGeom prst="rect">
            <a:avLst/>
          </a:prstGeom>
          <a:noFill/>
          <a:ln/>
        </p:spPr>
        <p:txBody>
          <a:bodyPr wrap="none" lIns="0" tIns="0" rIns="0" bIns="0" rtlCol="0" anchor="t"/>
          <a:lstStyle/>
          <a:p>
            <a:pPr marL="0" indent="0" algn="l">
              <a:lnSpc>
                <a:spcPts val="3950"/>
              </a:lnSpc>
              <a:buNone/>
            </a:pPr>
            <a:r>
              <a:rPr lang="en-US" sz="3150" dirty="0">
                <a:solidFill>
                  <a:srgbClr val="FBF3FA"/>
                </a:solidFill>
                <a:latin typeface="Fira Mono Medium" pitchFamily="34" charset="0"/>
                <a:ea typeface="Fira Mono Medium" pitchFamily="34" charset="-122"/>
                <a:cs typeface="Fira Mono Medium" pitchFamily="34" charset="-120"/>
              </a:rPr>
              <a:t>Index Strategy for Set Difference Queries</a:t>
            </a:r>
            <a:endParaRPr lang="en-US" sz="3150" dirty="0"/>
          </a:p>
        </p:txBody>
      </p:sp>
      <p:sp>
        <p:nvSpPr>
          <p:cNvPr id="3" name="Text 1"/>
          <p:cNvSpPr/>
          <p:nvPr/>
        </p:nvSpPr>
        <p:spPr>
          <a:xfrm>
            <a:off x="1736527" y="1971794"/>
            <a:ext cx="1115722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For the "customers who bought X but not Y" pattern, you need indexes that support:</a:t>
            </a:r>
            <a:endParaRPr lang="en-US" sz="1250" dirty="0"/>
          </a:p>
        </p:txBody>
      </p:sp>
      <p:sp>
        <p:nvSpPr>
          <p:cNvPr id="4" name="Text 2"/>
          <p:cNvSpPr/>
          <p:nvPr/>
        </p:nvSpPr>
        <p:spPr>
          <a:xfrm>
            <a:off x="1736527" y="2322909"/>
            <a:ext cx="11157228" cy="664728"/>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Finding customers who bought category X</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Checking if those customers bought category Y</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Joining across multiple tables efficiently</a:t>
            </a:r>
            <a:endParaRPr lang="en-US" sz="1250" dirty="0"/>
          </a:p>
        </p:txBody>
      </p:sp>
      <p:sp>
        <p:nvSpPr>
          <p:cNvPr id="5" name="Text 3"/>
          <p:cNvSpPr/>
          <p:nvPr/>
        </p:nvSpPr>
        <p:spPr>
          <a:xfrm>
            <a:off x="1736527" y="3160516"/>
            <a:ext cx="4656653" cy="303133"/>
          </a:xfrm>
          <a:prstGeom prst="rect">
            <a:avLst/>
          </a:prstGeom>
          <a:noFill/>
          <a:ln/>
        </p:spPr>
        <p:txBody>
          <a:bodyPr wrap="none" lIns="0" tIns="0" rIns="0" bIns="0" rtlCol="0" anchor="t"/>
          <a:lstStyle/>
          <a:p>
            <a:pPr marL="0" indent="0" algn="l">
              <a:lnSpc>
                <a:spcPts val="2350"/>
              </a:lnSpc>
              <a:buNone/>
            </a:pPr>
            <a:r>
              <a:rPr lang="en-US" sz="1900" dirty="0">
                <a:solidFill>
                  <a:srgbClr val="FBF3FA"/>
                </a:solidFill>
                <a:latin typeface="Fira Mono Medium" pitchFamily="34" charset="0"/>
                <a:ea typeface="Fira Mono Medium" pitchFamily="34" charset="-122"/>
                <a:cs typeface="Fira Mono Medium" pitchFamily="34" charset="-120"/>
              </a:rPr>
              <a:t>Index upgrades for this pattern:</a:t>
            </a:r>
            <a:endParaRPr lang="en-US" sz="1900" dirty="0"/>
          </a:p>
        </p:txBody>
      </p:sp>
      <p:sp>
        <p:nvSpPr>
          <p:cNvPr id="6" name="Shape 4"/>
          <p:cNvSpPr/>
          <p:nvPr/>
        </p:nvSpPr>
        <p:spPr>
          <a:xfrm>
            <a:off x="1736527" y="3636528"/>
            <a:ext cx="11157228" cy="463868"/>
          </a:xfrm>
          <a:prstGeom prst="roundRect">
            <a:avLst>
              <a:gd name="adj" fmla="val 5229"/>
            </a:avLst>
          </a:prstGeom>
          <a:solidFill>
            <a:srgbClr val="1C1C1D"/>
          </a:solidFill>
          <a:ln/>
        </p:spPr>
        <p:txBody>
          <a:bodyPr/>
          <a:lstStyle/>
          <a:p>
            <a:endParaRPr lang="en-US"/>
          </a:p>
        </p:txBody>
      </p:sp>
      <p:sp>
        <p:nvSpPr>
          <p:cNvPr id="7" name="Shape 5"/>
          <p:cNvSpPr/>
          <p:nvPr/>
        </p:nvSpPr>
        <p:spPr>
          <a:xfrm>
            <a:off x="1728549" y="3636528"/>
            <a:ext cx="11173182" cy="463868"/>
          </a:xfrm>
          <a:prstGeom prst="roundRect">
            <a:avLst>
              <a:gd name="adj" fmla="val 5229"/>
            </a:avLst>
          </a:prstGeom>
          <a:solidFill>
            <a:srgbClr val="1C1C1D"/>
          </a:solidFill>
          <a:ln/>
        </p:spPr>
        <p:txBody>
          <a:bodyPr/>
          <a:lstStyle/>
          <a:p>
            <a:endParaRPr lang="en-US"/>
          </a:p>
        </p:txBody>
      </p:sp>
      <p:sp>
        <p:nvSpPr>
          <p:cNvPr id="8" name="Text 6"/>
          <p:cNvSpPr/>
          <p:nvPr/>
        </p:nvSpPr>
        <p:spPr>
          <a:xfrm>
            <a:off x="1890236" y="3757733"/>
            <a:ext cx="1084980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INDEX idx_products_category_id ON products(category, product_id);</a:t>
            </a:r>
            <a:endParaRPr lang="en-US" sz="1250" dirty="0"/>
          </a:p>
        </p:txBody>
      </p:sp>
      <p:sp>
        <p:nvSpPr>
          <p:cNvPr id="9" name="Text 7"/>
          <p:cNvSpPr/>
          <p:nvPr/>
        </p:nvSpPr>
        <p:spPr>
          <a:xfrm>
            <a:off x="1736527" y="4230054"/>
            <a:ext cx="1115722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Why: Allows fast lookup of products by category, and includes product_id for joins.</a:t>
            </a:r>
            <a:endParaRPr lang="en-US" sz="1250" dirty="0"/>
          </a:p>
        </p:txBody>
      </p:sp>
      <p:sp>
        <p:nvSpPr>
          <p:cNvPr id="10" name="Shape 8"/>
          <p:cNvSpPr/>
          <p:nvPr/>
        </p:nvSpPr>
        <p:spPr>
          <a:xfrm>
            <a:off x="1736527" y="4581170"/>
            <a:ext cx="11157228" cy="463868"/>
          </a:xfrm>
          <a:prstGeom prst="roundRect">
            <a:avLst>
              <a:gd name="adj" fmla="val 5229"/>
            </a:avLst>
          </a:prstGeom>
          <a:solidFill>
            <a:srgbClr val="1C1C1D"/>
          </a:solidFill>
          <a:ln/>
        </p:spPr>
        <p:txBody>
          <a:bodyPr/>
          <a:lstStyle/>
          <a:p>
            <a:endParaRPr lang="en-US"/>
          </a:p>
        </p:txBody>
      </p:sp>
      <p:sp>
        <p:nvSpPr>
          <p:cNvPr id="11" name="Shape 9"/>
          <p:cNvSpPr/>
          <p:nvPr/>
        </p:nvSpPr>
        <p:spPr>
          <a:xfrm>
            <a:off x="1728549" y="4581170"/>
            <a:ext cx="11173182" cy="463868"/>
          </a:xfrm>
          <a:prstGeom prst="roundRect">
            <a:avLst>
              <a:gd name="adj" fmla="val 5229"/>
            </a:avLst>
          </a:prstGeom>
          <a:solidFill>
            <a:srgbClr val="1C1C1D"/>
          </a:solidFill>
          <a:ln/>
        </p:spPr>
        <p:txBody>
          <a:bodyPr/>
          <a:lstStyle/>
          <a:p>
            <a:endParaRPr lang="en-US"/>
          </a:p>
        </p:txBody>
      </p:sp>
      <p:sp>
        <p:nvSpPr>
          <p:cNvPr id="12" name="Text 10"/>
          <p:cNvSpPr/>
          <p:nvPr/>
        </p:nvSpPr>
        <p:spPr>
          <a:xfrm>
            <a:off x="1890236" y="4702375"/>
            <a:ext cx="1084980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INDEX idx_orders_customer_status ON orders(customer_id, order_status, order_id);</a:t>
            </a:r>
            <a:endParaRPr lang="en-US" sz="1250" dirty="0"/>
          </a:p>
        </p:txBody>
      </p:sp>
      <p:sp>
        <p:nvSpPr>
          <p:cNvPr id="13" name="Text 11"/>
          <p:cNvSpPr/>
          <p:nvPr/>
        </p:nvSpPr>
        <p:spPr>
          <a:xfrm>
            <a:off x="1736527" y="5174696"/>
            <a:ext cx="1115722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Why: Supports the NOT EXISTS subquery by quickly finding orders for a specific customer with a specific status.</a:t>
            </a:r>
            <a:endParaRPr lang="en-US" sz="1250" dirty="0"/>
          </a:p>
        </p:txBody>
      </p:sp>
      <p:sp>
        <p:nvSpPr>
          <p:cNvPr id="14" name="Shape 12"/>
          <p:cNvSpPr/>
          <p:nvPr/>
        </p:nvSpPr>
        <p:spPr>
          <a:xfrm>
            <a:off x="1736527" y="5525811"/>
            <a:ext cx="11157228" cy="463868"/>
          </a:xfrm>
          <a:prstGeom prst="roundRect">
            <a:avLst>
              <a:gd name="adj" fmla="val 5229"/>
            </a:avLst>
          </a:prstGeom>
          <a:solidFill>
            <a:srgbClr val="1C1C1D"/>
          </a:solidFill>
          <a:ln/>
        </p:spPr>
        <p:txBody>
          <a:bodyPr/>
          <a:lstStyle/>
          <a:p>
            <a:endParaRPr lang="en-US"/>
          </a:p>
        </p:txBody>
      </p:sp>
      <p:sp>
        <p:nvSpPr>
          <p:cNvPr id="15" name="Shape 13"/>
          <p:cNvSpPr/>
          <p:nvPr/>
        </p:nvSpPr>
        <p:spPr>
          <a:xfrm>
            <a:off x="1728549" y="5525811"/>
            <a:ext cx="11173182" cy="463868"/>
          </a:xfrm>
          <a:prstGeom prst="roundRect">
            <a:avLst>
              <a:gd name="adj" fmla="val 5229"/>
            </a:avLst>
          </a:prstGeom>
          <a:solidFill>
            <a:srgbClr val="1C1C1D"/>
          </a:solidFill>
          <a:ln/>
        </p:spPr>
        <p:txBody>
          <a:bodyPr/>
          <a:lstStyle/>
          <a:p>
            <a:endParaRPr lang="en-US"/>
          </a:p>
        </p:txBody>
      </p:sp>
      <p:sp>
        <p:nvSpPr>
          <p:cNvPr id="16" name="Text 14"/>
          <p:cNvSpPr/>
          <p:nvPr/>
        </p:nvSpPr>
        <p:spPr>
          <a:xfrm>
            <a:off x="1890236" y="5647017"/>
            <a:ext cx="1084980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INDEX idx_items_order_product ON order_items(order_id, product_id);</a:t>
            </a:r>
            <a:endParaRPr lang="en-US" sz="1250" dirty="0"/>
          </a:p>
        </p:txBody>
      </p:sp>
      <p:sp>
        <p:nvSpPr>
          <p:cNvPr id="17" name="Text 15"/>
          <p:cNvSpPr/>
          <p:nvPr/>
        </p:nvSpPr>
        <p:spPr>
          <a:xfrm>
            <a:off x="1736527" y="6119338"/>
            <a:ext cx="11157228" cy="221456"/>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Why: Enables efficient joins between orders and products through order_items.</a:t>
            </a:r>
            <a:endParaRPr lang="en-US" sz="1250" dirty="0"/>
          </a:p>
        </p:txBody>
      </p:sp>
      <p:sp>
        <p:nvSpPr>
          <p:cNvPr id="18" name="Text 16"/>
          <p:cNvSpPr/>
          <p:nvPr/>
        </p:nvSpPr>
        <p:spPr>
          <a:xfrm>
            <a:off x="1736527" y="6470453"/>
            <a:ext cx="11157228" cy="442913"/>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These three indexes work together to make the NOT EXISTS version run efficiently. Without them, the query would perform multiple full table scans. With them, the database can navigate directly to the relevant rows.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0922" y="747355"/>
            <a:ext cx="10234374" cy="507802"/>
          </a:xfrm>
          <a:prstGeom prst="rect">
            <a:avLst/>
          </a:prstGeom>
          <a:noFill/>
          <a:ln/>
        </p:spPr>
        <p:txBody>
          <a:bodyPr wrap="none" lIns="0" tIns="0" rIns="0" bIns="0" rtlCol="0" anchor="t"/>
          <a:lstStyle/>
          <a:p>
            <a:pPr marL="0" indent="0" algn="l">
              <a:lnSpc>
                <a:spcPts val="3950"/>
              </a:lnSpc>
              <a:buNone/>
            </a:pPr>
            <a:r>
              <a:rPr lang="en-US" sz="3150" dirty="0">
                <a:solidFill>
                  <a:srgbClr val="FBF3FA"/>
                </a:solidFill>
                <a:latin typeface="Fira Mono Medium" pitchFamily="34" charset="0"/>
                <a:ea typeface="Fira Mono Medium" pitchFamily="34" charset="-122"/>
                <a:cs typeface="Fira Mono Medium" pitchFamily="34" charset="-120"/>
              </a:rPr>
              <a:t>C) “Search page with filters + pagination”</a:t>
            </a:r>
            <a:endParaRPr lang="en-US" sz="3150" dirty="0"/>
          </a:p>
        </p:txBody>
      </p:sp>
      <p:sp>
        <p:nvSpPr>
          <p:cNvPr id="3" name="Text 1"/>
          <p:cNvSpPr/>
          <p:nvPr/>
        </p:nvSpPr>
        <p:spPr>
          <a:xfrm>
            <a:off x="710922" y="1618893"/>
            <a:ext cx="13208556" cy="308015"/>
          </a:xfrm>
          <a:prstGeom prst="rect">
            <a:avLst/>
          </a:prstGeom>
          <a:noFill/>
          <a:ln/>
        </p:spPr>
        <p:txBody>
          <a:bodyPr wrap="none" lIns="0" tIns="0" rIns="0" bIns="0" rtlCol="0" anchor="t"/>
          <a:lstStyle/>
          <a:p>
            <a:pPr marL="0" indent="0" algn="l">
              <a:lnSpc>
                <a:spcPts val="2400"/>
              </a:lnSpc>
              <a:buNone/>
            </a:pPr>
            <a:r>
              <a:rPr lang="en-US" sz="1550" dirty="0">
                <a:solidFill>
                  <a:srgbClr val="E0D6DE"/>
                </a:solidFill>
                <a:latin typeface="Fira Sans" pitchFamily="34" charset="0"/>
                <a:ea typeface="Fira Sans" pitchFamily="34" charset="-122"/>
                <a:cs typeface="Fira Sans" pitchFamily="34" charset="-120"/>
              </a:rPr>
              <a:t>Typical backend endpoint: list active products in a category, sort by price, paginate.</a:t>
            </a:r>
            <a:endParaRPr lang="en-US" sz="1550" dirty="0"/>
          </a:p>
        </p:txBody>
      </p:sp>
      <p:sp>
        <p:nvSpPr>
          <p:cNvPr id="4" name="Text 2"/>
          <p:cNvSpPr/>
          <p:nvPr/>
        </p:nvSpPr>
        <p:spPr>
          <a:xfrm>
            <a:off x="710922" y="2199680"/>
            <a:ext cx="7462957" cy="317421"/>
          </a:xfrm>
          <a:prstGeom prst="rect">
            <a:avLst/>
          </a:prstGeom>
          <a:noFill/>
          <a:ln/>
        </p:spPr>
        <p:txBody>
          <a:bodyPr wrap="none" lIns="0" tIns="0" rIns="0" bIns="0" rtlCol="0" anchor="t"/>
          <a:lstStyle/>
          <a:p>
            <a:pPr marL="0" indent="0" algn="l">
              <a:lnSpc>
                <a:spcPts val="2450"/>
              </a:lnSpc>
              <a:buNone/>
            </a:pPr>
            <a:r>
              <a:rPr lang="en-US" sz="1950" dirty="0">
                <a:solidFill>
                  <a:srgbClr val="FBF3FA"/>
                </a:solidFill>
                <a:latin typeface="Fira Mono Medium" pitchFamily="34" charset="0"/>
                <a:ea typeface="Fira Mono Medium" pitchFamily="34" charset="-122"/>
                <a:cs typeface="Fira Mono Medium" pitchFamily="34" charset="-120"/>
              </a:rPr>
              <a:t>Bad pattern: OFFSET gets expensive at large pages</a:t>
            </a:r>
            <a:endParaRPr lang="en-US" sz="1950" dirty="0"/>
          </a:p>
        </p:txBody>
      </p:sp>
      <p:sp>
        <p:nvSpPr>
          <p:cNvPr id="5" name="Shape 3"/>
          <p:cNvSpPr/>
          <p:nvPr/>
        </p:nvSpPr>
        <p:spPr>
          <a:xfrm>
            <a:off x="710922" y="2789873"/>
            <a:ext cx="13208556" cy="920591"/>
          </a:xfrm>
          <a:prstGeom prst="roundRect">
            <a:avLst>
              <a:gd name="adj" fmla="val 3310"/>
            </a:avLst>
          </a:prstGeom>
          <a:solidFill>
            <a:srgbClr val="1C1C1D"/>
          </a:solidFill>
          <a:ln/>
        </p:spPr>
        <p:txBody>
          <a:bodyPr/>
          <a:lstStyle/>
          <a:p>
            <a:endParaRPr lang="en-US"/>
          </a:p>
        </p:txBody>
      </p:sp>
      <p:sp>
        <p:nvSpPr>
          <p:cNvPr id="6" name="Shape 4"/>
          <p:cNvSpPr/>
          <p:nvPr/>
        </p:nvSpPr>
        <p:spPr>
          <a:xfrm>
            <a:off x="700802" y="2789873"/>
            <a:ext cx="13228796" cy="920591"/>
          </a:xfrm>
          <a:prstGeom prst="roundRect">
            <a:avLst>
              <a:gd name="adj" fmla="val 3310"/>
            </a:avLst>
          </a:prstGeom>
          <a:solidFill>
            <a:srgbClr val="1C1C1D"/>
          </a:solidFill>
          <a:ln/>
        </p:spPr>
        <p:txBody>
          <a:bodyPr/>
          <a:lstStyle/>
          <a:p>
            <a:endParaRPr lang="en-US"/>
          </a:p>
        </p:txBody>
      </p:sp>
      <p:sp>
        <p:nvSpPr>
          <p:cNvPr id="7" name="Text 5"/>
          <p:cNvSpPr/>
          <p:nvPr/>
        </p:nvSpPr>
        <p:spPr>
          <a:xfrm>
            <a:off x="903923" y="2942153"/>
            <a:ext cx="12822555" cy="616029"/>
          </a:xfrm>
          <a:prstGeom prst="rect">
            <a:avLst/>
          </a:prstGeom>
          <a:noFill/>
          <a:ln/>
        </p:spPr>
        <p:txBody>
          <a:bodyPr wrap="square" lIns="0" tIns="0" rIns="0" bIns="0" rtlCol="0" anchor="t"/>
          <a:lstStyle/>
          <a:p>
            <a:pPr marL="0" indent="0" algn="l">
              <a:lnSpc>
                <a:spcPts val="2400"/>
              </a:lnSpc>
              <a:buNone/>
            </a:pPr>
            <a:r>
              <a:rPr lang="en-US" sz="1550" dirty="0">
                <a:solidFill>
                  <a:srgbClr val="E0D6DE"/>
                </a:solidFill>
                <a:highlight>
                  <a:srgbClr val="1C1C1D"/>
                </a:highlight>
                <a:latin typeface="Consolas" pitchFamily="34" charset="0"/>
                <a:ea typeface="Consolas" pitchFamily="34" charset="-122"/>
                <a:cs typeface="Consolas" pitchFamily="34" charset="-120"/>
              </a:rPr>
              <a:t>EXPLAIN SELECT product_id, name, price FROM products WHERE is_active = 1 AND category = 'phone' ORDER BY price ASC LIMIT 20 OFFSET 400;</a:t>
            </a:r>
            <a:endParaRPr lang="en-US" sz="1550" dirty="0"/>
          </a:p>
        </p:txBody>
      </p:sp>
      <p:sp>
        <p:nvSpPr>
          <p:cNvPr id="8" name="Text 6"/>
          <p:cNvSpPr/>
          <p:nvPr/>
        </p:nvSpPr>
        <p:spPr>
          <a:xfrm>
            <a:off x="710922" y="3983236"/>
            <a:ext cx="8376880" cy="317421"/>
          </a:xfrm>
          <a:prstGeom prst="rect">
            <a:avLst/>
          </a:prstGeom>
          <a:noFill/>
          <a:ln/>
        </p:spPr>
        <p:txBody>
          <a:bodyPr wrap="none" lIns="0" tIns="0" rIns="0" bIns="0" rtlCol="0" anchor="t"/>
          <a:lstStyle/>
          <a:p>
            <a:pPr marL="0" indent="0" algn="l">
              <a:lnSpc>
                <a:spcPts val="2450"/>
              </a:lnSpc>
              <a:buNone/>
            </a:pPr>
            <a:r>
              <a:rPr lang="en-US" sz="1950" dirty="0">
                <a:solidFill>
                  <a:srgbClr val="FBF3FA"/>
                </a:solidFill>
                <a:latin typeface="Fira Mono Medium" pitchFamily="34" charset="0"/>
                <a:ea typeface="Fira Mono Medium" pitchFamily="34" charset="-122"/>
                <a:cs typeface="Fira Mono Medium" pitchFamily="34" charset="-120"/>
              </a:rPr>
              <a:t>Better pattern: keyset pagination (production favorite)</a:t>
            </a:r>
            <a:endParaRPr lang="en-US" sz="1950" dirty="0"/>
          </a:p>
        </p:txBody>
      </p:sp>
      <p:sp>
        <p:nvSpPr>
          <p:cNvPr id="9" name="Text 7"/>
          <p:cNvSpPr/>
          <p:nvPr/>
        </p:nvSpPr>
        <p:spPr>
          <a:xfrm>
            <a:off x="710922" y="4573429"/>
            <a:ext cx="13208556" cy="308015"/>
          </a:xfrm>
          <a:prstGeom prst="rect">
            <a:avLst/>
          </a:prstGeom>
          <a:noFill/>
          <a:ln/>
        </p:spPr>
        <p:txBody>
          <a:bodyPr wrap="none" lIns="0" tIns="0" rIns="0" bIns="0" rtlCol="0" anchor="t"/>
          <a:lstStyle/>
          <a:p>
            <a:pPr marL="0" indent="0" algn="l">
              <a:lnSpc>
                <a:spcPts val="2400"/>
              </a:lnSpc>
              <a:buNone/>
            </a:pPr>
            <a:r>
              <a:rPr lang="en-US" sz="1550" dirty="0">
                <a:solidFill>
                  <a:srgbClr val="E0D6DE"/>
                </a:solidFill>
                <a:latin typeface="Fira Sans" pitchFamily="34" charset="0"/>
                <a:ea typeface="Fira Sans" pitchFamily="34" charset="-122"/>
                <a:cs typeface="Fira Sans" pitchFamily="34" charset="-120"/>
              </a:rPr>
              <a:t>-- Assume last_seen_price = 199.99 and last_seen_id = 120</a:t>
            </a:r>
            <a:endParaRPr lang="en-US" sz="1550" dirty="0"/>
          </a:p>
        </p:txBody>
      </p:sp>
      <p:sp>
        <p:nvSpPr>
          <p:cNvPr id="10" name="Shape 8"/>
          <p:cNvSpPr/>
          <p:nvPr/>
        </p:nvSpPr>
        <p:spPr>
          <a:xfrm>
            <a:off x="710922" y="5085993"/>
            <a:ext cx="13208556" cy="920591"/>
          </a:xfrm>
          <a:prstGeom prst="roundRect">
            <a:avLst>
              <a:gd name="adj" fmla="val 3310"/>
            </a:avLst>
          </a:prstGeom>
          <a:solidFill>
            <a:srgbClr val="1C1C1D"/>
          </a:solidFill>
          <a:ln/>
        </p:spPr>
        <p:txBody>
          <a:bodyPr/>
          <a:lstStyle/>
          <a:p>
            <a:endParaRPr lang="en-US"/>
          </a:p>
        </p:txBody>
      </p:sp>
      <p:sp>
        <p:nvSpPr>
          <p:cNvPr id="11" name="Shape 9"/>
          <p:cNvSpPr/>
          <p:nvPr/>
        </p:nvSpPr>
        <p:spPr>
          <a:xfrm>
            <a:off x="700802" y="5085993"/>
            <a:ext cx="13228796" cy="920591"/>
          </a:xfrm>
          <a:prstGeom prst="roundRect">
            <a:avLst>
              <a:gd name="adj" fmla="val 3310"/>
            </a:avLst>
          </a:prstGeom>
          <a:solidFill>
            <a:srgbClr val="1C1C1D"/>
          </a:solidFill>
          <a:ln/>
        </p:spPr>
        <p:txBody>
          <a:bodyPr/>
          <a:lstStyle/>
          <a:p>
            <a:endParaRPr lang="en-US"/>
          </a:p>
        </p:txBody>
      </p:sp>
      <p:sp>
        <p:nvSpPr>
          <p:cNvPr id="12" name="Text 10"/>
          <p:cNvSpPr/>
          <p:nvPr/>
        </p:nvSpPr>
        <p:spPr>
          <a:xfrm>
            <a:off x="903923" y="5238274"/>
            <a:ext cx="12822555" cy="616029"/>
          </a:xfrm>
          <a:prstGeom prst="rect">
            <a:avLst/>
          </a:prstGeom>
          <a:noFill/>
          <a:ln/>
        </p:spPr>
        <p:txBody>
          <a:bodyPr wrap="square" lIns="0" tIns="0" rIns="0" bIns="0" rtlCol="0" anchor="t"/>
          <a:lstStyle/>
          <a:p>
            <a:pPr marL="0" indent="0" algn="l">
              <a:lnSpc>
                <a:spcPts val="2400"/>
              </a:lnSpc>
              <a:buNone/>
            </a:pPr>
            <a:r>
              <a:rPr lang="en-US" sz="1550" dirty="0">
                <a:solidFill>
                  <a:srgbClr val="E0D6DE"/>
                </a:solidFill>
                <a:highlight>
                  <a:srgbClr val="1C1C1D"/>
                </a:highlight>
                <a:latin typeface="Consolas" pitchFamily="34" charset="0"/>
                <a:ea typeface="Consolas" pitchFamily="34" charset="-122"/>
                <a:cs typeface="Consolas" pitchFamily="34" charset="-120"/>
              </a:rPr>
              <a:t>EXPLAIN SELECT product_id, name, price FROM products WHERE is_active = 1 AND category = 'phone' AND (price &gt; 199.99 OR (price = 199.99 AND product_id &gt; 120)) ORDER BY price ASC, product_id ASC LIMIT 20;</a:t>
            </a:r>
            <a:endParaRPr lang="en-US" sz="1550" dirty="0"/>
          </a:p>
        </p:txBody>
      </p:sp>
      <p:sp>
        <p:nvSpPr>
          <p:cNvPr id="13" name="Text 11"/>
          <p:cNvSpPr/>
          <p:nvPr/>
        </p:nvSpPr>
        <p:spPr>
          <a:xfrm>
            <a:off x="710922" y="6279356"/>
            <a:ext cx="4112300" cy="317421"/>
          </a:xfrm>
          <a:prstGeom prst="rect">
            <a:avLst/>
          </a:prstGeom>
          <a:noFill/>
          <a:ln/>
        </p:spPr>
        <p:txBody>
          <a:bodyPr wrap="none" lIns="0" tIns="0" rIns="0" bIns="0" rtlCol="0" anchor="t"/>
          <a:lstStyle/>
          <a:p>
            <a:pPr marL="0" indent="0" algn="l">
              <a:lnSpc>
                <a:spcPts val="2450"/>
              </a:lnSpc>
              <a:buNone/>
            </a:pPr>
            <a:r>
              <a:rPr lang="en-US" sz="1950" dirty="0">
                <a:solidFill>
                  <a:srgbClr val="FBF3FA"/>
                </a:solidFill>
                <a:latin typeface="Fira Mono Medium" pitchFamily="34" charset="0"/>
                <a:ea typeface="Fira Mono Medium" pitchFamily="34" charset="-122"/>
                <a:cs typeface="Fira Mono Medium" pitchFamily="34" charset="-120"/>
              </a:rPr>
              <a:t>Index for keyset pagination</a:t>
            </a:r>
            <a:endParaRPr lang="en-US" sz="1950" dirty="0"/>
          </a:p>
        </p:txBody>
      </p:sp>
      <p:sp>
        <p:nvSpPr>
          <p:cNvPr id="14" name="Shape 12"/>
          <p:cNvSpPr/>
          <p:nvPr/>
        </p:nvSpPr>
        <p:spPr>
          <a:xfrm>
            <a:off x="710922" y="6869549"/>
            <a:ext cx="13208556" cy="612577"/>
          </a:xfrm>
          <a:prstGeom prst="roundRect">
            <a:avLst>
              <a:gd name="adj" fmla="val 4974"/>
            </a:avLst>
          </a:prstGeom>
          <a:solidFill>
            <a:srgbClr val="1C1C1D"/>
          </a:solidFill>
          <a:ln/>
        </p:spPr>
        <p:txBody>
          <a:bodyPr/>
          <a:lstStyle/>
          <a:p>
            <a:endParaRPr lang="en-US"/>
          </a:p>
        </p:txBody>
      </p:sp>
      <p:sp>
        <p:nvSpPr>
          <p:cNvPr id="15" name="Shape 13"/>
          <p:cNvSpPr/>
          <p:nvPr/>
        </p:nvSpPr>
        <p:spPr>
          <a:xfrm>
            <a:off x="700802" y="6869549"/>
            <a:ext cx="13228796" cy="612577"/>
          </a:xfrm>
          <a:prstGeom prst="roundRect">
            <a:avLst>
              <a:gd name="adj" fmla="val 4974"/>
            </a:avLst>
          </a:prstGeom>
          <a:solidFill>
            <a:srgbClr val="1C1C1D"/>
          </a:solidFill>
          <a:ln/>
        </p:spPr>
        <p:txBody>
          <a:bodyPr/>
          <a:lstStyle/>
          <a:p>
            <a:endParaRPr lang="en-US"/>
          </a:p>
        </p:txBody>
      </p:sp>
      <p:sp>
        <p:nvSpPr>
          <p:cNvPr id="16" name="Text 14"/>
          <p:cNvSpPr/>
          <p:nvPr/>
        </p:nvSpPr>
        <p:spPr>
          <a:xfrm>
            <a:off x="903923" y="7021830"/>
            <a:ext cx="12822555" cy="308015"/>
          </a:xfrm>
          <a:prstGeom prst="rect">
            <a:avLst/>
          </a:prstGeom>
          <a:noFill/>
          <a:ln/>
        </p:spPr>
        <p:txBody>
          <a:bodyPr wrap="none" lIns="0" tIns="0" rIns="0" bIns="0" rtlCol="0" anchor="t"/>
          <a:lstStyle/>
          <a:p>
            <a:pPr marL="0" indent="0" algn="l">
              <a:lnSpc>
                <a:spcPts val="2400"/>
              </a:lnSpc>
              <a:buNone/>
            </a:pPr>
            <a:r>
              <a:rPr lang="en-US" sz="1550" dirty="0">
                <a:solidFill>
                  <a:srgbClr val="E0D6DE"/>
                </a:solidFill>
                <a:highlight>
                  <a:srgbClr val="1C1C1D"/>
                </a:highlight>
                <a:latin typeface="Consolas" pitchFamily="34" charset="0"/>
                <a:ea typeface="Consolas" pitchFamily="34" charset="-122"/>
                <a:cs typeface="Consolas" pitchFamily="34" charset="-120"/>
              </a:rPr>
              <a:t>CREATE INDEX idx_products_active_cat_price_id ON products(is_active, category, price, product_id);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35543" y="1525429"/>
            <a:ext cx="8072914" cy="956310"/>
          </a:xfrm>
          <a:prstGeom prst="rect">
            <a:avLst/>
          </a:prstGeom>
          <a:noFill/>
          <a:ln/>
        </p:spPr>
        <p:txBody>
          <a:bodyPr wrap="square" lIns="0" tIns="0" rIns="0" bIns="0" rtlCol="0" anchor="t"/>
          <a:lstStyle/>
          <a:p>
            <a:pPr marL="0" indent="0" algn="l">
              <a:lnSpc>
                <a:spcPts val="3750"/>
              </a:lnSpc>
              <a:buNone/>
            </a:pPr>
            <a:r>
              <a:rPr lang="en-US" sz="3000" dirty="0">
                <a:solidFill>
                  <a:srgbClr val="FBF3FA"/>
                </a:solidFill>
                <a:latin typeface="Fira Mono Medium" pitchFamily="34" charset="0"/>
                <a:ea typeface="Fira Mono Medium" pitchFamily="34" charset="-122"/>
                <a:cs typeface="Fira Mono Medium" pitchFamily="34" charset="-120"/>
              </a:rPr>
              <a:t>D) Execution plans: reading EXPLAIN like a grown up engineer</a:t>
            </a:r>
            <a:endParaRPr lang="en-US" sz="3000" dirty="0"/>
          </a:p>
        </p:txBody>
      </p:sp>
      <p:sp>
        <p:nvSpPr>
          <p:cNvPr id="4" name="Text 1"/>
          <p:cNvSpPr/>
          <p:nvPr/>
        </p:nvSpPr>
        <p:spPr>
          <a:xfrm>
            <a:off x="535543" y="2636520"/>
            <a:ext cx="8072914" cy="204907"/>
          </a:xfrm>
          <a:prstGeom prst="rect">
            <a:avLst/>
          </a:prstGeom>
          <a:noFill/>
          <a:ln/>
        </p:spPr>
        <p:txBody>
          <a:bodyPr wrap="none" lIns="0" tIns="0" rIns="0" bIns="0" rtlCol="0" anchor="t"/>
          <a:lstStyle/>
          <a:p>
            <a:pPr marL="0" indent="0" algn="l">
              <a:lnSpc>
                <a:spcPts val="1600"/>
              </a:lnSpc>
              <a:buNone/>
            </a:pPr>
            <a:r>
              <a:rPr lang="en-US" sz="1200" dirty="0">
                <a:solidFill>
                  <a:srgbClr val="E0D6DE"/>
                </a:solidFill>
                <a:latin typeface="Fira Sans" pitchFamily="34" charset="0"/>
                <a:ea typeface="Fira Sans" pitchFamily="34" charset="-122"/>
                <a:cs typeface="Fira Sans" pitchFamily="34" charset="-120"/>
              </a:rPr>
              <a:t>Run:</a:t>
            </a:r>
            <a:endParaRPr lang="en-US" sz="1200" dirty="0"/>
          </a:p>
        </p:txBody>
      </p:sp>
      <p:sp>
        <p:nvSpPr>
          <p:cNvPr id="5" name="Shape 2"/>
          <p:cNvSpPr/>
          <p:nvPr/>
        </p:nvSpPr>
        <p:spPr>
          <a:xfrm>
            <a:off x="535543" y="2957513"/>
            <a:ext cx="8072914" cy="639127"/>
          </a:xfrm>
          <a:prstGeom prst="roundRect">
            <a:avLst>
              <a:gd name="adj" fmla="val 3591"/>
            </a:avLst>
          </a:prstGeom>
          <a:solidFill>
            <a:srgbClr val="1C1C1D"/>
          </a:solidFill>
          <a:ln/>
        </p:spPr>
        <p:txBody>
          <a:bodyPr/>
          <a:lstStyle/>
          <a:p>
            <a:endParaRPr lang="en-US"/>
          </a:p>
        </p:txBody>
      </p:sp>
      <p:sp>
        <p:nvSpPr>
          <p:cNvPr id="6" name="Shape 3"/>
          <p:cNvSpPr/>
          <p:nvPr/>
        </p:nvSpPr>
        <p:spPr>
          <a:xfrm>
            <a:off x="527923" y="2957513"/>
            <a:ext cx="8088154" cy="639127"/>
          </a:xfrm>
          <a:prstGeom prst="roundRect">
            <a:avLst>
              <a:gd name="adj" fmla="val 3591"/>
            </a:avLst>
          </a:prstGeom>
          <a:solidFill>
            <a:srgbClr val="1C1C1D"/>
          </a:solidFill>
          <a:ln/>
        </p:spPr>
        <p:txBody>
          <a:bodyPr/>
          <a:lstStyle/>
          <a:p>
            <a:endParaRPr lang="en-US"/>
          </a:p>
        </p:txBody>
      </p:sp>
      <p:sp>
        <p:nvSpPr>
          <p:cNvPr id="7" name="Text 4"/>
          <p:cNvSpPr/>
          <p:nvPr/>
        </p:nvSpPr>
        <p:spPr>
          <a:xfrm>
            <a:off x="680918" y="3072170"/>
            <a:ext cx="7782163" cy="409813"/>
          </a:xfrm>
          <a:prstGeom prst="rect">
            <a:avLst/>
          </a:prstGeom>
          <a:noFill/>
          <a:ln/>
        </p:spPr>
        <p:txBody>
          <a:bodyPr wrap="square" lIns="0" tIns="0" rIns="0" bIns="0" rtlCol="0" anchor="t"/>
          <a:lstStyle/>
          <a:p>
            <a:pPr marL="0" indent="0" algn="l">
              <a:lnSpc>
                <a:spcPts val="1600"/>
              </a:lnSpc>
              <a:buNone/>
            </a:pPr>
            <a:r>
              <a:rPr lang="en-US" sz="1200" dirty="0">
                <a:solidFill>
                  <a:srgbClr val="E0D6DE"/>
                </a:solidFill>
                <a:highlight>
                  <a:srgbClr val="1C1C1D"/>
                </a:highlight>
                <a:latin typeface="Consolas" pitchFamily="34" charset="0"/>
                <a:ea typeface="Consolas" pitchFamily="34" charset="-122"/>
                <a:cs typeface="Consolas" pitchFamily="34" charset="-120"/>
              </a:rPr>
              <a:t>EXPLAIN FORMAT=TRADITIONAL SELECT o.order_id, o.placed_at, o.order_total FROM orders o WHERE o.customer_id = 123 ORDER BY o.placed_at DESC LIMIT 10;</a:t>
            </a:r>
            <a:endParaRPr lang="en-US" sz="1200" dirty="0"/>
          </a:p>
        </p:txBody>
      </p:sp>
      <p:sp>
        <p:nvSpPr>
          <p:cNvPr id="8" name="Text 5"/>
          <p:cNvSpPr/>
          <p:nvPr/>
        </p:nvSpPr>
        <p:spPr>
          <a:xfrm>
            <a:off x="535543" y="3712726"/>
            <a:ext cx="8072914" cy="204907"/>
          </a:xfrm>
          <a:prstGeom prst="rect">
            <a:avLst/>
          </a:prstGeom>
          <a:noFill/>
          <a:ln/>
        </p:spPr>
        <p:txBody>
          <a:bodyPr wrap="none" lIns="0" tIns="0" rIns="0" bIns="0" rtlCol="0" anchor="t"/>
          <a:lstStyle/>
          <a:p>
            <a:pPr marL="0" indent="0" algn="l">
              <a:lnSpc>
                <a:spcPts val="1600"/>
              </a:lnSpc>
              <a:buNone/>
            </a:pPr>
            <a:endParaRPr lang="en-US" sz="1200" dirty="0"/>
          </a:p>
        </p:txBody>
      </p:sp>
      <p:sp>
        <p:nvSpPr>
          <p:cNvPr id="9" name="Text 6"/>
          <p:cNvSpPr/>
          <p:nvPr/>
        </p:nvSpPr>
        <p:spPr>
          <a:xfrm>
            <a:off x="535543" y="4033718"/>
            <a:ext cx="8072914" cy="819946"/>
          </a:xfrm>
          <a:prstGeom prst="rect">
            <a:avLst/>
          </a:prstGeom>
          <a:noFill/>
          <a:ln/>
        </p:spPr>
        <p:txBody>
          <a:bodyPr wrap="square" lIns="0" tIns="0" rIns="0" bIns="0" rtlCol="0" anchor="t"/>
          <a:lstStyle/>
          <a:p>
            <a:pPr marL="342900" indent="-342900" algn="l">
              <a:lnSpc>
                <a:spcPts val="1600"/>
              </a:lnSpc>
              <a:buSzPct val="100000"/>
              <a:buChar char="•"/>
            </a:pPr>
            <a:r>
              <a:rPr lang="en-US" sz="1200" dirty="0">
                <a:solidFill>
                  <a:srgbClr val="E0D6DE"/>
                </a:solidFill>
                <a:latin typeface="Fira Sans" pitchFamily="34" charset="0"/>
                <a:ea typeface="Fira Sans" pitchFamily="34" charset="-122"/>
                <a:cs typeface="Fira Sans" pitchFamily="34" charset="-120"/>
              </a:rPr>
              <a:t>type: const, ref, range, index, ALL</a:t>
            </a:r>
            <a:endParaRPr lang="en-US" sz="1200" dirty="0"/>
          </a:p>
          <a:p>
            <a:pPr marL="342900" indent="-342900" algn="l">
              <a:lnSpc>
                <a:spcPts val="1600"/>
              </a:lnSpc>
              <a:buSzPct val="100000"/>
              <a:buChar char="•"/>
            </a:pPr>
            <a:r>
              <a:rPr lang="en-US" sz="1200" dirty="0">
                <a:solidFill>
                  <a:srgbClr val="E0D6DE"/>
                </a:solidFill>
                <a:latin typeface="Fira Sans" pitchFamily="34" charset="0"/>
                <a:ea typeface="Fira Sans" pitchFamily="34" charset="-122"/>
                <a:cs typeface="Fira Sans" pitchFamily="34" charset="-120"/>
              </a:rPr>
              <a:t>key: which index chosen</a:t>
            </a:r>
            <a:endParaRPr lang="en-US" sz="1200" dirty="0"/>
          </a:p>
          <a:p>
            <a:pPr marL="342900" indent="-342900" algn="l">
              <a:lnSpc>
                <a:spcPts val="1600"/>
              </a:lnSpc>
              <a:buSzPct val="100000"/>
              <a:buChar char="•"/>
            </a:pPr>
            <a:r>
              <a:rPr lang="en-US" sz="1200" dirty="0">
                <a:solidFill>
                  <a:srgbClr val="E0D6DE"/>
                </a:solidFill>
                <a:latin typeface="Fira Sans" pitchFamily="34" charset="0"/>
                <a:ea typeface="Fira Sans" pitchFamily="34" charset="-122"/>
                <a:cs typeface="Fira Sans" pitchFamily="34" charset="-120"/>
              </a:rPr>
              <a:t>rows: how many rows estimated</a:t>
            </a:r>
            <a:endParaRPr lang="en-US" sz="1200" dirty="0"/>
          </a:p>
          <a:p>
            <a:pPr marL="342900" indent="-342900" algn="l">
              <a:lnSpc>
                <a:spcPts val="1600"/>
              </a:lnSpc>
              <a:buSzPct val="100000"/>
              <a:buChar char="•"/>
            </a:pPr>
            <a:r>
              <a:rPr lang="en-US" sz="1200" dirty="0">
                <a:solidFill>
                  <a:srgbClr val="E0D6DE"/>
                </a:solidFill>
                <a:latin typeface="Fira Sans" pitchFamily="34" charset="0"/>
                <a:ea typeface="Fira Sans" pitchFamily="34" charset="-122"/>
                <a:cs typeface="Fira Sans" pitchFamily="34" charset="-120"/>
              </a:rPr>
              <a:t>Extra: Using where, Using index, Using temporary, Using filesort</a:t>
            </a:r>
            <a:endParaRPr lang="en-US" sz="1200" dirty="0"/>
          </a:p>
        </p:txBody>
      </p:sp>
      <p:sp>
        <p:nvSpPr>
          <p:cNvPr id="10" name="Text 7"/>
          <p:cNvSpPr/>
          <p:nvPr/>
        </p:nvSpPr>
        <p:spPr>
          <a:xfrm>
            <a:off x="535543" y="4969750"/>
            <a:ext cx="8072914" cy="204907"/>
          </a:xfrm>
          <a:prstGeom prst="rect">
            <a:avLst/>
          </a:prstGeom>
          <a:noFill/>
          <a:ln/>
        </p:spPr>
        <p:txBody>
          <a:bodyPr wrap="none" lIns="0" tIns="0" rIns="0" bIns="0" rtlCol="0" anchor="t"/>
          <a:lstStyle/>
          <a:p>
            <a:pPr marL="0" indent="0" algn="l">
              <a:lnSpc>
                <a:spcPts val="1600"/>
              </a:lnSpc>
              <a:buNone/>
            </a:pPr>
            <a:r>
              <a:rPr lang="en-US" sz="1200" dirty="0">
                <a:solidFill>
                  <a:srgbClr val="E0D6DE"/>
                </a:solidFill>
                <a:latin typeface="Fira Sans" pitchFamily="34" charset="0"/>
                <a:ea typeface="Fira Sans" pitchFamily="34" charset="-122"/>
                <a:cs typeface="Fira Sans" pitchFamily="34" charset="-120"/>
              </a:rPr>
              <a:t>You can create a "filesort" situation intentionally:</a:t>
            </a:r>
            <a:endParaRPr lang="en-US" sz="1200" dirty="0"/>
          </a:p>
        </p:txBody>
      </p:sp>
      <p:sp>
        <p:nvSpPr>
          <p:cNvPr id="11" name="Shape 8"/>
          <p:cNvSpPr/>
          <p:nvPr/>
        </p:nvSpPr>
        <p:spPr>
          <a:xfrm>
            <a:off x="535543" y="5290742"/>
            <a:ext cx="8072914" cy="434221"/>
          </a:xfrm>
          <a:prstGeom prst="roundRect">
            <a:avLst>
              <a:gd name="adj" fmla="val 5286"/>
            </a:avLst>
          </a:prstGeom>
          <a:solidFill>
            <a:srgbClr val="1C1C1D"/>
          </a:solidFill>
          <a:ln/>
        </p:spPr>
        <p:txBody>
          <a:bodyPr/>
          <a:lstStyle/>
          <a:p>
            <a:endParaRPr lang="en-US"/>
          </a:p>
        </p:txBody>
      </p:sp>
      <p:sp>
        <p:nvSpPr>
          <p:cNvPr id="12" name="Shape 9"/>
          <p:cNvSpPr/>
          <p:nvPr/>
        </p:nvSpPr>
        <p:spPr>
          <a:xfrm>
            <a:off x="527923" y="5290742"/>
            <a:ext cx="8088154" cy="434221"/>
          </a:xfrm>
          <a:prstGeom prst="roundRect">
            <a:avLst>
              <a:gd name="adj" fmla="val 5286"/>
            </a:avLst>
          </a:prstGeom>
          <a:solidFill>
            <a:srgbClr val="1C1C1D"/>
          </a:solidFill>
          <a:ln/>
        </p:spPr>
        <p:txBody>
          <a:bodyPr/>
          <a:lstStyle/>
          <a:p>
            <a:endParaRPr lang="en-US"/>
          </a:p>
        </p:txBody>
      </p:sp>
      <p:sp>
        <p:nvSpPr>
          <p:cNvPr id="13" name="Text 10"/>
          <p:cNvSpPr/>
          <p:nvPr/>
        </p:nvSpPr>
        <p:spPr>
          <a:xfrm>
            <a:off x="680918" y="5405400"/>
            <a:ext cx="7782163" cy="204907"/>
          </a:xfrm>
          <a:prstGeom prst="rect">
            <a:avLst/>
          </a:prstGeom>
          <a:noFill/>
          <a:ln/>
        </p:spPr>
        <p:txBody>
          <a:bodyPr wrap="none" lIns="0" tIns="0" rIns="0" bIns="0" rtlCol="0" anchor="t"/>
          <a:lstStyle/>
          <a:p>
            <a:pPr marL="0" indent="0" algn="l">
              <a:lnSpc>
                <a:spcPts val="1600"/>
              </a:lnSpc>
              <a:buNone/>
            </a:pPr>
            <a:r>
              <a:rPr lang="en-US" sz="1200" dirty="0">
                <a:solidFill>
                  <a:srgbClr val="E0D6DE"/>
                </a:solidFill>
                <a:highlight>
                  <a:srgbClr val="1C1C1D"/>
                </a:highlight>
                <a:latin typeface="Consolas" pitchFamily="34" charset="0"/>
                <a:ea typeface="Consolas" pitchFamily="34" charset="-122"/>
                <a:cs typeface="Consolas" pitchFamily="34" charset="-120"/>
              </a:rPr>
              <a:t>EXPLAIN SELECT * FROM orders WHERE order_status = 'PAID' ORDER BY order_total DESC LIMIT 20;</a:t>
            </a:r>
            <a:endParaRPr lang="en-US" sz="1200" dirty="0"/>
          </a:p>
        </p:txBody>
      </p:sp>
      <p:sp>
        <p:nvSpPr>
          <p:cNvPr id="14" name="Text 11"/>
          <p:cNvSpPr/>
          <p:nvPr/>
        </p:nvSpPr>
        <p:spPr>
          <a:xfrm>
            <a:off x="535543" y="5841049"/>
            <a:ext cx="8072914" cy="204907"/>
          </a:xfrm>
          <a:prstGeom prst="rect">
            <a:avLst/>
          </a:prstGeom>
          <a:noFill/>
          <a:ln/>
        </p:spPr>
        <p:txBody>
          <a:bodyPr wrap="none" lIns="0" tIns="0" rIns="0" bIns="0" rtlCol="0" anchor="t"/>
          <a:lstStyle/>
          <a:p>
            <a:pPr marL="0" indent="0" algn="l">
              <a:lnSpc>
                <a:spcPts val="1600"/>
              </a:lnSpc>
              <a:buNone/>
            </a:pPr>
            <a:r>
              <a:rPr lang="en-US" sz="1200" dirty="0">
                <a:solidFill>
                  <a:srgbClr val="E0D6DE"/>
                </a:solidFill>
                <a:latin typeface="Fira Sans" pitchFamily="34" charset="0"/>
                <a:ea typeface="Fira Sans" pitchFamily="34" charset="-122"/>
                <a:cs typeface="Fira Sans" pitchFamily="34" charset="-120"/>
              </a:rPr>
              <a:t>Then fix it with an index:</a:t>
            </a:r>
            <a:endParaRPr lang="en-US" sz="1200" dirty="0"/>
          </a:p>
        </p:txBody>
      </p:sp>
      <p:sp>
        <p:nvSpPr>
          <p:cNvPr id="15" name="Shape 12"/>
          <p:cNvSpPr/>
          <p:nvPr/>
        </p:nvSpPr>
        <p:spPr>
          <a:xfrm>
            <a:off x="535543" y="6162042"/>
            <a:ext cx="8072914" cy="434221"/>
          </a:xfrm>
          <a:prstGeom prst="roundRect">
            <a:avLst>
              <a:gd name="adj" fmla="val 5286"/>
            </a:avLst>
          </a:prstGeom>
          <a:solidFill>
            <a:srgbClr val="1C1C1D"/>
          </a:solidFill>
          <a:ln/>
        </p:spPr>
        <p:txBody>
          <a:bodyPr/>
          <a:lstStyle/>
          <a:p>
            <a:endParaRPr lang="en-US"/>
          </a:p>
        </p:txBody>
      </p:sp>
      <p:sp>
        <p:nvSpPr>
          <p:cNvPr id="16" name="Shape 13"/>
          <p:cNvSpPr/>
          <p:nvPr/>
        </p:nvSpPr>
        <p:spPr>
          <a:xfrm>
            <a:off x="527923" y="6162042"/>
            <a:ext cx="8088154" cy="434221"/>
          </a:xfrm>
          <a:prstGeom prst="roundRect">
            <a:avLst>
              <a:gd name="adj" fmla="val 5286"/>
            </a:avLst>
          </a:prstGeom>
          <a:solidFill>
            <a:srgbClr val="1C1C1D"/>
          </a:solidFill>
          <a:ln/>
        </p:spPr>
        <p:txBody>
          <a:bodyPr/>
          <a:lstStyle/>
          <a:p>
            <a:endParaRPr lang="en-US"/>
          </a:p>
        </p:txBody>
      </p:sp>
      <p:sp>
        <p:nvSpPr>
          <p:cNvPr id="17" name="Text 14"/>
          <p:cNvSpPr/>
          <p:nvPr/>
        </p:nvSpPr>
        <p:spPr>
          <a:xfrm>
            <a:off x="680918" y="6276699"/>
            <a:ext cx="7782163" cy="204907"/>
          </a:xfrm>
          <a:prstGeom prst="rect">
            <a:avLst/>
          </a:prstGeom>
          <a:noFill/>
          <a:ln/>
        </p:spPr>
        <p:txBody>
          <a:bodyPr wrap="none" lIns="0" tIns="0" rIns="0" bIns="0" rtlCol="0" anchor="t"/>
          <a:lstStyle/>
          <a:p>
            <a:pPr marL="0" indent="0" algn="l">
              <a:lnSpc>
                <a:spcPts val="1600"/>
              </a:lnSpc>
              <a:buNone/>
            </a:pPr>
            <a:r>
              <a:rPr lang="en-US" sz="1200" dirty="0">
                <a:solidFill>
                  <a:srgbClr val="E0D6DE"/>
                </a:solidFill>
                <a:highlight>
                  <a:srgbClr val="1C1C1D"/>
                </a:highlight>
                <a:latin typeface="Consolas" pitchFamily="34" charset="0"/>
                <a:ea typeface="Consolas" pitchFamily="34" charset="-122"/>
                <a:cs typeface="Consolas" pitchFamily="34" charset="-120"/>
              </a:rPr>
              <a:t>CREATE INDEX idx_orders_status_total ON orders(order_status, order_total);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739146"/>
            <a:ext cx="6530578" cy="566976"/>
          </a:xfrm>
          <a:prstGeom prst="rect">
            <a:avLst/>
          </a:prstGeom>
          <a:noFill/>
          <a:ln/>
        </p:spPr>
        <p:txBody>
          <a:bodyPr wrap="none" lIns="0" tIns="0" rIns="0" bIns="0" rtlCol="0" anchor="t"/>
          <a:lstStyle/>
          <a:p>
            <a:pPr marL="0" indent="0" algn="l">
              <a:lnSpc>
                <a:spcPts val="4450"/>
              </a:lnSpc>
              <a:buNone/>
            </a:pPr>
            <a:r>
              <a:rPr lang="en-US" sz="3550" dirty="0">
                <a:solidFill>
                  <a:srgbClr val="FBF3FA"/>
                </a:solidFill>
                <a:latin typeface="Fira Mono Medium" pitchFamily="34" charset="0"/>
                <a:ea typeface="Fira Mono Medium" pitchFamily="34" charset="-122"/>
                <a:cs typeface="Fira Mono Medium" pitchFamily="34" charset="-120"/>
              </a:rPr>
              <a:t>Query Execution Behavior</a:t>
            </a:r>
            <a:endParaRPr lang="en-US" sz="3550" dirty="0"/>
          </a:p>
        </p:txBody>
      </p:sp>
      <p:sp>
        <p:nvSpPr>
          <p:cNvPr id="3" name="Text 1"/>
          <p:cNvSpPr/>
          <p:nvPr/>
        </p:nvSpPr>
        <p:spPr>
          <a:xfrm>
            <a:off x="793790" y="275975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SQL is declarative: you describe what you want, not how to get it. The database engine decides how to execute your query internally. In this part, we will explain:</a:t>
            </a:r>
            <a:endParaRPr lang="en-US" sz="1750" dirty="0"/>
          </a:p>
        </p:txBody>
      </p:sp>
      <p:sp>
        <p:nvSpPr>
          <p:cNvPr id="4" name="Text 2"/>
          <p:cNvSpPr/>
          <p:nvPr/>
        </p:nvSpPr>
        <p:spPr>
          <a:xfrm>
            <a:off x="793790" y="3740706"/>
            <a:ext cx="13042821" cy="181462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How MySQL parses and optimizes a query</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How join order is chosen</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How filtering and aggregation are applied</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Why two logically identical queries can have very different performance</a:t>
            </a:r>
            <a:endParaRPr lang="en-US" sz="1750" dirty="0"/>
          </a:p>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What happens when indexes exist versus when they do not</a:t>
            </a:r>
            <a:endParaRPr lang="en-US" sz="1750" dirty="0"/>
          </a:p>
        </p:txBody>
      </p:sp>
      <p:sp>
        <p:nvSpPr>
          <p:cNvPr id="5" name="Text 3"/>
          <p:cNvSpPr/>
          <p:nvPr/>
        </p:nvSpPr>
        <p:spPr>
          <a:xfrm>
            <a:off x="793790" y="581048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Understanding execution behavior helps you reason about slow queries instead of guessing or relying on trial and error.</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576745"/>
          </a:xfrm>
          <a:prstGeom prst="rect">
            <a:avLst/>
          </a:prstGeom>
        </p:spPr>
      </p:pic>
      <p:sp>
        <p:nvSpPr>
          <p:cNvPr id="3" name="Text 0"/>
          <p:cNvSpPr/>
          <p:nvPr/>
        </p:nvSpPr>
        <p:spPr>
          <a:xfrm>
            <a:off x="2963228" y="2697956"/>
            <a:ext cx="5107543" cy="394216"/>
          </a:xfrm>
          <a:prstGeom prst="rect">
            <a:avLst/>
          </a:prstGeom>
          <a:noFill/>
          <a:ln/>
        </p:spPr>
        <p:txBody>
          <a:bodyPr wrap="none" lIns="0" tIns="0" rIns="0" bIns="0" rtlCol="0" anchor="t"/>
          <a:lstStyle/>
          <a:p>
            <a:pPr marL="0" indent="0" algn="l">
              <a:lnSpc>
                <a:spcPts val="3100"/>
              </a:lnSpc>
              <a:buNone/>
            </a:pPr>
            <a:r>
              <a:rPr lang="en-US" sz="2450" dirty="0">
                <a:solidFill>
                  <a:srgbClr val="FBF3FA"/>
                </a:solidFill>
                <a:latin typeface="Fira Mono Medium" pitchFamily="34" charset="0"/>
                <a:ea typeface="Fira Mono Medium" pitchFamily="34" charset="-122"/>
                <a:cs typeface="Fira Mono Medium" pitchFamily="34" charset="-120"/>
              </a:rPr>
              <a:t>Execution Plans and EXPLAIN</a:t>
            </a:r>
            <a:endParaRPr lang="en-US" sz="2450" dirty="0"/>
          </a:p>
        </p:txBody>
      </p:sp>
      <p:sp>
        <p:nvSpPr>
          <p:cNvPr id="4" name="Text 1"/>
          <p:cNvSpPr/>
          <p:nvPr/>
        </p:nvSpPr>
        <p:spPr>
          <a:xfrm>
            <a:off x="2963228" y="3197304"/>
            <a:ext cx="8703945" cy="313849"/>
          </a:xfrm>
          <a:prstGeom prst="rect">
            <a:avLst/>
          </a:prstGeom>
          <a:noFill/>
          <a:ln/>
        </p:spPr>
        <p:txBody>
          <a:bodyPr wrap="squar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To understand query performance, you must be able to see what the database plans to do. MySQL provides the EXPLAIN command to show how a query will be executed.</a:t>
            </a:r>
            <a:endParaRPr lang="en-US" sz="950" dirty="0"/>
          </a:p>
        </p:txBody>
      </p:sp>
      <p:sp>
        <p:nvSpPr>
          <p:cNvPr id="5" name="Text 2"/>
          <p:cNvSpPr/>
          <p:nvPr/>
        </p:nvSpPr>
        <p:spPr>
          <a:xfrm>
            <a:off x="2963228" y="3589973"/>
            <a:ext cx="8703945" cy="156924"/>
          </a:xfrm>
          <a:prstGeom prst="rect">
            <a:avLst/>
          </a:prstGeom>
          <a:noFill/>
          <a:ln/>
        </p:spPr>
        <p:txBody>
          <a:bodyPr wrap="non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We will learn how to:</a:t>
            </a:r>
            <a:endParaRPr lang="en-US" sz="950" dirty="0"/>
          </a:p>
        </p:txBody>
      </p:sp>
      <p:sp>
        <p:nvSpPr>
          <p:cNvPr id="6" name="Shape 3"/>
          <p:cNvSpPr/>
          <p:nvPr/>
        </p:nvSpPr>
        <p:spPr>
          <a:xfrm>
            <a:off x="2963228" y="3825716"/>
            <a:ext cx="283726" cy="283726"/>
          </a:xfrm>
          <a:prstGeom prst="roundRect">
            <a:avLst>
              <a:gd name="adj" fmla="val 6669"/>
            </a:avLst>
          </a:prstGeom>
          <a:solidFill>
            <a:srgbClr val="2E2E2F"/>
          </a:solidFill>
          <a:ln/>
        </p:spPr>
        <p:txBody>
          <a:bodyPr/>
          <a:lstStyle/>
          <a:p>
            <a:endParaRPr lang="en-US"/>
          </a:p>
        </p:txBody>
      </p:sp>
      <p:sp>
        <p:nvSpPr>
          <p:cNvPr id="7" name="Text 4"/>
          <p:cNvSpPr/>
          <p:nvPr/>
        </p:nvSpPr>
        <p:spPr>
          <a:xfrm>
            <a:off x="3317081" y="3869055"/>
            <a:ext cx="3954304" cy="394097"/>
          </a:xfrm>
          <a:prstGeom prst="rect">
            <a:avLst/>
          </a:prstGeom>
          <a:noFill/>
          <a:ln/>
        </p:spPr>
        <p:txBody>
          <a:bodyPr wrap="squar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Use EXPLAIN to inspect query execution plans</a:t>
            </a:r>
            <a:endParaRPr lang="en-US" sz="1200" dirty="0"/>
          </a:p>
        </p:txBody>
      </p:sp>
      <p:sp>
        <p:nvSpPr>
          <p:cNvPr id="8" name="Shape 5"/>
          <p:cNvSpPr/>
          <p:nvPr/>
        </p:nvSpPr>
        <p:spPr>
          <a:xfrm>
            <a:off x="7359015" y="3825716"/>
            <a:ext cx="283726" cy="283726"/>
          </a:xfrm>
          <a:prstGeom prst="roundRect">
            <a:avLst>
              <a:gd name="adj" fmla="val 6669"/>
            </a:avLst>
          </a:prstGeom>
          <a:solidFill>
            <a:srgbClr val="2E2E2F"/>
          </a:solidFill>
          <a:ln/>
        </p:spPr>
        <p:txBody>
          <a:bodyPr/>
          <a:lstStyle/>
          <a:p>
            <a:endParaRPr lang="en-US"/>
          </a:p>
        </p:txBody>
      </p:sp>
      <p:sp>
        <p:nvSpPr>
          <p:cNvPr id="9" name="Text 6"/>
          <p:cNvSpPr/>
          <p:nvPr/>
        </p:nvSpPr>
        <p:spPr>
          <a:xfrm>
            <a:off x="7712869" y="3869055"/>
            <a:ext cx="3954304" cy="591145"/>
          </a:xfrm>
          <a:prstGeom prst="rect">
            <a:avLst/>
          </a:prstGeom>
          <a:noFill/>
          <a:ln/>
        </p:spPr>
        <p:txBody>
          <a:bodyPr wrap="squar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Interpret key fields such as table access type, key usage, rows examined, and extra operations</a:t>
            </a:r>
            <a:endParaRPr lang="en-US" sz="1200" dirty="0"/>
          </a:p>
        </p:txBody>
      </p:sp>
      <p:sp>
        <p:nvSpPr>
          <p:cNvPr id="10" name="Shape 7"/>
          <p:cNvSpPr/>
          <p:nvPr/>
        </p:nvSpPr>
        <p:spPr>
          <a:xfrm>
            <a:off x="2963228" y="4600456"/>
            <a:ext cx="283726" cy="283726"/>
          </a:xfrm>
          <a:prstGeom prst="roundRect">
            <a:avLst>
              <a:gd name="adj" fmla="val 6669"/>
            </a:avLst>
          </a:prstGeom>
          <a:solidFill>
            <a:srgbClr val="2E2E2F"/>
          </a:solidFill>
          <a:ln/>
        </p:spPr>
        <p:txBody>
          <a:bodyPr/>
          <a:lstStyle/>
          <a:p>
            <a:endParaRPr lang="en-US"/>
          </a:p>
        </p:txBody>
      </p:sp>
      <p:sp>
        <p:nvSpPr>
          <p:cNvPr id="11" name="Text 8"/>
          <p:cNvSpPr/>
          <p:nvPr/>
        </p:nvSpPr>
        <p:spPr>
          <a:xfrm>
            <a:off x="3317081" y="4643795"/>
            <a:ext cx="3954304" cy="394097"/>
          </a:xfrm>
          <a:prstGeom prst="rect">
            <a:avLst/>
          </a:prstGeom>
          <a:noFill/>
          <a:ln/>
        </p:spPr>
        <p:txBody>
          <a:bodyPr wrap="squar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Identify red flags like full table scans and inefficient joins</a:t>
            </a:r>
            <a:endParaRPr lang="en-US" sz="1200" dirty="0"/>
          </a:p>
        </p:txBody>
      </p:sp>
      <p:sp>
        <p:nvSpPr>
          <p:cNvPr id="12" name="Shape 9"/>
          <p:cNvSpPr/>
          <p:nvPr/>
        </p:nvSpPr>
        <p:spPr>
          <a:xfrm>
            <a:off x="7359015" y="4600456"/>
            <a:ext cx="283726" cy="283726"/>
          </a:xfrm>
          <a:prstGeom prst="roundRect">
            <a:avLst>
              <a:gd name="adj" fmla="val 6669"/>
            </a:avLst>
          </a:prstGeom>
          <a:solidFill>
            <a:srgbClr val="2E2E2F"/>
          </a:solidFill>
          <a:ln/>
        </p:spPr>
        <p:txBody>
          <a:bodyPr/>
          <a:lstStyle/>
          <a:p>
            <a:endParaRPr lang="en-US"/>
          </a:p>
        </p:txBody>
      </p:sp>
      <p:sp>
        <p:nvSpPr>
          <p:cNvPr id="13" name="Text 10"/>
          <p:cNvSpPr/>
          <p:nvPr/>
        </p:nvSpPr>
        <p:spPr>
          <a:xfrm>
            <a:off x="7712869" y="4643795"/>
            <a:ext cx="3954304" cy="394097"/>
          </a:xfrm>
          <a:prstGeom prst="rect">
            <a:avLst/>
          </a:prstGeom>
          <a:noFill/>
          <a:ln/>
        </p:spPr>
        <p:txBody>
          <a:bodyPr wrap="squar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Compare execution plans before and after adding indexes or rewriting queries</a:t>
            </a:r>
            <a:endParaRPr lang="en-US" sz="1200" dirty="0"/>
          </a:p>
        </p:txBody>
      </p:sp>
      <p:sp>
        <p:nvSpPr>
          <p:cNvPr id="14" name="Text 11"/>
          <p:cNvSpPr/>
          <p:nvPr/>
        </p:nvSpPr>
        <p:spPr>
          <a:xfrm>
            <a:off x="2963228" y="5143024"/>
            <a:ext cx="3121343" cy="197048"/>
          </a:xfrm>
          <a:prstGeom prst="rect">
            <a:avLst/>
          </a:prstGeom>
          <a:noFill/>
          <a:ln/>
        </p:spPr>
        <p:txBody>
          <a:bodyPr wrap="none" lIns="0" tIns="0" rIns="0" bIns="0" rtlCol="0" anchor="t"/>
          <a:lstStyle/>
          <a:p>
            <a:pPr marL="0" indent="0" algn="l">
              <a:lnSpc>
                <a:spcPts val="1550"/>
              </a:lnSpc>
              <a:buNone/>
            </a:pPr>
            <a:r>
              <a:rPr lang="en-US" sz="1200" dirty="0">
                <a:solidFill>
                  <a:srgbClr val="FBF3FA"/>
                </a:solidFill>
                <a:latin typeface="Fira Mono Medium" pitchFamily="34" charset="0"/>
                <a:ea typeface="Fira Mono Medium" pitchFamily="34" charset="-122"/>
                <a:cs typeface="Fira Mono Medium" pitchFamily="34" charset="-120"/>
              </a:rPr>
              <a:t>Key EXPLAIN fields to understand:</a:t>
            </a:r>
            <a:endParaRPr lang="en-US" sz="1200" dirty="0"/>
          </a:p>
        </p:txBody>
      </p:sp>
      <p:sp>
        <p:nvSpPr>
          <p:cNvPr id="15" name="Shape 12"/>
          <p:cNvSpPr/>
          <p:nvPr/>
        </p:nvSpPr>
        <p:spPr>
          <a:xfrm>
            <a:off x="2963228" y="5445204"/>
            <a:ext cx="4316849" cy="678656"/>
          </a:xfrm>
          <a:prstGeom prst="roundRect">
            <a:avLst>
              <a:gd name="adj" fmla="val 10779"/>
            </a:avLst>
          </a:prstGeom>
          <a:solidFill>
            <a:srgbClr val="0F0F10"/>
          </a:solidFill>
          <a:ln w="15240">
            <a:solidFill>
              <a:srgbClr val="474748"/>
            </a:solidFill>
            <a:prstDash val="solid"/>
          </a:ln>
        </p:spPr>
        <p:txBody>
          <a:bodyPr/>
          <a:lstStyle/>
          <a:p>
            <a:endParaRPr lang="en-US"/>
          </a:p>
        </p:txBody>
      </p:sp>
      <p:sp>
        <p:nvSpPr>
          <p:cNvPr id="16" name="Shape 13"/>
          <p:cNvSpPr/>
          <p:nvPr/>
        </p:nvSpPr>
        <p:spPr>
          <a:xfrm>
            <a:off x="2947987" y="5445204"/>
            <a:ext cx="60960" cy="678656"/>
          </a:xfrm>
          <a:prstGeom prst="roundRect">
            <a:avLst>
              <a:gd name="adj" fmla="val 31040"/>
            </a:avLst>
          </a:prstGeom>
          <a:solidFill>
            <a:srgbClr val="FF6BD8"/>
          </a:solidFill>
          <a:ln/>
        </p:spPr>
        <p:txBody>
          <a:bodyPr/>
          <a:lstStyle/>
          <a:p>
            <a:endParaRPr lang="en-US"/>
          </a:p>
        </p:txBody>
      </p:sp>
      <p:sp>
        <p:nvSpPr>
          <p:cNvPr id="17" name="Text 14"/>
          <p:cNvSpPr/>
          <p:nvPr/>
        </p:nvSpPr>
        <p:spPr>
          <a:xfrm>
            <a:off x="3150275" y="5586532"/>
            <a:ext cx="1576745" cy="197048"/>
          </a:xfrm>
          <a:prstGeom prst="rect">
            <a:avLst/>
          </a:prstGeom>
          <a:noFill/>
          <a:ln/>
        </p:spPr>
        <p:txBody>
          <a:bodyPr wrap="non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type:</a:t>
            </a:r>
            <a:endParaRPr lang="en-US" sz="1200" dirty="0"/>
          </a:p>
        </p:txBody>
      </p:sp>
      <p:sp>
        <p:nvSpPr>
          <p:cNvPr id="18" name="Text 15"/>
          <p:cNvSpPr/>
          <p:nvPr/>
        </p:nvSpPr>
        <p:spPr>
          <a:xfrm>
            <a:off x="3150275" y="5825609"/>
            <a:ext cx="3988475" cy="156924"/>
          </a:xfrm>
          <a:prstGeom prst="rect">
            <a:avLst/>
          </a:prstGeom>
          <a:noFill/>
          <a:ln/>
        </p:spPr>
        <p:txBody>
          <a:bodyPr wrap="non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const, ref, range, index, ALL (from fastest to slowest)</a:t>
            </a:r>
            <a:endParaRPr lang="en-US" sz="950" dirty="0"/>
          </a:p>
        </p:txBody>
      </p:sp>
      <p:sp>
        <p:nvSpPr>
          <p:cNvPr id="19" name="Shape 16"/>
          <p:cNvSpPr/>
          <p:nvPr/>
        </p:nvSpPr>
        <p:spPr>
          <a:xfrm>
            <a:off x="7350204" y="5445204"/>
            <a:ext cx="4316968" cy="678656"/>
          </a:xfrm>
          <a:prstGeom prst="roundRect">
            <a:avLst>
              <a:gd name="adj" fmla="val 10779"/>
            </a:avLst>
          </a:prstGeom>
          <a:solidFill>
            <a:srgbClr val="0F0F10"/>
          </a:solidFill>
          <a:ln w="15240">
            <a:solidFill>
              <a:srgbClr val="474748"/>
            </a:solidFill>
            <a:prstDash val="solid"/>
          </a:ln>
        </p:spPr>
        <p:txBody>
          <a:bodyPr/>
          <a:lstStyle/>
          <a:p>
            <a:endParaRPr lang="en-US"/>
          </a:p>
        </p:txBody>
      </p:sp>
      <p:sp>
        <p:nvSpPr>
          <p:cNvPr id="20" name="Shape 17"/>
          <p:cNvSpPr/>
          <p:nvPr/>
        </p:nvSpPr>
        <p:spPr>
          <a:xfrm>
            <a:off x="7334964" y="5445204"/>
            <a:ext cx="60960" cy="678656"/>
          </a:xfrm>
          <a:prstGeom prst="roundRect">
            <a:avLst>
              <a:gd name="adj" fmla="val 31040"/>
            </a:avLst>
          </a:prstGeom>
          <a:solidFill>
            <a:srgbClr val="FF6BD8"/>
          </a:solidFill>
          <a:ln/>
        </p:spPr>
        <p:txBody>
          <a:bodyPr/>
          <a:lstStyle/>
          <a:p>
            <a:endParaRPr lang="en-US"/>
          </a:p>
        </p:txBody>
      </p:sp>
      <p:sp>
        <p:nvSpPr>
          <p:cNvPr id="21" name="Text 18"/>
          <p:cNvSpPr/>
          <p:nvPr/>
        </p:nvSpPr>
        <p:spPr>
          <a:xfrm>
            <a:off x="7537252" y="5586532"/>
            <a:ext cx="1576745" cy="197048"/>
          </a:xfrm>
          <a:prstGeom prst="rect">
            <a:avLst/>
          </a:prstGeom>
          <a:noFill/>
          <a:ln/>
        </p:spPr>
        <p:txBody>
          <a:bodyPr wrap="non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key:</a:t>
            </a:r>
            <a:endParaRPr lang="en-US" sz="1200" dirty="0"/>
          </a:p>
        </p:txBody>
      </p:sp>
      <p:sp>
        <p:nvSpPr>
          <p:cNvPr id="22" name="Text 19"/>
          <p:cNvSpPr/>
          <p:nvPr/>
        </p:nvSpPr>
        <p:spPr>
          <a:xfrm>
            <a:off x="7537252" y="5825609"/>
            <a:ext cx="3988594" cy="156924"/>
          </a:xfrm>
          <a:prstGeom prst="rect">
            <a:avLst/>
          </a:prstGeom>
          <a:noFill/>
          <a:ln/>
        </p:spPr>
        <p:txBody>
          <a:bodyPr wrap="non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which index was chosen (or NULL if no index)</a:t>
            </a:r>
            <a:endParaRPr lang="en-US" sz="950" dirty="0"/>
          </a:p>
        </p:txBody>
      </p:sp>
      <p:sp>
        <p:nvSpPr>
          <p:cNvPr id="23" name="Shape 20"/>
          <p:cNvSpPr/>
          <p:nvPr/>
        </p:nvSpPr>
        <p:spPr>
          <a:xfrm>
            <a:off x="2963228" y="6193988"/>
            <a:ext cx="4316849" cy="678656"/>
          </a:xfrm>
          <a:prstGeom prst="roundRect">
            <a:avLst>
              <a:gd name="adj" fmla="val 10779"/>
            </a:avLst>
          </a:prstGeom>
          <a:solidFill>
            <a:srgbClr val="0F0F10"/>
          </a:solidFill>
          <a:ln w="15240">
            <a:solidFill>
              <a:srgbClr val="474748"/>
            </a:solidFill>
            <a:prstDash val="solid"/>
          </a:ln>
        </p:spPr>
        <p:txBody>
          <a:bodyPr/>
          <a:lstStyle/>
          <a:p>
            <a:endParaRPr lang="en-US"/>
          </a:p>
        </p:txBody>
      </p:sp>
      <p:sp>
        <p:nvSpPr>
          <p:cNvPr id="24" name="Shape 21"/>
          <p:cNvSpPr/>
          <p:nvPr/>
        </p:nvSpPr>
        <p:spPr>
          <a:xfrm>
            <a:off x="2947987" y="6193988"/>
            <a:ext cx="60960" cy="678656"/>
          </a:xfrm>
          <a:prstGeom prst="roundRect">
            <a:avLst>
              <a:gd name="adj" fmla="val 31040"/>
            </a:avLst>
          </a:prstGeom>
          <a:solidFill>
            <a:srgbClr val="FF6BD8"/>
          </a:solidFill>
          <a:ln/>
        </p:spPr>
        <p:txBody>
          <a:bodyPr/>
          <a:lstStyle/>
          <a:p>
            <a:endParaRPr lang="en-US"/>
          </a:p>
        </p:txBody>
      </p:sp>
      <p:sp>
        <p:nvSpPr>
          <p:cNvPr id="25" name="Text 22"/>
          <p:cNvSpPr/>
          <p:nvPr/>
        </p:nvSpPr>
        <p:spPr>
          <a:xfrm>
            <a:off x="3150275" y="6335316"/>
            <a:ext cx="1576745" cy="197048"/>
          </a:xfrm>
          <a:prstGeom prst="rect">
            <a:avLst/>
          </a:prstGeom>
          <a:noFill/>
          <a:ln/>
        </p:spPr>
        <p:txBody>
          <a:bodyPr wrap="non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rows:</a:t>
            </a:r>
            <a:endParaRPr lang="en-US" sz="1200" dirty="0"/>
          </a:p>
        </p:txBody>
      </p:sp>
      <p:sp>
        <p:nvSpPr>
          <p:cNvPr id="26" name="Text 23"/>
          <p:cNvSpPr/>
          <p:nvPr/>
        </p:nvSpPr>
        <p:spPr>
          <a:xfrm>
            <a:off x="3150275" y="6574393"/>
            <a:ext cx="3988475" cy="156924"/>
          </a:xfrm>
          <a:prstGeom prst="rect">
            <a:avLst/>
          </a:prstGeom>
          <a:noFill/>
          <a:ln/>
        </p:spPr>
        <p:txBody>
          <a:bodyPr wrap="non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estimated number of rows examined</a:t>
            </a:r>
            <a:endParaRPr lang="en-US" sz="950" dirty="0"/>
          </a:p>
        </p:txBody>
      </p:sp>
      <p:sp>
        <p:nvSpPr>
          <p:cNvPr id="27" name="Shape 24"/>
          <p:cNvSpPr/>
          <p:nvPr/>
        </p:nvSpPr>
        <p:spPr>
          <a:xfrm>
            <a:off x="7350204" y="6193988"/>
            <a:ext cx="4316968" cy="678656"/>
          </a:xfrm>
          <a:prstGeom prst="roundRect">
            <a:avLst>
              <a:gd name="adj" fmla="val 10779"/>
            </a:avLst>
          </a:prstGeom>
          <a:solidFill>
            <a:srgbClr val="0F0F10"/>
          </a:solidFill>
          <a:ln w="15240">
            <a:solidFill>
              <a:srgbClr val="474748"/>
            </a:solidFill>
            <a:prstDash val="solid"/>
          </a:ln>
        </p:spPr>
        <p:txBody>
          <a:bodyPr/>
          <a:lstStyle/>
          <a:p>
            <a:endParaRPr lang="en-US"/>
          </a:p>
        </p:txBody>
      </p:sp>
      <p:sp>
        <p:nvSpPr>
          <p:cNvPr id="28" name="Shape 25"/>
          <p:cNvSpPr/>
          <p:nvPr/>
        </p:nvSpPr>
        <p:spPr>
          <a:xfrm>
            <a:off x="7334964" y="6193988"/>
            <a:ext cx="60960" cy="678656"/>
          </a:xfrm>
          <a:prstGeom prst="roundRect">
            <a:avLst>
              <a:gd name="adj" fmla="val 31040"/>
            </a:avLst>
          </a:prstGeom>
          <a:solidFill>
            <a:srgbClr val="FF6BD8"/>
          </a:solidFill>
          <a:ln/>
        </p:spPr>
        <p:txBody>
          <a:bodyPr/>
          <a:lstStyle/>
          <a:p>
            <a:endParaRPr lang="en-US"/>
          </a:p>
        </p:txBody>
      </p:sp>
      <p:sp>
        <p:nvSpPr>
          <p:cNvPr id="29" name="Text 26"/>
          <p:cNvSpPr/>
          <p:nvPr/>
        </p:nvSpPr>
        <p:spPr>
          <a:xfrm>
            <a:off x="7537252" y="6335316"/>
            <a:ext cx="1576745" cy="197048"/>
          </a:xfrm>
          <a:prstGeom prst="rect">
            <a:avLst/>
          </a:prstGeom>
          <a:noFill/>
          <a:ln/>
        </p:spPr>
        <p:txBody>
          <a:bodyPr wrap="none" lIns="0" tIns="0" rIns="0" bIns="0" rtlCol="0" anchor="t"/>
          <a:lstStyle/>
          <a:p>
            <a:pPr marL="0" indent="0" algn="l">
              <a:lnSpc>
                <a:spcPts val="1550"/>
              </a:lnSpc>
              <a:buNone/>
            </a:pPr>
            <a:r>
              <a:rPr lang="en-US" sz="1200" dirty="0">
                <a:solidFill>
                  <a:srgbClr val="E0D6DE"/>
                </a:solidFill>
                <a:latin typeface="Fira Mono Medium" pitchFamily="34" charset="0"/>
                <a:ea typeface="Fira Mono Medium" pitchFamily="34" charset="-122"/>
                <a:cs typeface="Fira Mono Medium" pitchFamily="34" charset="-120"/>
              </a:rPr>
              <a:t>Extra:</a:t>
            </a:r>
            <a:endParaRPr lang="en-US" sz="1200" dirty="0"/>
          </a:p>
        </p:txBody>
      </p:sp>
      <p:sp>
        <p:nvSpPr>
          <p:cNvPr id="30" name="Text 27"/>
          <p:cNvSpPr/>
          <p:nvPr/>
        </p:nvSpPr>
        <p:spPr>
          <a:xfrm>
            <a:off x="7537252" y="6574393"/>
            <a:ext cx="3988594" cy="156924"/>
          </a:xfrm>
          <a:prstGeom prst="rect">
            <a:avLst/>
          </a:prstGeom>
          <a:noFill/>
          <a:ln/>
        </p:spPr>
        <p:txBody>
          <a:bodyPr wrap="non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Using where, Using index, Using temporary, Using filesort</a:t>
            </a:r>
            <a:endParaRPr lang="en-US" sz="950" dirty="0"/>
          </a:p>
        </p:txBody>
      </p:sp>
      <p:sp>
        <p:nvSpPr>
          <p:cNvPr id="31" name="Text 28"/>
          <p:cNvSpPr/>
          <p:nvPr/>
        </p:nvSpPr>
        <p:spPr>
          <a:xfrm>
            <a:off x="2963228" y="6951464"/>
            <a:ext cx="8703945" cy="156924"/>
          </a:xfrm>
          <a:prstGeom prst="rect">
            <a:avLst/>
          </a:prstGeom>
          <a:noFill/>
          <a:ln/>
        </p:spPr>
        <p:txBody>
          <a:bodyPr wrap="none" lIns="0" tIns="0" rIns="0" bIns="0" rtlCol="0" anchor="t"/>
          <a:lstStyle/>
          <a:p>
            <a:pPr marL="0" indent="0" algn="l">
              <a:lnSpc>
                <a:spcPts val="1200"/>
              </a:lnSpc>
              <a:buNone/>
            </a:pPr>
            <a:r>
              <a:rPr lang="en-US" sz="950" dirty="0">
                <a:solidFill>
                  <a:srgbClr val="E0D6DE"/>
                </a:solidFill>
                <a:latin typeface="Fira Sans" pitchFamily="34" charset="0"/>
                <a:ea typeface="Fira Sans" pitchFamily="34" charset="-122"/>
                <a:cs typeface="Fira Sans" pitchFamily="34" charset="-120"/>
              </a:rPr>
              <a:t>By the end of this section, you should be able to look at an execution plan and explain why a query is fast or slow.</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897267" y="1363266"/>
            <a:ext cx="2919651" cy="320040"/>
          </a:xfrm>
          <a:prstGeom prst="rect">
            <a:avLst/>
          </a:prstGeom>
          <a:noFill/>
          <a:ln/>
        </p:spPr>
        <p:txBody>
          <a:bodyPr wrap="none" lIns="0" tIns="0" rIns="0" bIns="0" rtlCol="0" anchor="t"/>
          <a:lstStyle/>
          <a:p>
            <a:pPr marL="0" indent="0" algn="l">
              <a:lnSpc>
                <a:spcPts val="2500"/>
              </a:lnSpc>
              <a:buNone/>
            </a:pPr>
            <a:r>
              <a:rPr lang="en-US" sz="2000" dirty="0">
                <a:solidFill>
                  <a:srgbClr val="FBF3FA"/>
                </a:solidFill>
                <a:latin typeface="Fira Mono Medium" pitchFamily="34" charset="0"/>
                <a:ea typeface="Fira Mono Medium" pitchFamily="34" charset="-122"/>
                <a:cs typeface="Fira Mono Medium" pitchFamily="34" charset="-120"/>
              </a:rPr>
              <a:t>Indexing Strategies</a:t>
            </a:r>
            <a:endParaRPr lang="en-US" sz="2000" dirty="0"/>
          </a:p>
        </p:txBody>
      </p:sp>
      <p:sp>
        <p:nvSpPr>
          <p:cNvPr id="3" name="Text 1"/>
          <p:cNvSpPr/>
          <p:nvPr/>
        </p:nvSpPr>
        <p:spPr>
          <a:xfrm>
            <a:off x="2897267" y="1827848"/>
            <a:ext cx="8835866" cy="961697"/>
          </a:xfrm>
          <a:prstGeom prst="rect">
            <a:avLst/>
          </a:prstGeom>
          <a:noFill/>
          <a:ln/>
        </p:spPr>
        <p:txBody>
          <a:bodyPr wrap="square" lIns="0" tIns="0" rIns="0" bIns="0" rtlCol="0" anchor="t"/>
          <a:lstStyle/>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What indexes are and how they work internally</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Common index types used in MySQL</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When an index helps and when it does not</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How composite (multi-column) indexes work</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How index order affects query performance</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Why too many indexes can hurt performance</a:t>
            </a:r>
            <a:endParaRPr lang="en-US" sz="1000" dirty="0"/>
          </a:p>
        </p:txBody>
      </p:sp>
      <p:sp>
        <p:nvSpPr>
          <p:cNvPr id="4" name="Text 2"/>
          <p:cNvSpPr/>
          <p:nvPr/>
        </p:nvSpPr>
        <p:spPr>
          <a:xfrm>
            <a:off x="2897267" y="2870865"/>
            <a:ext cx="8835866" cy="160258"/>
          </a:xfrm>
          <a:prstGeom prst="rect">
            <a:avLst/>
          </a:prstGeom>
          <a:noFill/>
          <a:ln/>
        </p:spPr>
        <p:txBody>
          <a:bodyPr wrap="none" lIns="0" tIns="0" rIns="0" bIns="0" rtlCol="0" anchor="t"/>
          <a:lstStyle/>
          <a:p>
            <a:pPr marL="0" indent="0" algn="l">
              <a:lnSpc>
                <a:spcPts val="1250"/>
              </a:lnSpc>
              <a:buNone/>
            </a:pPr>
            <a:r>
              <a:rPr lang="en-US" sz="1000" dirty="0">
                <a:solidFill>
                  <a:srgbClr val="E0D6DE"/>
                </a:solidFill>
                <a:latin typeface="Fira Sans" pitchFamily="34" charset="0"/>
                <a:ea typeface="Fira Sans" pitchFamily="34" charset="-122"/>
                <a:cs typeface="Fira Sans" pitchFamily="34" charset="-120"/>
              </a:rPr>
              <a:t>We will also discuss how indexing decisions depend on access patterns, not just table structure.</a:t>
            </a:r>
            <a:endParaRPr lang="en-US" sz="1000" dirty="0"/>
          </a:p>
        </p:txBody>
      </p:sp>
      <p:sp>
        <p:nvSpPr>
          <p:cNvPr id="5" name="Text 3"/>
          <p:cNvSpPr/>
          <p:nvPr/>
        </p:nvSpPr>
        <p:spPr>
          <a:xfrm>
            <a:off x="2897267" y="3139470"/>
            <a:ext cx="4896683" cy="200025"/>
          </a:xfrm>
          <a:prstGeom prst="rect">
            <a:avLst/>
          </a:prstGeom>
          <a:noFill/>
          <a:ln/>
        </p:spPr>
        <p:txBody>
          <a:bodyPr wrap="none" lIns="0" tIns="0" rIns="0" bIns="0" rtlCol="0" anchor="t"/>
          <a:lstStyle/>
          <a:p>
            <a:pPr marL="0" indent="0" algn="l">
              <a:lnSpc>
                <a:spcPts val="1550"/>
              </a:lnSpc>
              <a:buNone/>
            </a:pPr>
            <a:r>
              <a:rPr lang="en-US" sz="1250" dirty="0">
                <a:solidFill>
                  <a:srgbClr val="FBF3FA"/>
                </a:solidFill>
                <a:latin typeface="Fira Mono Medium" pitchFamily="34" charset="0"/>
                <a:ea typeface="Fira Mono Medium" pitchFamily="34" charset="-122"/>
                <a:cs typeface="Fira Mono Medium" pitchFamily="34" charset="-120"/>
              </a:rPr>
              <a:t>What an index really is (internally, not marketing)</a:t>
            </a:r>
            <a:endParaRPr lang="en-US" sz="1250" dirty="0"/>
          </a:p>
        </p:txBody>
      </p:sp>
      <p:sp>
        <p:nvSpPr>
          <p:cNvPr id="6" name="Text 4"/>
          <p:cNvSpPr/>
          <p:nvPr/>
        </p:nvSpPr>
        <p:spPr>
          <a:xfrm>
            <a:off x="2897267" y="3447841"/>
            <a:ext cx="8835866" cy="320516"/>
          </a:xfrm>
          <a:prstGeom prst="rect">
            <a:avLst/>
          </a:prstGeom>
          <a:noFill/>
          <a:ln/>
        </p:spPr>
        <p:txBody>
          <a:bodyPr wrap="square" lIns="0" tIns="0" rIns="0" bIns="0" rtlCol="0" anchor="t"/>
          <a:lstStyle/>
          <a:p>
            <a:pPr marL="0" indent="0" algn="l">
              <a:lnSpc>
                <a:spcPts val="1250"/>
              </a:lnSpc>
              <a:buNone/>
            </a:pPr>
            <a:r>
              <a:rPr lang="en-US" sz="1000" dirty="0">
                <a:solidFill>
                  <a:srgbClr val="E0D6DE"/>
                </a:solidFill>
                <a:latin typeface="Fira Sans" pitchFamily="34" charset="0"/>
                <a:ea typeface="Fira Sans" pitchFamily="34" charset="-122"/>
                <a:cs typeface="Fira Sans" pitchFamily="34" charset="-120"/>
              </a:rPr>
              <a:t>In MySQL, most indexes are implemented using a B-tree structure. Think of it as a sorted tree that lets the database quickly narrow down where a value lives. Conceptually:</a:t>
            </a:r>
            <a:endParaRPr lang="en-US" sz="1000" dirty="0"/>
          </a:p>
        </p:txBody>
      </p:sp>
      <p:sp>
        <p:nvSpPr>
          <p:cNvPr id="7" name="Text 5"/>
          <p:cNvSpPr/>
          <p:nvPr/>
        </p:nvSpPr>
        <p:spPr>
          <a:xfrm>
            <a:off x="2897267" y="3849677"/>
            <a:ext cx="8835866" cy="480849"/>
          </a:xfrm>
          <a:prstGeom prst="rect">
            <a:avLst/>
          </a:prstGeom>
          <a:noFill/>
          <a:ln/>
        </p:spPr>
        <p:txBody>
          <a:bodyPr wrap="square" lIns="0" tIns="0" rIns="0" bIns="0" rtlCol="0" anchor="t"/>
          <a:lstStyle/>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The table stores rows in no particular logical order</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The index stores selected column values in sorted order</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Each index entry points back to the actual row</a:t>
            </a:r>
            <a:endParaRPr lang="en-US" sz="1000" dirty="0"/>
          </a:p>
        </p:txBody>
      </p:sp>
      <p:sp>
        <p:nvSpPr>
          <p:cNvPr id="8" name="Text 6"/>
          <p:cNvSpPr/>
          <p:nvPr/>
        </p:nvSpPr>
        <p:spPr>
          <a:xfrm>
            <a:off x="2897267" y="4411846"/>
            <a:ext cx="8835866" cy="167878"/>
          </a:xfrm>
          <a:prstGeom prst="rect">
            <a:avLst/>
          </a:prstGeom>
          <a:noFill/>
          <a:ln/>
        </p:spPr>
        <p:txBody>
          <a:bodyPr wrap="none" lIns="0" tIns="0" rIns="0" bIns="0" rtlCol="0" anchor="t"/>
          <a:lstStyle/>
          <a:p>
            <a:pPr marL="0" indent="0" algn="l">
              <a:lnSpc>
                <a:spcPts val="1250"/>
              </a:lnSpc>
              <a:buNone/>
            </a:pPr>
            <a:r>
              <a:rPr lang="en-US" sz="1000" dirty="0">
                <a:solidFill>
                  <a:srgbClr val="E0D6DE"/>
                </a:solidFill>
                <a:latin typeface="Fira Sans" pitchFamily="34" charset="0"/>
                <a:ea typeface="Fira Sans" pitchFamily="34" charset="-122"/>
                <a:cs typeface="Fira Sans" pitchFamily="34" charset="-120"/>
              </a:rPr>
              <a:t>When you run: </a:t>
            </a:r>
            <a:r>
              <a:rPr lang="en-US" sz="1000" dirty="0">
                <a:solidFill>
                  <a:srgbClr val="E0D6DE"/>
                </a:solidFill>
                <a:highlight>
                  <a:srgbClr val="1C1C1D"/>
                </a:highlight>
                <a:latin typeface="Consolas" pitchFamily="34" charset="0"/>
                <a:ea typeface="Consolas" pitchFamily="34" charset="-122"/>
                <a:cs typeface="Consolas" pitchFamily="34" charset="-120"/>
              </a:rPr>
              <a:t>SELECT * FROM orders WHERE customer_id = 42;</a:t>
            </a:r>
            <a:endParaRPr lang="en-US" sz="1000" dirty="0"/>
          </a:p>
        </p:txBody>
      </p:sp>
      <p:sp>
        <p:nvSpPr>
          <p:cNvPr id="9" name="Text 7"/>
          <p:cNvSpPr/>
          <p:nvPr/>
        </p:nvSpPr>
        <p:spPr>
          <a:xfrm>
            <a:off x="2897267" y="4661044"/>
            <a:ext cx="8835866" cy="160258"/>
          </a:xfrm>
          <a:prstGeom prst="rect">
            <a:avLst/>
          </a:prstGeom>
          <a:noFill/>
          <a:ln/>
        </p:spPr>
        <p:txBody>
          <a:bodyPr wrap="none" lIns="0" tIns="0" rIns="0" bIns="0" rtlCol="0" anchor="t"/>
          <a:lstStyle/>
          <a:p>
            <a:pPr marL="0" indent="0" algn="l">
              <a:lnSpc>
                <a:spcPts val="1250"/>
              </a:lnSpc>
              <a:buNone/>
            </a:pPr>
            <a:r>
              <a:rPr lang="en-US" sz="1000" dirty="0">
                <a:solidFill>
                  <a:srgbClr val="E0D6DE"/>
                </a:solidFill>
                <a:latin typeface="Fira Sans" pitchFamily="34" charset="0"/>
                <a:ea typeface="Fira Sans" pitchFamily="34" charset="-122"/>
                <a:cs typeface="Fira Sans" pitchFamily="34" charset="-120"/>
              </a:rPr>
              <a:t>Without an index, MySQL does this:</a:t>
            </a:r>
            <a:endParaRPr lang="en-US" sz="1000" dirty="0"/>
          </a:p>
        </p:txBody>
      </p:sp>
      <p:sp>
        <p:nvSpPr>
          <p:cNvPr id="10" name="Text 8"/>
          <p:cNvSpPr/>
          <p:nvPr/>
        </p:nvSpPr>
        <p:spPr>
          <a:xfrm>
            <a:off x="2897267" y="4902621"/>
            <a:ext cx="8835866" cy="480849"/>
          </a:xfrm>
          <a:prstGeom prst="rect">
            <a:avLst/>
          </a:prstGeom>
          <a:noFill/>
          <a:ln/>
        </p:spPr>
        <p:txBody>
          <a:bodyPr wrap="square" lIns="0" tIns="0" rIns="0" bIns="0" rtlCol="0" anchor="t"/>
          <a:lstStyle/>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Start at the first row</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Check customer_id</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Repeat for every row in the table</a:t>
            </a:r>
            <a:endParaRPr lang="en-US" sz="1000" dirty="0"/>
          </a:p>
        </p:txBody>
      </p:sp>
      <p:sp>
        <p:nvSpPr>
          <p:cNvPr id="11" name="Text 9"/>
          <p:cNvSpPr/>
          <p:nvPr/>
        </p:nvSpPr>
        <p:spPr>
          <a:xfrm>
            <a:off x="2897267" y="5464790"/>
            <a:ext cx="8835866" cy="160258"/>
          </a:xfrm>
          <a:prstGeom prst="rect">
            <a:avLst/>
          </a:prstGeom>
          <a:noFill/>
          <a:ln/>
        </p:spPr>
        <p:txBody>
          <a:bodyPr wrap="none" lIns="0" tIns="0" rIns="0" bIns="0" rtlCol="0" anchor="t"/>
          <a:lstStyle/>
          <a:p>
            <a:pPr marL="0" indent="0" algn="l">
              <a:lnSpc>
                <a:spcPts val="1250"/>
              </a:lnSpc>
              <a:buNone/>
            </a:pPr>
            <a:r>
              <a:rPr lang="en-US" sz="1000" dirty="0">
                <a:solidFill>
                  <a:srgbClr val="E0D6DE"/>
                </a:solidFill>
                <a:latin typeface="Fira Sans" pitchFamily="34" charset="0"/>
                <a:ea typeface="Fira Sans" pitchFamily="34" charset="-122"/>
                <a:cs typeface="Fira Sans" pitchFamily="34" charset="-120"/>
              </a:rPr>
              <a:t>With an index on customer_id, MySQL instead:</a:t>
            </a:r>
            <a:endParaRPr lang="en-US" sz="1000" dirty="0"/>
          </a:p>
        </p:txBody>
      </p:sp>
      <p:sp>
        <p:nvSpPr>
          <p:cNvPr id="12" name="Text 10"/>
          <p:cNvSpPr/>
          <p:nvPr/>
        </p:nvSpPr>
        <p:spPr>
          <a:xfrm>
            <a:off x="2897267" y="5706367"/>
            <a:ext cx="8835866" cy="480849"/>
          </a:xfrm>
          <a:prstGeom prst="rect">
            <a:avLst/>
          </a:prstGeom>
          <a:noFill/>
          <a:ln/>
        </p:spPr>
        <p:txBody>
          <a:bodyPr wrap="square" lIns="0" tIns="0" rIns="0" bIns="0" rtlCol="0" anchor="t"/>
          <a:lstStyle/>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Navigates the B-tree</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Finds exactly where customer_id = 42 should be</a:t>
            </a:r>
            <a:endParaRPr lang="en-US" sz="1000" dirty="0"/>
          </a:p>
          <a:p>
            <a:pPr marL="342900" indent="-342900" algn="l">
              <a:lnSpc>
                <a:spcPts val="1250"/>
              </a:lnSpc>
              <a:buSzPct val="100000"/>
              <a:buChar char="•"/>
            </a:pPr>
            <a:r>
              <a:rPr lang="en-US" sz="1000" dirty="0">
                <a:solidFill>
                  <a:srgbClr val="E0D6DE"/>
                </a:solidFill>
                <a:latin typeface="Fira Sans" pitchFamily="34" charset="0"/>
                <a:ea typeface="Fira Sans" pitchFamily="34" charset="-122"/>
                <a:cs typeface="Fira Sans" pitchFamily="34" charset="-120"/>
              </a:rPr>
              <a:t>Jumps directly to those rows</a:t>
            </a:r>
            <a:endParaRPr lang="en-US" sz="1000" dirty="0"/>
          </a:p>
        </p:txBody>
      </p:sp>
      <p:sp>
        <p:nvSpPr>
          <p:cNvPr id="13" name="Text 11"/>
          <p:cNvSpPr/>
          <p:nvPr/>
        </p:nvSpPr>
        <p:spPr>
          <a:xfrm>
            <a:off x="2897267" y="6268536"/>
            <a:ext cx="8835866" cy="320516"/>
          </a:xfrm>
          <a:prstGeom prst="rect">
            <a:avLst/>
          </a:prstGeom>
          <a:noFill/>
          <a:ln/>
        </p:spPr>
        <p:txBody>
          <a:bodyPr wrap="square" lIns="0" tIns="0" rIns="0" bIns="0" rtlCol="0" anchor="t"/>
          <a:lstStyle/>
          <a:p>
            <a:pPr marL="0" indent="0" algn="l">
              <a:lnSpc>
                <a:spcPts val="1250"/>
              </a:lnSpc>
              <a:buNone/>
            </a:pPr>
            <a:r>
              <a:rPr lang="en-US" sz="1000" dirty="0">
                <a:solidFill>
                  <a:srgbClr val="E0D6DE"/>
                </a:solidFill>
                <a:latin typeface="Fira Sans" pitchFamily="34" charset="0"/>
                <a:ea typeface="Fira Sans" pitchFamily="34" charset="-122"/>
                <a:cs typeface="Fira Sans" pitchFamily="34" charset="-120"/>
              </a:rPr>
              <a:t>This is why indexes turn an operation that grows linearly with table size into one that grows logarithmically. That difference is the gap between a system that works at 10k rows and one that works at 100 million.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9249" y="1508046"/>
            <a:ext cx="4420672"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Index Trade-offs and Costs</a:t>
            </a:r>
            <a:endParaRPr lang="en-US" sz="2200" dirty="0"/>
          </a:p>
        </p:txBody>
      </p:sp>
      <p:sp>
        <p:nvSpPr>
          <p:cNvPr id="4" name="Text 1"/>
          <p:cNvSpPr/>
          <p:nvPr/>
        </p:nvSpPr>
        <p:spPr>
          <a:xfrm>
            <a:off x="659249" y="1947386"/>
            <a:ext cx="7825502" cy="272177"/>
          </a:xfrm>
          <a:prstGeom prst="rect">
            <a:avLst/>
          </a:prstGeom>
          <a:noFill/>
          <a:ln/>
        </p:spPr>
        <p:txBody>
          <a:bodyPr wrap="squar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Indexing is one of those topics where people memorize rules like "indexes make queries faster" and then accidentally destroy performance in production. The truth is more subtle and more interesting.</a:t>
            </a:r>
            <a:endParaRPr lang="en-US" sz="850" dirty="0"/>
          </a:p>
        </p:txBody>
      </p:sp>
      <p:sp>
        <p:nvSpPr>
          <p:cNvPr id="5" name="Text 2"/>
          <p:cNvSpPr/>
          <p:nvPr/>
        </p:nvSpPr>
        <p:spPr>
          <a:xfrm>
            <a:off x="659249" y="2283262"/>
            <a:ext cx="7825502" cy="272177"/>
          </a:xfrm>
          <a:prstGeom prst="rect">
            <a:avLst/>
          </a:prstGeom>
          <a:noFill/>
          <a:ln/>
        </p:spPr>
        <p:txBody>
          <a:bodyPr wrap="squar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At a high level, an index is a separate data structure that allows the database to avoid scanning the entire table. Instead of checking rows one by one, the database can jump directly to the rows it needs. But that power always comes with a cost.</a:t>
            </a:r>
            <a:endParaRPr lang="en-US" sz="850" dirty="0"/>
          </a:p>
        </p:txBody>
      </p:sp>
      <p:sp>
        <p:nvSpPr>
          <p:cNvPr id="6" name="Text 3"/>
          <p:cNvSpPr/>
          <p:nvPr/>
        </p:nvSpPr>
        <p:spPr>
          <a:xfrm>
            <a:off x="659249" y="2640449"/>
            <a:ext cx="2040255" cy="212646"/>
          </a:xfrm>
          <a:prstGeom prst="rect">
            <a:avLst/>
          </a:prstGeom>
          <a:noFill/>
          <a:ln/>
        </p:spPr>
        <p:txBody>
          <a:bodyPr wrap="none" lIns="0" tIns="0" rIns="0" bIns="0" rtlCol="0" anchor="t"/>
          <a:lstStyle/>
          <a:p>
            <a:pPr marL="0" indent="0" algn="l">
              <a:lnSpc>
                <a:spcPts val="1650"/>
              </a:lnSpc>
              <a:buNone/>
            </a:pPr>
            <a:r>
              <a:rPr lang="en-US" sz="1300" dirty="0">
                <a:solidFill>
                  <a:srgbClr val="FBF3FA"/>
                </a:solidFill>
                <a:latin typeface="Fira Mono Medium" pitchFamily="34" charset="0"/>
                <a:ea typeface="Fira Mono Medium" pitchFamily="34" charset="-122"/>
                <a:cs typeface="Fira Mono Medium" pitchFamily="34" charset="-120"/>
              </a:rPr>
              <a:t>The Cost of Indexes:</a:t>
            </a:r>
            <a:endParaRPr lang="en-US" sz="1300" dirty="0"/>
          </a:p>
        </p:txBody>
      </p:sp>
      <p:sp>
        <p:nvSpPr>
          <p:cNvPr id="7" name="Shape 4"/>
          <p:cNvSpPr/>
          <p:nvPr/>
        </p:nvSpPr>
        <p:spPr>
          <a:xfrm>
            <a:off x="659249" y="2938105"/>
            <a:ext cx="7825502" cy="573881"/>
          </a:xfrm>
          <a:prstGeom prst="roundRect">
            <a:avLst>
              <a:gd name="adj" fmla="val 2964"/>
            </a:avLst>
          </a:prstGeom>
          <a:solidFill>
            <a:srgbClr val="2E2E2F"/>
          </a:solidFill>
          <a:ln/>
        </p:spPr>
        <p:txBody>
          <a:bodyPr/>
          <a:lstStyle/>
          <a:p>
            <a:endParaRPr lang="en-US"/>
          </a:p>
        </p:txBody>
      </p:sp>
      <p:sp>
        <p:nvSpPr>
          <p:cNvPr id="8" name="Text 5"/>
          <p:cNvSpPr/>
          <p:nvPr/>
        </p:nvSpPr>
        <p:spPr>
          <a:xfrm>
            <a:off x="772597" y="3051453"/>
            <a:ext cx="1700332" cy="177165"/>
          </a:xfrm>
          <a:prstGeom prst="rect">
            <a:avLst/>
          </a:prstGeom>
          <a:noFill/>
          <a:ln/>
        </p:spPr>
        <p:txBody>
          <a:bodyPr wrap="none" lIns="0" tIns="0" rIns="0" bIns="0" rtlCol="0" anchor="t"/>
          <a:lstStyle/>
          <a:p>
            <a:pPr marL="0" indent="0" algn="l">
              <a:lnSpc>
                <a:spcPts val="1350"/>
              </a:lnSpc>
              <a:buNone/>
            </a:pPr>
            <a:r>
              <a:rPr lang="en-US" sz="1100" dirty="0">
                <a:solidFill>
                  <a:srgbClr val="E0D6DE"/>
                </a:solidFill>
                <a:latin typeface="Fira Mono Medium" pitchFamily="34" charset="0"/>
                <a:ea typeface="Fira Mono Medium" pitchFamily="34" charset="-122"/>
                <a:cs typeface="Fira Mono Medium" pitchFamily="34" charset="-120"/>
              </a:rPr>
              <a:t>Maintenance Overhead</a:t>
            </a:r>
            <a:endParaRPr lang="en-US" sz="1100" dirty="0"/>
          </a:p>
        </p:txBody>
      </p:sp>
      <p:sp>
        <p:nvSpPr>
          <p:cNvPr id="9" name="Text 6"/>
          <p:cNvSpPr/>
          <p:nvPr/>
        </p:nvSpPr>
        <p:spPr>
          <a:xfrm>
            <a:off x="772597" y="3262551"/>
            <a:ext cx="7598807"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Every index must be maintained.</a:t>
            </a:r>
            <a:endParaRPr lang="en-US" sz="850" dirty="0"/>
          </a:p>
        </p:txBody>
      </p:sp>
      <p:sp>
        <p:nvSpPr>
          <p:cNvPr id="10" name="Shape 7"/>
          <p:cNvSpPr/>
          <p:nvPr/>
        </p:nvSpPr>
        <p:spPr>
          <a:xfrm>
            <a:off x="659249" y="3568660"/>
            <a:ext cx="7825502" cy="573881"/>
          </a:xfrm>
          <a:prstGeom prst="roundRect">
            <a:avLst>
              <a:gd name="adj" fmla="val 2964"/>
            </a:avLst>
          </a:prstGeom>
          <a:solidFill>
            <a:srgbClr val="2E2E2F"/>
          </a:solidFill>
          <a:ln/>
        </p:spPr>
        <p:txBody>
          <a:bodyPr/>
          <a:lstStyle/>
          <a:p>
            <a:endParaRPr lang="en-US"/>
          </a:p>
        </p:txBody>
      </p:sp>
      <p:sp>
        <p:nvSpPr>
          <p:cNvPr id="11" name="Text 8"/>
          <p:cNvSpPr/>
          <p:nvPr/>
        </p:nvSpPr>
        <p:spPr>
          <a:xfrm>
            <a:off x="772597" y="3682008"/>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E0D6DE"/>
                </a:solidFill>
                <a:latin typeface="Fira Mono Medium" pitchFamily="34" charset="0"/>
                <a:ea typeface="Fira Mono Medium" pitchFamily="34" charset="-122"/>
                <a:cs typeface="Fira Mono Medium" pitchFamily="34" charset="-120"/>
              </a:rPr>
              <a:t>Write Operations</a:t>
            </a:r>
            <a:endParaRPr lang="en-US" sz="1100" dirty="0"/>
          </a:p>
        </p:txBody>
      </p:sp>
      <p:sp>
        <p:nvSpPr>
          <p:cNvPr id="12" name="Text 9"/>
          <p:cNvSpPr/>
          <p:nvPr/>
        </p:nvSpPr>
        <p:spPr>
          <a:xfrm>
            <a:off x="772597" y="3893106"/>
            <a:ext cx="7598807"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On every INSERT, UPDATE, or DELETE, MySQL must update both the table and every index.</a:t>
            </a:r>
            <a:endParaRPr lang="en-US" sz="850" dirty="0"/>
          </a:p>
        </p:txBody>
      </p:sp>
      <p:sp>
        <p:nvSpPr>
          <p:cNvPr id="13" name="Shape 10"/>
          <p:cNvSpPr/>
          <p:nvPr/>
        </p:nvSpPr>
        <p:spPr>
          <a:xfrm>
            <a:off x="659249" y="4199215"/>
            <a:ext cx="7825502" cy="573881"/>
          </a:xfrm>
          <a:prstGeom prst="roundRect">
            <a:avLst>
              <a:gd name="adj" fmla="val 2964"/>
            </a:avLst>
          </a:prstGeom>
          <a:solidFill>
            <a:srgbClr val="2E2E2F"/>
          </a:solidFill>
          <a:ln/>
        </p:spPr>
        <p:txBody>
          <a:bodyPr/>
          <a:lstStyle/>
          <a:p>
            <a:endParaRPr lang="en-US"/>
          </a:p>
        </p:txBody>
      </p:sp>
      <p:sp>
        <p:nvSpPr>
          <p:cNvPr id="14" name="Text 11"/>
          <p:cNvSpPr/>
          <p:nvPr/>
        </p:nvSpPr>
        <p:spPr>
          <a:xfrm>
            <a:off x="772597" y="4312563"/>
            <a:ext cx="2040374" cy="177165"/>
          </a:xfrm>
          <a:prstGeom prst="rect">
            <a:avLst/>
          </a:prstGeom>
          <a:noFill/>
          <a:ln/>
        </p:spPr>
        <p:txBody>
          <a:bodyPr wrap="none" lIns="0" tIns="0" rIns="0" bIns="0" rtlCol="0" anchor="t"/>
          <a:lstStyle/>
          <a:p>
            <a:pPr marL="0" indent="0" algn="l">
              <a:lnSpc>
                <a:spcPts val="1350"/>
              </a:lnSpc>
              <a:buNone/>
            </a:pPr>
            <a:r>
              <a:rPr lang="en-US" sz="1100" dirty="0">
                <a:solidFill>
                  <a:srgbClr val="E0D6DE"/>
                </a:solidFill>
                <a:latin typeface="Fira Mono Medium" pitchFamily="34" charset="0"/>
                <a:ea typeface="Fira Mono Medium" pitchFamily="34" charset="-122"/>
                <a:cs typeface="Fira Mono Medium" pitchFamily="34" charset="-120"/>
              </a:rPr>
              <a:t>Increased Resource Usage</a:t>
            </a:r>
            <a:endParaRPr lang="en-US" sz="1100" dirty="0"/>
          </a:p>
        </p:txBody>
      </p:sp>
      <p:sp>
        <p:nvSpPr>
          <p:cNvPr id="15" name="Text 12"/>
          <p:cNvSpPr/>
          <p:nvPr/>
        </p:nvSpPr>
        <p:spPr>
          <a:xfrm>
            <a:off x="772597" y="4523661"/>
            <a:ext cx="7598807"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More indexes = more write overhead. Disk I/O increases.</a:t>
            </a:r>
            <a:endParaRPr lang="en-US" sz="850" dirty="0"/>
          </a:p>
        </p:txBody>
      </p:sp>
      <p:sp>
        <p:nvSpPr>
          <p:cNvPr id="16" name="Shape 13"/>
          <p:cNvSpPr/>
          <p:nvPr/>
        </p:nvSpPr>
        <p:spPr>
          <a:xfrm>
            <a:off x="659249" y="4829770"/>
            <a:ext cx="7825502" cy="573881"/>
          </a:xfrm>
          <a:prstGeom prst="roundRect">
            <a:avLst>
              <a:gd name="adj" fmla="val 2964"/>
            </a:avLst>
          </a:prstGeom>
          <a:solidFill>
            <a:srgbClr val="2E2E2F"/>
          </a:solidFill>
          <a:ln/>
        </p:spPr>
        <p:txBody>
          <a:bodyPr/>
          <a:lstStyle/>
          <a:p>
            <a:endParaRPr lang="en-US"/>
          </a:p>
        </p:txBody>
      </p:sp>
      <p:sp>
        <p:nvSpPr>
          <p:cNvPr id="17" name="Text 14"/>
          <p:cNvSpPr/>
          <p:nvPr/>
        </p:nvSpPr>
        <p:spPr>
          <a:xfrm>
            <a:off x="772597" y="4943118"/>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E0D6DE"/>
                </a:solidFill>
                <a:latin typeface="Fira Mono Medium" pitchFamily="34" charset="0"/>
                <a:ea typeface="Fira Mono Medium" pitchFamily="34" charset="-122"/>
                <a:cs typeface="Fira Mono Medium" pitchFamily="34" charset="-120"/>
              </a:rPr>
              <a:t>Lock Contention</a:t>
            </a:r>
            <a:endParaRPr lang="en-US" sz="1100" dirty="0"/>
          </a:p>
        </p:txBody>
      </p:sp>
      <p:sp>
        <p:nvSpPr>
          <p:cNvPr id="18" name="Text 15"/>
          <p:cNvSpPr/>
          <p:nvPr/>
        </p:nvSpPr>
        <p:spPr>
          <a:xfrm>
            <a:off x="772597" y="5154216"/>
            <a:ext cx="7598807"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Increased indexes can lead to higher lock contention.</a:t>
            </a:r>
            <a:endParaRPr lang="en-US" sz="850" dirty="0"/>
          </a:p>
        </p:txBody>
      </p:sp>
      <p:sp>
        <p:nvSpPr>
          <p:cNvPr id="19" name="Text 16"/>
          <p:cNvSpPr/>
          <p:nvPr/>
        </p:nvSpPr>
        <p:spPr>
          <a:xfrm>
            <a:off x="659249" y="5488662"/>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FBF3FA"/>
                </a:solidFill>
                <a:latin typeface="Fira Mono Medium" pitchFamily="34" charset="0"/>
                <a:ea typeface="Fira Mono Medium" pitchFamily="34" charset="-122"/>
                <a:cs typeface="Fira Mono Medium" pitchFamily="34" charset="-120"/>
              </a:rPr>
              <a:t>The Balance:</a:t>
            </a:r>
            <a:endParaRPr lang="en-US" sz="1300" dirty="0"/>
          </a:p>
        </p:txBody>
      </p:sp>
      <p:sp>
        <p:nvSpPr>
          <p:cNvPr id="20" name="Text 17"/>
          <p:cNvSpPr/>
          <p:nvPr/>
        </p:nvSpPr>
        <p:spPr>
          <a:xfrm>
            <a:off x="659249" y="5786318"/>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Indexes are not free. They trade write performance for read performance. The key question is: does the read benefit justify the write cost?</a:t>
            </a:r>
            <a:endParaRPr lang="en-US" sz="850" dirty="0"/>
          </a:p>
        </p:txBody>
      </p:sp>
      <p:sp>
        <p:nvSpPr>
          <p:cNvPr id="21" name="Text 18"/>
          <p:cNvSpPr/>
          <p:nvPr/>
        </p:nvSpPr>
        <p:spPr>
          <a:xfrm>
            <a:off x="659249" y="5986105"/>
            <a:ext cx="7825502" cy="272177"/>
          </a:xfrm>
          <a:prstGeom prst="rect">
            <a:avLst/>
          </a:prstGeom>
          <a:noFill/>
          <a:ln/>
        </p:spPr>
        <p:txBody>
          <a:bodyPr wrap="squar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This is why indexing decisions depend on access patterns, not just table structure. A read-heavy analytics system can afford many indexes. A write-heavy logging system needs minimal indexes.</a:t>
            </a:r>
            <a:endParaRPr lang="en-US" sz="850" dirty="0"/>
          </a:p>
        </p:txBody>
      </p:sp>
      <p:sp>
        <p:nvSpPr>
          <p:cNvPr id="22" name="Text 19"/>
          <p:cNvSpPr/>
          <p:nvPr/>
        </p:nvSpPr>
        <p:spPr>
          <a:xfrm>
            <a:off x="829270" y="6385679"/>
            <a:ext cx="7655481" cy="272177"/>
          </a:xfrm>
          <a:prstGeom prst="rect">
            <a:avLst/>
          </a:prstGeom>
          <a:noFill/>
          <a:ln/>
        </p:spPr>
        <p:txBody>
          <a:bodyPr wrap="squar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Remember: Indexes are engineering decisions, not decorations. Every index should answer one question: Which query does this index exist to make fast?</a:t>
            </a:r>
            <a:endParaRPr lang="en-US" sz="850" dirty="0"/>
          </a:p>
        </p:txBody>
      </p:sp>
      <p:sp>
        <p:nvSpPr>
          <p:cNvPr id="23" name="Shape 20"/>
          <p:cNvSpPr/>
          <p:nvPr/>
        </p:nvSpPr>
        <p:spPr>
          <a:xfrm>
            <a:off x="659249" y="6321981"/>
            <a:ext cx="15240" cy="399574"/>
          </a:xfrm>
          <a:prstGeom prst="rect">
            <a:avLst/>
          </a:prstGeom>
          <a:solidFill>
            <a:srgbClr val="FF6BD8"/>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28864" y="113690"/>
            <a:ext cx="6488430" cy="386120"/>
          </a:xfrm>
          <a:prstGeom prst="rect">
            <a:avLst/>
          </a:prstGeom>
          <a:noFill/>
          <a:ln/>
        </p:spPr>
        <p:txBody>
          <a:bodyPr wrap="none" lIns="0" tIns="0" rIns="0" bIns="0" rtlCol="0" anchor="t"/>
          <a:lstStyle/>
          <a:p>
            <a:pPr marL="0" indent="0" algn="l">
              <a:buNone/>
            </a:pPr>
            <a:r>
              <a:rPr lang="en-US" sz="4400" dirty="0">
                <a:solidFill>
                  <a:srgbClr val="FBF3FA"/>
                </a:solidFill>
                <a:latin typeface="Fira Mono Medium" pitchFamily="34" charset="0"/>
                <a:ea typeface="Fira Mono Medium" pitchFamily="34" charset="-122"/>
                <a:cs typeface="Fira Mono Medium" pitchFamily="34" charset="-120"/>
              </a:rPr>
              <a:t>Indexing </a:t>
            </a:r>
            <a:r>
              <a:rPr lang="en-US" sz="3200" dirty="0">
                <a:solidFill>
                  <a:srgbClr val="FBF3FA"/>
                </a:solidFill>
                <a:latin typeface="Fira Mono Medium" pitchFamily="34" charset="0"/>
                <a:ea typeface="Fira Mono Medium" pitchFamily="34" charset="-122"/>
                <a:cs typeface="Fira Mono Medium" pitchFamily="34" charset="-120"/>
              </a:rPr>
              <a:t>Depends</a:t>
            </a:r>
            <a:r>
              <a:rPr lang="en-US" sz="4400" dirty="0">
                <a:solidFill>
                  <a:srgbClr val="FBF3FA"/>
                </a:solidFill>
                <a:latin typeface="Fira Mono Medium" pitchFamily="34" charset="0"/>
                <a:ea typeface="Fira Mono Medium" pitchFamily="34" charset="-122"/>
                <a:cs typeface="Fira Mono Medium" pitchFamily="34" charset="-120"/>
              </a:rPr>
              <a:t> on Access Patterns</a:t>
            </a:r>
            <a:endParaRPr lang="en-US" sz="4400" dirty="0"/>
          </a:p>
        </p:txBody>
      </p:sp>
      <p:sp>
        <p:nvSpPr>
          <p:cNvPr id="3" name="Text 1"/>
          <p:cNvSpPr/>
          <p:nvPr/>
        </p:nvSpPr>
        <p:spPr>
          <a:xfrm>
            <a:off x="433706" y="846583"/>
            <a:ext cx="8528328" cy="152638"/>
          </a:xfrm>
          <a:prstGeom prst="rect">
            <a:avLst/>
          </a:prstGeom>
          <a:noFill/>
          <a:ln/>
        </p:spPr>
        <p:txBody>
          <a:bodyPr wrap="none" lIns="0" tIns="0" rIns="0" bIns="0" rtlCol="0" anchor="t"/>
          <a:lstStyle/>
          <a:p>
            <a:pPr marL="0" indent="0" algn="l">
              <a:buNone/>
            </a:pPr>
            <a:r>
              <a:rPr lang="en-US" sz="1400" dirty="0">
                <a:solidFill>
                  <a:srgbClr val="E0D6DE"/>
                </a:solidFill>
                <a:latin typeface="Fira Sans" pitchFamily="34" charset="0"/>
                <a:ea typeface="Fira Sans" pitchFamily="34" charset="-122"/>
                <a:cs typeface="Fira Sans" pitchFamily="34" charset="-120"/>
              </a:rPr>
              <a:t>Two systems with the same tables can need completely different indexes.</a:t>
            </a:r>
            <a:endParaRPr lang="en-US" sz="1400" dirty="0"/>
          </a:p>
        </p:txBody>
      </p:sp>
      <p:sp>
        <p:nvSpPr>
          <p:cNvPr id="4" name="Text 2"/>
          <p:cNvSpPr/>
          <p:nvPr/>
        </p:nvSpPr>
        <p:spPr>
          <a:xfrm>
            <a:off x="814427" y="1423407"/>
            <a:ext cx="2131100" cy="193119"/>
          </a:xfrm>
          <a:prstGeom prst="rect">
            <a:avLst/>
          </a:prstGeom>
          <a:noFill/>
          <a:ln/>
        </p:spPr>
        <p:txBody>
          <a:bodyPr wrap="none" lIns="0" tIns="0" rIns="0" bIns="0" rtlCol="0" anchor="t"/>
          <a:lstStyle/>
          <a:p>
            <a:pPr marL="0" indent="0" algn="l">
              <a:buNone/>
            </a:pPr>
            <a:r>
              <a:rPr lang="en-US" sz="2400" dirty="0">
                <a:solidFill>
                  <a:srgbClr val="FBF3FA"/>
                </a:solidFill>
                <a:latin typeface="Fira Mono Medium" pitchFamily="34" charset="0"/>
                <a:ea typeface="Fira Mono Medium" pitchFamily="34" charset="-122"/>
                <a:cs typeface="Fira Mono Medium" pitchFamily="34" charset="-120"/>
              </a:rPr>
              <a:t>An analytics dashboard:</a:t>
            </a:r>
            <a:endParaRPr lang="en-US" sz="2400" dirty="0"/>
          </a:p>
        </p:txBody>
      </p:sp>
      <p:sp>
        <p:nvSpPr>
          <p:cNvPr id="5" name="Text 3"/>
          <p:cNvSpPr/>
          <p:nvPr/>
        </p:nvSpPr>
        <p:spPr>
          <a:xfrm>
            <a:off x="791476" y="1878526"/>
            <a:ext cx="4113371" cy="458279"/>
          </a:xfrm>
          <a:prstGeom prst="rect">
            <a:avLst/>
          </a:prstGeom>
          <a:noFill/>
          <a:ln/>
        </p:spPr>
        <p:txBody>
          <a:bodyPr wrap="square" lIns="0" tIns="0" rIns="0" bIns="0" rtlCol="0" anchor="t"/>
          <a:lstStyle/>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Optimized for reads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Many composite indexes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Slow writes are acceptable</a:t>
            </a:r>
            <a:endParaRPr lang="en-US" sz="1400" dirty="0"/>
          </a:p>
        </p:txBody>
      </p:sp>
      <p:sp>
        <p:nvSpPr>
          <p:cNvPr id="6" name="Text 4"/>
          <p:cNvSpPr/>
          <p:nvPr/>
        </p:nvSpPr>
        <p:spPr>
          <a:xfrm>
            <a:off x="6470372" y="1441797"/>
            <a:ext cx="2687003" cy="193119"/>
          </a:xfrm>
          <a:prstGeom prst="rect">
            <a:avLst/>
          </a:prstGeom>
          <a:noFill/>
          <a:ln/>
        </p:spPr>
        <p:txBody>
          <a:bodyPr wrap="none" lIns="0" tIns="0" rIns="0" bIns="0" rtlCol="0" anchor="t"/>
          <a:lstStyle/>
          <a:p>
            <a:pPr marL="0" indent="0" algn="l">
              <a:buNone/>
            </a:pPr>
            <a:r>
              <a:rPr lang="en-US" sz="2400" dirty="0">
                <a:solidFill>
                  <a:srgbClr val="FBF3FA"/>
                </a:solidFill>
                <a:latin typeface="Fira Mono Medium" pitchFamily="34" charset="0"/>
                <a:ea typeface="Fira Mono Medium" pitchFamily="34" charset="-122"/>
                <a:cs typeface="Fira Mono Medium" pitchFamily="34" charset="-120"/>
              </a:rPr>
              <a:t>A logging or tracking system:</a:t>
            </a:r>
            <a:endParaRPr lang="en-US" sz="2400" dirty="0"/>
          </a:p>
        </p:txBody>
      </p:sp>
      <p:sp>
        <p:nvSpPr>
          <p:cNvPr id="7" name="Text 5"/>
          <p:cNvSpPr/>
          <p:nvPr/>
        </p:nvSpPr>
        <p:spPr>
          <a:xfrm>
            <a:off x="6470372" y="1780438"/>
            <a:ext cx="4113371" cy="458279"/>
          </a:xfrm>
          <a:prstGeom prst="rect">
            <a:avLst/>
          </a:prstGeom>
          <a:noFill/>
          <a:ln/>
        </p:spPr>
        <p:txBody>
          <a:bodyPr wrap="square" lIns="0" tIns="0" rIns="0" bIns="0" rtlCol="0" anchor="t"/>
          <a:lstStyle/>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Optimized for writes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Minimal indexes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Queries are usually time-based</a:t>
            </a:r>
            <a:endParaRPr lang="en-US" sz="1400" dirty="0"/>
          </a:p>
        </p:txBody>
      </p:sp>
      <p:sp>
        <p:nvSpPr>
          <p:cNvPr id="8" name="Text 6"/>
          <p:cNvSpPr/>
          <p:nvPr/>
        </p:nvSpPr>
        <p:spPr>
          <a:xfrm>
            <a:off x="791476" y="2653995"/>
            <a:ext cx="8528328" cy="152638"/>
          </a:xfrm>
          <a:prstGeom prst="rect">
            <a:avLst/>
          </a:prstGeom>
          <a:noFill/>
          <a:ln/>
        </p:spPr>
        <p:txBody>
          <a:bodyPr wrap="none" lIns="0" tIns="0" rIns="0" bIns="0" rtlCol="0" anchor="t"/>
          <a:lstStyle/>
          <a:p>
            <a:pPr marL="0" indent="0" algn="l">
              <a:buNone/>
            </a:pPr>
            <a:r>
              <a:rPr lang="en-US" sz="1400" dirty="0">
                <a:solidFill>
                  <a:srgbClr val="E0D6DE"/>
                </a:solidFill>
                <a:latin typeface="Fira Sans" pitchFamily="34" charset="0"/>
                <a:ea typeface="Fira Sans" pitchFamily="34" charset="-122"/>
                <a:cs typeface="Fira Sans" pitchFamily="34" charset="-120"/>
              </a:rPr>
              <a:t>Indexing decisions must be driven by:</a:t>
            </a:r>
            <a:endParaRPr lang="en-US" sz="1400" dirty="0"/>
          </a:p>
        </p:txBody>
      </p:sp>
      <p:sp>
        <p:nvSpPr>
          <p:cNvPr id="9" name="Text 7"/>
          <p:cNvSpPr/>
          <p:nvPr/>
        </p:nvSpPr>
        <p:spPr>
          <a:xfrm>
            <a:off x="791476" y="2897217"/>
            <a:ext cx="8528328" cy="458279"/>
          </a:xfrm>
          <a:prstGeom prst="rect">
            <a:avLst/>
          </a:prstGeom>
          <a:noFill/>
          <a:ln/>
        </p:spPr>
        <p:txBody>
          <a:bodyPr wrap="square" lIns="0" tIns="0" rIns="0" bIns="0" rtlCol="0" anchor="t"/>
          <a:lstStyle/>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Real queries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Real workloads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Real usage frequency</a:t>
            </a:r>
            <a:endParaRPr lang="en-US" sz="1400" dirty="0"/>
          </a:p>
        </p:txBody>
      </p:sp>
      <p:sp>
        <p:nvSpPr>
          <p:cNvPr id="10" name="Text 8"/>
          <p:cNvSpPr/>
          <p:nvPr/>
        </p:nvSpPr>
        <p:spPr>
          <a:xfrm>
            <a:off x="791476" y="3635585"/>
            <a:ext cx="8528328" cy="152638"/>
          </a:xfrm>
          <a:prstGeom prst="rect">
            <a:avLst/>
          </a:prstGeom>
          <a:noFill/>
          <a:ln/>
        </p:spPr>
        <p:txBody>
          <a:bodyPr wrap="none" lIns="0" tIns="0" rIns="0" bIns="0" rtlCol="0" anchor="t"/>
          <a:lstStyle/>
          <a:p>
            <a:pPr marL="0" indent="0" algn="l">
              <a:buNone/>
            </a:pPr>
            <a:r>
              <a:rPr lang="en-US" sz="1400" dirty="0">
                <a:solidFill>
                  <a:srgbClr val="E0D6DE"/>
                </a:solidFill>
                <a:latin typeface="Fira Sans" pitchFamily="34" charset="0"/>
                <a:ea typeface="Fira Sans" pitchFamily="34" charset="-122"/>
                <a:cs typeface="Fira Sans" pitchFamily="34" charset="-120"/>
              </a:rPr>
              <a:t>Not by theory alone.</a:t>
            </a:r>
            <a:endParaRPr lang="en-US" sz="1400" dirty="0"/>
          </a:p>
        </p:txBody>
      </p:sp>
      <p:sp>
        <p:nvSpPr>
          <p:cNvPr id="11" name="Text 9"/>
          <p:cNvSpPr/>
          <p:nvPr/>
        </p:nvSpPr>
        <p:spPr>
          <a:xfrm>
            <a:off x="814426" y="4136101"/>
            <a:ext cx="12696621" cy="887383"/>
          </a:xfrm>
          <a:prstGeom prst="rect">
            <a:avLst/>
          </a:prstGeom>
          <a:noFill/>
          <a:ln/>
        </p:spPr>
        <p:txBody>
          <a:bodyPr wrap="square" lIns="0" tIns="0" rIns="0" bIns="0" rtlCol="0" anchor="t"/>
          <a:lstStyle/>
          <a:p>
            <a:pPr marL="0" indent="0" algn="l">
              <a:buNone/>
            </a:pPr>
            <a:r>
              <a:rPr lang="en-US" sz="1400" dirty="0">
                <a:solidFill>
                  <a:srgbClr val="E0D6DE"/>
                </a:solidFill>
                <a:latin typeface="Fira Sans" pitchFamily="34" charset="0"/>
                <a:ea typeface="Fira Sans" pitchFamily="34" charset="-122"/>
                <a:cs typeface="Fira Sans" pitchFamily="34" charset="-120"/>
              </a:rPr>
              <a:t>Indexes are not decorations you sprinkle on tables. They are engineering decisions. Every index should answer one question: Which query does this index exist to make fast? If that question has no clear answer, the index probably should not exist.</a:t>
            </a:r>
            <a:endParaRPr lang="en-US" sz="1400" dirty="0"/>
          </a:p>
        </p:txBody>
      </p:sp>
      <p:sp>
        <p:nvSpPr>
          <p:cNvPr id="12" name="Shape 10"/>
          <p:cNvSpPr/>
          <p:nvPr/>
        </p:nvSpPr>
        <p:spPr>
          <a:xfrm>
            <a:off x="666403" y="4196521"/>
            <a:ext cx="45719" cy="456724"/>
          </a:xfrm>
          <a:prstGeom prst="rect">
            <a:avLst/>
          </a:prstGeom>
          <a:solidFill>
            <a:srgbClr val="FF6BD8"/>
          </a:solidFill>
          <a:ln/>
        </p:spPr>
        <p:txBody>
          <a:bodyPr/>
          <a:lstStyle/>
          <a:p>
            <a:endParaRPr lang="en-US" sz="3600"/>
          </a:p>
        </p:txBody>
      </p:sp>
      <p:sp>
        <p:nvSpPr>
          <p:cNvPr id="13" name="Text 11"/>
          <p:cNvSpPr/>
          <p:nvPr/>
        </p:nvSpPr>
        <p:spPr>
          <a:xfrm>
            <a:off x="428864" y="4939603"/>
            <a:ext cx="5339001" cy="308967"/>
          </a:xfrm>
          <a:prstGeom prst="rect">
            <a:avLst/>
          </a:prstGeom>
          <a:noFill/>
          <a:ln/>
        </p:spPr>
        <p:txBody>
          <a:bodyPr wrap="none" lIns="0" tIns="0" rIns="0" bIns="0" rtlCol="0" anchor="t"/>
          <a:lstStyle/>
          <a:p>
            <a:pPr marL="0" indent="0" algn="l">
              <a:buNone/>
            </a:pPr>
            <a:r>
              <a:rPr lang="en-US" sz="3600" dirty="0">
                <a:solidFill>
                  <a:srgbClr val="FBF3FA"/>
                </a:solidFill>
                <a:latin typeface="Fira Mono Medium" pitchFamily="34" charset="0"/>
                <a:ea typeface="Fira Mono Medium" pitchFamily="34" charset="-122"/>
                <a:cs typeface="Fira Mono Medium" pitchFamily="34" charset="-120"/>
              </a:rPr>
              <a:t>Read-Heavy vs Write-Heavy Workloads:</a:t>
            </a:r>
            <a:endParaRPr lang="en-US" sz="3600" dirty="0"/>
          </a:p>
        </p:txBody>
      </p:sp>
      <p:sp>
        <p:nvSpPr>
          <p:cNvPr id="14" name="Text 12"/>
          <p:cNvSpPr/>
          <p:nvPr/>
        </p:nvSpPr>
        <p:spPr>
          <a:xfrm>
            <a:off x="433706" y="5551045"/>
            <a:ext cx="8528328" cy="152638"/>
          </a:xfrm>
          <a:prstGeom prst="rect">
            <a:avLst/>
          </a:prstGeom>
          <a:noFill/>
          <a:ln/>
        </p:spPr>
        <p:txBody>
          <a:bodyPr wrap="none" lIns="0" tIns="0" rIns="0" bIns="0" rtlCol="0" anchor="t"/>
          <a:lstStyle/>
          <a:p>
            <a:pPr marL="0" indent="0" algn="l">
              <a:buNone/>
            </a:pPr>
            <a:r>
              <a:rPr lang="en-US" sz="1400" dirty="0">
                <a:solidFill>
                  <a:srgbClr val="E0D6DE"/>
                </a:solidFill>
                <a:latin typeface="Fira Sans" pitchFamily="34" charset="0"/>
                <a:ea typeface="Fira Sans" pitchFamily="34" charset="-122"/>
                <a:cs typeface="Fira Sans" pitchFamily="34" charset="-120"/>
              </a:rPr>
              <a:t>Not all systems behave the same. Some applications are optimized for fast reads, while others prioritize frequent writes.</a:t>
            </a:r>
            <a:endParaRPr lang="en-US" sz="1400" dirty="0"/>
          </a:p>
        </p:txBody>
      </p:sp>
      <p:sp>
        <p:nvSpPr>
          <p:cNvPr id="15" name="Text 13"/>
          <p:cNvSpPr/>
          <p:nvPr/>
        </p:nvSpPr>
        <p:spPr>
          <a:xfrm>
            <a:off x="814427" y="6060879"/>
            <a:ext cx="1760458" cy="193119"/>
          </a:xfrm>
          <a:prstGeom prst="rect">
            <a:avLst/>
          </a:prstGeom>
          <a:noFill/>
          <a:ln/>
        </p:spPr>
        <p:txBody>
          <a:bodyPr wrap="none" lIns="0" tIns="0" rIns="0" bIns="0" rtlCol="0" anchor="t"/>
          <a:lstStyle/>
          <a:p>
            <a:pPr marL="0" indent="0" algn="l">
              <a:buNone/>
            </a:pPr>
            <a:r>
              <a:rPr lang="en-US" sz="2400" dirty="0">
                <a:solidFill>
                  <a:srgbClr val="FBF3FA"/>
                </a:solidFill>
                <a:latin typeface="Fira Mono Medium" pitchFamily="34" charset="0"/>
                <a:ea typeface="Fira Mono Medium" pitchFamily="34" charset="-122"/>
                <a:cs typeface="Fira Mono Medium" pitchFamily="34" charset="-120"/>
              </a:rPr>
              <a:t>Read-heavy systems:</a:t>
            </a:r>
            <a:endParaRPr lang="en-US" sz="2400" dirty="0"/>
          </a:p>
        </p:txBody>
      </p:sp>
      <p:sp>
        <p:nvSpPr>
          <p:cNvPr id="16" name="Text 14"/>
          <p:cNvSpPr/>
          <p:nvPr/>
        </p:nvSpPr>
        <p:spPr>
          <a:xfrm>
            <a:off x="1003579" y="6587251"/>
            <a:ext cx="4113371" cy="305519"/>
          </a:xfrm>
          <a:prstGeom prst="rect">
            <a:avLst/>
          </a:prstGeom>
          <a:noFill/>
          <a:ln/>
        </p:spPr>
        <p:txBody>
          <a:bodyPr wrap="square" lIns="0" tIns="0" rIns="0" bIns="0" rtlCol="0" anchor="t"/>
          <a:lstStyle/>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analytics dashboards</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reporting tools</a:t>
            </a:r>
            <a:endParaRPr lang="en-US" sz="1400" dirty="0"/>
          </a:p>
        </p:txBody>
      </p:sp>
      <p:sp>
        <p:nvSpPr>
          <p:cNvPr id="17" name="Text 15"/>
          <p:cNvSpPr/>
          <p:nvPr/>
        </p:nvSpPr>
        <p:spPr>
          <a:xfrm>
            <a:off x="5399449" y="6091475"/>
            <a:ext cx="1853089" cy="193119"/>
          </a:xfrm>
          <a:prstGeom prst="rect">
            <a:avLst/>
          </a:prstGeom>
          <a:noFill/>
          <a:ln/>
        </p:spPr>
        <p:txBody>
          <a:bodyPr wrap="none" lIns="0" tIns="0" rIns="0" bIns="0" rtlCol="0" anchor="t"/>
          <a:lstStyle/>
          <a:p>
            <a:pPr marL="0" indent="0" algn="l">
              <a:buNone/>
            </a:pPr>
            <a:r>
              <a:rPr lang="en-US" sz="2400" dirty="0">
                <a:solidFill>
                  <a:srgbClr val="FBF3FA"/>
                </a:solidFill>
                <a:latin typeface="Fira Mono Medium" pitchFamily="34" charset="0"/>
                <a:ea typeface="Fira Mono Medium" pitchFamily="34" charset="-122"/>
                <a:cs typeface="Fira Mono Medium" pitchFamily="34" charset="-120"/>
              </a:rPr>
              <a:t>Write-heavy systems:</a:t>
            </a:r>
            <a:endParaRPr lang="en-US" sz="2400" dirty="0"/>
          </a:p>
        </p:txBody>
      </p:sp>
      <p:sp>
        <p:nvSpPr>
          <p:cNvPr id="18" name="Text 16"/>
          <p:cNvSpPr/>
          <p:nvPr/>
        </p:nvSpPr>
        <p:spPr>
          <a:xfrm>
            <a:off x="5426036" y="6587251"/>
            <a:ext cx="4113371" cy="458279"/>
          </a:xfrm>
          <a:prstGeom prst="rect">
            <a:avLst/>
          </a:prstGeom>
          <a:noFill/>
          <a:ln/>
        </p:spPr>
        <p:txBody>
          <a:bodyPr wrap="square" lIns="0" tIns="0" rIns="0" bIns="0" rtlCol="0" anchor="t"/>
          <a:lstStyle/>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logging</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tracking</a:t>
            </a:r>
            <a:endParaRPr lang="en-US" sz="1400" dirty="0"/>
          </a:p>
          <a:p>
            <a:pPr marL="342900" indent="-342900" algn="l">
              <a:buSzPct val="100000"/>
              <a:buChar char="•"/>
            </a:pPr>
            <a:r>
              <a:rPr lang="en-US" sz="1400" dirty="0">
                <a:solidFill>
                  <a:srgbClr val="E0D6DE"/>
                </a:solidFill>
                <a:latin typeface="Fira Sans" pitchFamily="34" charset="0"/>
                <a:ea typeface="Fira Sans" pitchFamily="34" charset="-122"/>
                <a:cs typeface="Fira Sans" pitchFamily="34" charset="-120"/>
              </a:rPr>
              <a:t>real-time ingestion pipelines</a:t>
            </a:r>
            <a:endParaRPr lang="en-US" sz="1400" dirty="0"/>
          </a:p>
        </p:txBody>
      </p:sp>
      <p:sp>
        <p:nvSpPr>
          <p:cNvPr id="19" name="Text 17"/>
          <p:cNvSpPr/>
          <p:nvPr/>
        </p:nvSpPr>
        <p:spPr>
          <a:xfrm>
            <a:off x="791476" y="7295878"/>
            <a:ext cx="11904382" cy="887384"/>
          </a:xfrm>
          <a:prstGeom prst="rect">
            <a:avLst/>
          </a:prstGeom>
          <a:noFill/>
          <a:ln/>
        </p:spPr>
        <p:txBody>
          <a:bodyPr wrap="square" lIns="0" tIns="0" rIns="0" bIns="0" rtlCol="0" anchor="t"/>
          <a:lstStyle/>
          <a:p>
            <a:pPr marL="0" indent="0" algn="l">
              <a:buNone/>
            </a:pPr>
            <a:r>
              <a:rPr lang="en-US" sz="1400" dirty="0">
                <a:solidFill>
                  <a:srgbClr val="E0D6DE"/>
                </a:solidFill>
                <a:latin typeface="Fira Sans" pitchFamily="34" charset="0"/>
                <a:ea typeface="Fira Sans" pitchFamily="34" charset="-122"/>
                <a:cs typeface="Fira Sans" pitchFamily="34" charset="-120"/>
              </a:rPr>
              <a:t>How indexing choices differ between these workloads, why optimizing for reads can slow down writes, and how to make informed trade-offs based on system requirements helps you think like a backend engineer who designs databases for real usage patterns, not just correctness.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2494002" y="1312426"/>
            <a:ext cx="6368534" cy="34921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Index Order and Performance Trade-offs</a:t>
            </a:r>
            <a:endParaRPr lang="en-US" sz="2200" dirty="0"/>
          </a:p>
        </p:txBody>
      </p:sp>
      <p:sp>
        <p:nvSpPr>
          <p:cNvPr id="3" name="Text 1"/>
          <p:cNvSpPr/>
          <p:nvPr/>
        </p:nvSpPr>
        <p:spPr>
          <a:xfrm>
            <a:off x="2494002" y="1833801"/>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Index column order is not about table structure. It is about how queries are written.</a:t>
            </a:r>
            <a:endParaRPr lang="en-US" sz="1100" dirty="0"/>
          </a:p>
        </p:txBody>
      </p:sp>
      <p:sp>
        <p:nvSpPr>
          <p:cNvPr id="4" name="Text 2"/>
          <p:cNvSpPr/>
          <p:nvPr/>
        </p:nvSpPr>
        <p:spPr>
          <a:xfrm>
            <a:off x="2494002" y="2143482"/>
            <a:ext cx="3560802" cy="218242"/>
          </a:xfrm>
          <a:prstGeom prst="rect">
            <a:avLst/>
          </a:prstGeom>
          <a:noFill/>
          <a:ln/>
        </p:spPr>
        <p:txBody>
          <a:bodyPr wrap="none" lIns="0" tIns="0" rIns="0" bIns="0" rtlCol="0" anchor="t"/>
          <a:lstStyle/>
          <a:p>
            <a:pPr marL="0" indent="0" algn="l">
              <a:lnSpc>
                <a:spcPts val="1700"/>
              </a:lnSpc>
              <a:buNone/>
            </a:pPr>
            <a:r>
              <a:rPr lang="en-US" sz="1350" dirty="0">
                <a:solidFill>
                  <a:srgbClr val="FBF3FA"/>
                </a:solidFill>
                <a:latin typeface="Fira Mono Medium" pitchFamily="34" charset="0"/>
                <a:ea typeface="Fira Mono Medium" pitchFamily="34" charset="-122"/>
                <a:cs typeface="Fira Mono Medium" pitchFamily="34" charset="-120"/>
              </a:rPr>
              <a:t>Rule of thumb that actually works:</a:t>
            </a:r>
            <a:endParaRPr lang="en-US" sz="1350" dirty="0"/>
          </a:p>
        </p:txBody>
      </p:sp>
      <p:sp>
        <p:nvSpPr>
          <p:cNvPr id="5" name="Text 3"/>
          <p:cNvSpPr/>
          <p:nvPr/>
        </p:nvSpPr>
        <p:spPr>
          <a:xfrm>
            <a:off x="2494002" y="2490788"/>
            <a:ext cx="9642396" cy="542020"/>
          </a:xfrm>
          <a:prstGeom prst="rect">
            <a:avLst/>
          </a:prstGeom>
          <a:noFill/>
          <a:ln/>
        </p:spPr>
        <p:txBody>
          <a:bodyPr wrap="square" lIns="0" tIns="0" rIns="0" bIns="0" rtlCol="0" anchor="t"/>
          <a:lstStyle/>
          <a:p>
            <a:pPr marL="342900" indent="-342900" algn="l">
              <a:lnSpc>
                <a:spcPts val="1400"/>
              </a:lnSpc>
              <a:buSzPct val="100000"/>
              <a:buChar char="•"/>
            </a:pPr>
            <a:r>
              <a:rPr lang="en-US" sz="1100" dirty="0">
                <a:solidFill>
                  <a:srgbClr val="E0D6DE"/>
                </a:solidFill>
                <a:latin typeface="Fira Sans" pitchFamily="34" charset="0"/>
                <a:ea typeface="Fira Sans" pitchFamily="34" charset="-122"/>
                <a:cs typeface="Fira Sans" pitchFamily="34" charset="-120"/>
              </a:rPr>
              <a:t>Equality conditions first</a:t>
            </a:r>
            <a:endParaRPr lang="en-US" sz="1100" dirty="0"/>
          </a:p>
          <a:p>
            <a:pPr marL="342900" indent="-342900" algn="l">
              <a:lnSpc>
                <a:spcPts val="1400"/>
              </a:lnSpc>
              <a:buSzPct val="100000"/>
              <a:buChar char="•"/>
            </a:pPr>
            <a:r>
              <a:rPr lang="en-US" sz="1100" dirty="0">
                <a:solidFill>
                  <a:srgbClr val="E0D6DE"/>
                </a:solidFill>
                <a:latin typeface="Fira Sans" pitchFamily="34" charset="0"/>
                <a:ea typeface="Fira Sans" pitchFamily="34" charset="-122"/>
                <a:cs typeface="Fira Sans" pitchFamily="34" charset="-120"/>
              </a:rPr>
              <a:t>Range conditions later</a:t>
            </a:r>
            <a:endParaRPr lang="en-US" sz="1100" dirty="0"/>
          </a:p>
          <a:p>
            <a:pPr marL="342900" indent="-342900" algn="l">
              <a:lnSpc>
                <a:spcPts val="1400"/>
              </a:lnSpc>
              <a:buSzPct val="100000"/>
              <a:buChar char="•"/>
            </a:pPr>
            <a:r>
              <a:rPr lang="en-US" sz="1100" dirty="0">
                <a:solidFill>
                  <a:srgbClr val="E0D6DE"/>
                </a:solidFill>
                <a:latin typeface="Fira Sans" pitchFamily="34" charset="0"/>
                <a:ea typeface="Fira Sans" pitchFamily="34" charset="-122"/>
                <a:cs typeface="Fira Sans" pitchFamily="34" charset="-120"/>
              </a:rPr>
              <a:t>Sorting columns last</a:t>
            </a:r>
            <a:endParaRPr lang="en-US" sz="1100" dirty="0"/>
          </a:p>
        </p:txBody>
      </p:sp>
      <p:sp>
        <p:nvSpPr>
          <p:cNvPr id="6" name="Text 4"/>
          <p:cNvSpPr/>
          <p:nvPr/>
        </p:nvSpPr>
        <p:spPr>
          <a:xfrm>
            <a:off x="2494002" y="3129605"/>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Example query:</a:t>
            </a:r>
            <a:endParaRPr lang="en-US" sz="1100" dirty="0"/>
          </a:p>
        </p:txBody>
      </p:sp>
      <p:sp>
        <p:nvSpPr>
          <p:cNvPr id="7" name="Shape 5"/>
          <p:cNvSpPr/>
          <p:nvPr/>
        </p:nvSpPr>
        <p:spPr>
          <a:xfrm>
            <a:off x="2494002" y="3407021"/>
            <a:ext cx="9642396" cy="390168"/>
          </a:xfrm>
          <a:prstGeom prst="roundRect">
            <a:avLst>
              <a:gd name="adj" fmla="val 5373"/>
            </a:avLst>
          </a:prstGeom>
          <a:solidFill>
            <a:srgbClr val="1C1C1D"/>
          </a:solidFill>
          <a:ln/>
        </p:spPr>
        <p:txBody>
          <a:bodyPr/>
          <a:lstStyle/>
          <a:p>
            <a:endParaRPr lang="en-US"/>
          </a:p>
        </p:txBody>
      </p:sp>
      <p:sp>
        <p:nvSpPr>
          <p:cNvPr id="8" name="Shape 6"/>
          <p:cNvSpPr/>
          <p:nvPr/>
        </p:nvSpPr>
        <p:spPr>
          <a:xfrm>
            <a:off x="2487097" y="3407021"/>
            <a:ext cx="9656207" cy="390168"/>
          </a:xfrm>
          <a:prstGeom prst="roundRect">
            <a:avLst>
              <a:gd name="adj" fmla="val 5373"/>
            </a:avLst>
          </a:prstGeom>
          <a:solidFill>
            <a:srgbClr val="1C1C1D"/>
          </a:solidFill>
          <a:ln/>
        </p:spPr>
        <p:txBody>
          <a:bodyPr/>
          <a:lstStyle/>
          <a:p>
            <a:endParaRPr lang="en-US"/>
          </a:p>
        </p:txBody>
      </p:sp>
      <p:sp>
        <p:nvSpPr>
          <p:cNvPr id="9" name="Text 7"/>
          <p:cNvSpPr/>
          <p:nvPr/>
        </p:nvSpPr>
        <p:spPr>
          <a:xfrm>
            <a:off x="2626757" y="3511796"/>
            <a:ext cx="937688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highlight>
                  <a:srgbClr val="1C1C1D"/>
                </a:highlight>
                <a:latin typeface="Consolas" pitchFamily="34" charset="0"/>
                <a:ea typeface="Consolas" pitchFamily="34" charset="-122"/>
                <a:cs typeface="Consolas" pitchFamily="34" charset="-120"/>
              </a:rPr>
              <a:t>SELECT * FROM orders WHERE order_status = 'PAID' AND placed_at &gt;= NOW() - INTERVAL 30 DAY ORDER BY placed_at DESC;</a:t>
            </a:r>
            <a:endParaRPr lang="en-US" sz="1100" dirty="0"/>
          </a:p>
        </p:txBody>
      </p:sp>
      <p:sp>
        <p:nvSpPr>
          <p:cNvPr id="10" name="Text 8"/>
          <p:cNvSpPr/>
          <p:nvPr/>
        </p:nvSpPr>
        <p:spPr>
          <a:xfrm>
            <a:off x="2494002" y="3893986"/>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Best index:</a:t>
            </a:r>
            <a:endParaRPr lang="en-US" sz="1100" dirty="0"/>
          </a:p>
        </p:txBody>
      </p:sp>
      <p:sp>
        <p:nvSpPr>
          <p:cNvPr id="11" name="Shape 9"/>
          <p:cNvSpPr/>
          <p:nvPr/>
        </p:nvSpPr>
        <p:spPr>
          <a:xfrm>
            <a:off x="2494002" y="4171402"/>
            <a:ext cx="9642396" cy="390168"/>
          </a:xfrm>
          <a:prstGeom prst="roundRect">
            <a:avLst>
              <a:gd name="adj" fmla="val 5373"/>
            </a:avLst>
          </a:prstGeom>
          <a:solidFill>
            <a:srgbClr val="1C1C1D"/>
          </a:solidFill>
          <a:ln/>
        </p:spPr>
        <p:txBody>
          <a:bodyPr/>
          <a:lstStyle/>
          <a:p>
            <a:endParaRPr lang="en-US"/>
          </a:p>
        </p:txBody>
      </p:sp>
      <p:sp>
        <p:nvSpPr>
          <p:cNvPr id="12" name="Shape 10"/>
          <p:cNvSpPr/>
          <p:nvPr/>
        </p:nvSpPr>
        <p:spPr>
          <a:xfrm>
            <a:off x="2487097" y="4171402"/>
            <a:ext cx="9656207" cy="390168"/>
          </a:xfrm>
          <a:prstGeom prst="roundRect">
            <a:avLst>
              <a:gd name="adj" fmla="val 5373"/>
            </a:avLst>
          </a:prstGeom>
          <a:solidFill>
            <a:srgbClr val="1C1C1D"/>
          </a:solidFill>
          <a:ln/>
        </p:spPr>
        <p:txBody>
          <a:bodyPr/>
          <a:lstStyle/>
          <a:p>
            <a:endParaRPr lang="en-US"/>
          </a:p>
        </p:txBody>
      </p:sp>
      <p:sp>
        <p:nvSpPr>
          <p:cNvPr id="13" name="Text 11"/>
          <p:cNvSpPr/>
          <p:nvPr/>
        </p:nvSpPr>
        <p:spPr>
          <a:xfrm>
            <a:off x="2626757" y="4276177"/>
            <a:ext cx="937688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highlight>
                  <a:srgbClr val="1C1C1D"/>
                </a:highlight>
                <a:latin typeface="Consolas" pitchFamily="34" charset="0"/>
                <a:ea typeface="Consolas" pitchFamily="34" charset="-122"/>
                <a:cs typeface="Consolas" pitchFamily="34" charset="-120"/>
              </a:rPr>
              <a:t>CREATE INDEX idx_orders_status_placed ON orders(order_status, placed_at);</a:t>
            </a:r>
            <a:endParaRPr lang="en-US" sz="1100" dirty="0"/>
          </a:p>
        </p:txBody>
      </p:sp>
      <p:sp>
        <p:nvSpPr>
          <p:cNvPr id="14" name="Text 12"/>
          <p:cNvSpPr/>
          <p:nvPr/>
        </p:nvSpPr>
        <p:spPr>
          <a:xfrm>
            <a:off x="2494002" y="4658368"/>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If you reverse the order:</a:t>
            </a:r>
            <a:endParaRPr lang="en-US" sz="1100" dirty="0"/>
          </a:p>
        </p:txBody>
      </p:sp>
      <p:sp>
        <p:nvSpPr>
          <p:cNvPr id="15" name="Shape 13"/>
          <p:cNvSpPr/>
          <p:nvPr/>
        </p:nvSpPr>
        <p:spPr>
          <a:xfrm>
            <a:off x="2494002" y="4935783"/>
            <a:ext cx="9642396" cy="390168"/>
          </a:xfrm>
          <a:prstGeom prst="roundRect">
            <a:avLst>
              <a:gd name="adj" fmla="val 5373"/>
            </a:avLst>
          </a:prstGeom>
          <a:solidFill>
            <a:srgbClr val="1C1C1D"/>
          </a:solidFill>
          <a:ln/>
        </p:spPr>
        <p:txBody>
          <a:bodyPr/>
          <a:lstStyle/>
          <a:p>
            <a:endParaRPr lang="en-US"/>
          </a:p>
        </p:txBody>
      </p:sp>
      <p:sp>
        <p:nvSpPr>
          <p:cNvPr id="16" name="Shape 14"/>
          <p:cNvSpPr/>
          <p:nvPr/>
        </p:nvSpPr>
        <p:spPr>
          <a:xfrm>
            <a:off x="2487097" y="4935783"/>
            <a:ext cx="9656207" cy="390168"/>
          </a:xfrm>
          <a:prstGeom prst="roundRect">
            <a:avLst>
              <a:gd name="adj" fmla="val 5373"/>
            </a:avLst>
          </a:prstGeom>
          <a:solidFill>
            <a:srgbClr val="1C1C1D"/>
          </a:solidFill>
          <a:ln/>
        </p:spPr>
        <p:txBody>
          <a:bodyPr/>
          <a:lstStyle/>
          <a:p>
            <a:endParaRPr lang="en-US"/>
          </a:p>
        </p:txBody>
      </p:sp>
      <p:sp>
        <p:nvSpPr>
          <p:cNvPr id="17" name="Text 15"/>
          <p:cNvSpPr/>
          <p:nvPr/>
        </p:nvSpPr>
        <p:spPr>
          <a:xfrm>
            <a:off x="2626757" y="5040558"/>
            <a:ext cx="937688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highlight>
                  <a:srgbClr val="1C1C1D"/>
                </a:highlight>
                <a:latin typeface="Consolas" pitchFamily="34" charset="0"/>
                <a:ea typeface="Consolas" pitchFamily="34" charset="-122"/>
                <a:cs typeface="Consolas" pitchFamily="34" charset="-120"/>
              </a:rPr>
              <a:t>CREATE INDEX idx_orders_placed_status ON orders(placed_at, order_status);</a:t>
            </a:r>
            <a:endParaRPr lang="en-US" sz="1100" dirty="0"/>
          </a:p>
        </p:txBody>
      </p:sp>
      <p:sp>
        <p:nvSpPr>
          <p:cNvPr id="18" name="Text 16"/>
          <p:cNvSpPr/>
          <p:nvPr/>
        </p:nvSpPr>
        <p:spPr>
          <a:xfrm>
            <a:off x="2494002" y="5422749"/>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Filtering by status becomes less efficient, and sorting may require extra work.</a:t>
            </a:r>
            <a:endParaRPr lang="en-US" sz="1100" dirty="0"/>
          </a:p>
        </p:txBody>
      </p:sp>
      <p:sp>
        <p:nvSpPr>
          <p:cNvPr id="19" name="Text 17"/>
          <p:cNvSpPr/>
          <p:nvPr/>
        </p:nvSpPr>
        <p:spPr>
          <a:xfrm>
            <a:off x="2494002" y="5700164"/>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Index order decides whether MySQL can:</a:t>
            </a:r>
            <a:endParaRPr lang="en-US" sz="1100" dirty="0"/>
          </a:p>
        </p:txBody>
      </p:sp>
      <p:sp>
        <p:nvSpPr>
          <p:cNvPr id="20" name="Text 18"/>
          <p:cNvSpPr/>
          <p:nvPr/>
        </p:nvSpPr>
        <p:spPr>
          <a:xfrm>
            <a:off x="2494002" y="5977580"/>
            <a:ext cx="9642396" cy="542020"/>
          </a:xfrm>
          <a:prstGeom prst="rect">
            <a:avLst/>
          </a:prstGeom>
          <a:noFill/>
          <a:ln/>
        </p:spPr>
        <p:txBody>
          <a:bodyPr wrap="square" lIns="0" tIns="0" rIns="0" bIns="0" rtlCol="0" anchor="t"/>
          <a:lstStyle/>
          <a:p>
            <a:pPr marL="342900" indent="-342900" algn="l">
              <a:lnSpc>
                <a:spcPts val="1400"/>
              </a:lnSpc>
              <a:buSzPct val="100000"/>
              <a:buChar char="•"/>
            </a:pPr>
            <a:r>
              <a:rPr lang="en-US" sz="1100" dirty="0">
                <a:solidFill>
                  <a:srgbClr val="E0D6DE"/>
                </a:solidFill>
                <a:latin typeface="Fira Sans" pitchFamily="34" charset="0"/>
                <a:ea typeface="Fira Sans" pitchFamily="34" charset="-122"/>
                <a:cs typeface="Fira Sans" pitchFamily="34" charset="-120"/>
              </a:rPr>
              <a:t>Filter using the index</a:t>
            </a:r>
            <a:endParaRPr lang="en-US" sz="1100" dirty="0"/>
          </a:p>
          <a:p>
            <a:pPr marL="342900" indent="-342900" algn="l">
              <a:lnSpc>
                <a:spcPts val="1400"/>
              </a:lnSpc>
              <a:buSzPct val="100000"/>
              <a:buChar char="•"/>
            </a:pPr>
            <a:r>
              <a:rPr lang="en-US" sz="1100" dirty="0">
                <a:solidFill>
                  <a:srgbClr val="E0D6DE"/>
                </a:solidFill>
                <a:latin typeface="Fira Sans" pitchFamily="34" charset="0"/>
                <a:ea typeface="Fira Sans" pitchFamily="34" charset="-122"/>
                <a:cs typeface="Fira Sans" pitchFamily="34" charset="-120"/>
              </a:rPr>
              <a:t>Sort using the index</a:t>
            </a:r>
            <a:endParaRPr lang="en-US" sz="1100" dirty="0"/>
          </a:p>
          <a:p>
            <a:pPr marL="342900" indent="-342900" algn="l">
              <a:lnSpc>
                <a:spcPts val="1400"/>
              </a:lnSpc>
              <a:buSzPct val="100000"/>
              <a:buChar char="•"/>
            </a:pPr>
            <a:r>
              <a:rPr lang="en-US" sz="1100" dirty="0">
                <a:solidFill>
                  <a:srgbClr val="E0D6DE"/>
                </a:solidFill>
                <a:latin typeface="Fira Sans" pitchFamily="34" charset="0"/>
                <a:ea typeface="Fira Sans" pitchFamily="34" charset="-122"/>
                <a:cs typeface="Fira Sans" pitchFamily="34" charset="-120"/>
              </a:rPr>
              <a:t>Avoid temporary tables and filesort</a:t>
            </a:r>
            <a:endParaRPr lang="en-US" sz="1100" dirty="0"/>
          </a:p>
        </p:txBody>
      </p:sp>
      <p:sp>
        <p:nvSpPr>
          <p:cNvPr id="21" name="Text 19"/>
          <p:cNvSpPr/>
          <p:nvPr/>
        </p:nvSpPr>
        <p:spPr>
          <a:xfrm>
            <a:off x="2494002" y="6616398"/>
            <a:ext cx="9642396" cy="180618"/>
          </a:xfrm>
          <a:prstGeom prst="rect">
            <a:avLst/>
          </a:prstGeom>
          <a:noFill/>
          <a:ln/>
        </p:spPr>
        <p:txBody>
          <a:bodyPr wrap="none" lIns="0" tIns="0" rIns="0" bIns="0" rtlCol="0" anchor="t"/>
          <a:lstStyle/>
          <a:p>
            <a:pPr marL="0" indent="0" algn="l">
              <a:lnSpc>
                <a:spcPts val="1400"/>
              </a:lnSpc>
              <a:buNone/>
            </a:pPr>
            <a:r>
              <a:rPr lang="en-US" sz="1100" dirty="0">
                <a:solidFill>
                  <a:srgbClr val="E0D6DE"/>
                </a:solidFill>
                <a:latin typeface="Fira Sans" pitchFamily="34" charset="0"/>
                <a:ea typeface="Fira Sans" pitchFamily="34" charset="-122"/>
                <a:cs typeface="Fira Sans" pitchFamily="34" charset="-120"/>
              </a:rPr>
              <a:t>This is why blindly adding indexes without understanding query patterns causes disappointment.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754981" y="1096804"/>
            <a:ext cx="10392013" cy="503634"/>
          </a:xfrm>
          <a:prstGeom prst="rect">
            <a:avLst/>
          </a:prstGeom>
          <a:noFill/>
          <a:ln/>
        </p:spPr>
        <p:txBody>
          <a:bodyPr wrap="none" lIns="0" tIns="0" rIns="0" bIns="0" rtlCol="0" anchor="t"/>
          <a:lstStyle/>
          <a:p>
            <a:pPr marL="0" indent="0" algn="l">
              <a:lnSpc>
                <a:spcPts val="3950"/>
              </a:lnSpc>
              <a:buNone/>
            </a:pPr>
            <a:r>
              <a:rPr lang="en-US" sz="3150" dirty="0">
                <a:solidFill>
                  <a:srgbClr val="FBF3FA"/>
                </a:solidFill>
                <a:latin typeface="Fira Mono Medium" pitchFamily="34" charset="0"/>
                <a:ea typeface="Fira Mono Medium" pitchFamily="34" charset="-122"/>
                <a:cs typeface="Fira Mono Medium" pitchFamily="34" charset="-120"/>
              </a:rPr>
              <a:t>Making Index Decisions: Query Justification</a:t>
            </a:r>
            <a:endParaRPr lang="en-US" sz="3150" dirty="0"/>
          </a:p>
        </p:txBody>
      </p:sp>
      <p:sp>
        <p:nvSpPr>
          <p:cNvPr id="3" name="Text 1"/>
          <p:cNvSpPr/>
          <p:nvPr/>
        </p:nvSpPr>
        <p:spPr>
          <a:xfrm>
            <a:off x="1754981" y="1829395"/>
            <a:ext cx="11120437" cy="220504"/>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Indexes are not decorations you sprinkle on tables. They are engineering decisions.</a:t>
            </a:r>
            <a:endParaRPr lang="en-US" sz="1250" dirty="0"/>
          </a:p>
        </p:txBody>
      </p:sp>
      <p:sp>
        <p:nvSpPr>
          <p:cNvPr id="4" name="Text 2"/>
          <p:cNvSpPr/>
          <p:nvPr/>
        </p:nvSpPr>
        <p:spPr>
          <a:xfrm>
            <a:off x="1996678" y="2307550"/>
            <a:ext cx="10878741" cy="441008"/>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Every index should answer one question: Which query does this index exist to make fast? If that question has no clear answer, the index probably should not exist.</a:t>
            </a:r>
            <a:endParaRPr lang="en-US" sz="1250" dirty="0"/>
          </a:p>
        </p:txBody>
      </p:sp>
      <p:sp>
        <p:nvSpPr>
          <p:cNvPr id="5" name="Shape 3"/>
          <p:cNvSpPr/>
          <p:nvPr/>
        </p:nvSpPr>
        <p:spPr>
          <a:xfrm>
            <a:off x="1754981" y="2178725"/>
            <a:ext cx="22860" cy="698659"/>
          </a:xfrm>
          <a:prstGeom prst="rect">
            <a:avLst/>
          </a:prstGeom>
          <a:solidFill>
            <a:srgbClr val="FF6BD8"/>
          </a:solidFill>
          <a:ln/>
        </p:spPr>
        <p:txBody>
          <a:bodyPr/>
          <a:lstStyle/>
          <a:p>
            <a:endParaRPr lang="en-US"/>
          </a:p>
        </p:txBody>
      </p:sp>
      <p:sp>
        <p:nvSpPr>
          <p:cNvPr id="6" name="Text 4"/>
          <p:cNvSpPr/>
          <p:nvPr/>
        </p:nvSpPr>
        <p:spPr>
          <a:xfrm>
            <a:off x="1754981" y="3049072"/>
            <a:ext cx="4834652" cy="402788"/>
          </a:xfrm>
          <a:prstGeom prst="rect">
            <a:avLst/>
          </a:prstGeom>
          <a:noFill/>
          <a:ln/>
        </p:spPr>
        <p:txBody>
          <a:bodyPr wrap="none" lIns="0" tIns="0" rIns="0" bIns="0" rtlCol="0" anchor="t"/>
          <a:lstStyle/>
          <a:p>
            <a:pPr marL="0" indent="0" algn="l">
              <a:lnSpc>
                <a:spcPts val="3150"/>
              </a:lnSpc>
              <a:buNone/>
            </a:pPr>
            <a:r>
              <a:rPr lang="en-US" sz="2500" dirty="0">
                <a:solidFill>
                  <a:srgbClr val="FBF3FA"/>
                </a:solidFill>
                <a:latin typeface="Fira Mono Medium" pitchFamily="34" charset="0"/>
                <a:ea typeface="Fira Mono Medium" pitchFamily="34" charset="-122"/>
                <a:cs typeface="Fira Mono Medium" pitchFamily="34" charset="-120"/>
              </a:rPr>
              <a:t>Index Decision Framework:</a:t>
            </a:r>
            <a:endParaRPr lang="en-US" sz="2500" dirty="0"/>
          </a:p>
        </p:txBody>
      </p:sp>
      <p:sp>
        <p:nvSpPr>
          <p:cNvPr id="7" name="Text 5"/>
          <p:cNvSpPr/>
          <p:nvPr/>
        </p:nvSpPr>
        <p:spPr>
          <a:xfrm>
            <a:off x="1754981" y="3623548"/>
            <a:ext cx="161092" cy="201454"/>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Mono Light" pitchFamily="34" charset="0"/>
                <a:ea typeface="Fira Mono Light" pitchFamily="34" charset="-122"/>
                <a:cs typeface="Fira Mono Light" pitchFamily="34" charset="-120"/>
              </a:rPr>
              <a:t>01</a:t>
            </a:r>
            <a:endParaRPr lang="en-US" sz="1250" dirty="0"/>
          </a:p>
        </p:txBody>
      </p:sp>
      <p:sp>
        <p:nvSpPr>
          <p:cNvPr id="8" name="Shape 6"/>
          <p:cNvSpPr/>
          <p:nvPr/>
        </p:nvSpPr>
        <p:spPr>
          <a:xfrm>
            <a:off x="1754981" y="3874532"/>
            <a:ext cx="3630454" cy="22860"/>
          </a:xfrm>
          <a:prstGeom prst="rect">
            <a:avLst/>
          </a:prstGeom>
          <a:solidFill>
            <a:srgbClr val="FF6BD8"/>
          </a:solidFill>
          <a:ln/>
        </p:spPr>
        <p:txBody>
          <a:bodyPr/>
          <a:lstStyle/>
          <a:p>
            <a:endParaRPr lang="en-US"/>
          </a:p>
        </p:txBody>
      </p:sp>
      <p:sp>
        <p:nvSpPr>
          <p:cNvPr id="9" name="Text 7"/>
          <p:cNvSpPr/>
          <p:nvPr/>
        </p:nvSpPr>
        <p:spPr>
          <a:xfrm>
            <a:off x="1754981" y="4000738"/>
            <a:ext cx="3630454" cy="503634"/>
          </a:xfrm>
          <a:prstGeom prst="rect">
            <a:avLst/>
          </a:prstGeom>
          <a:noFill/>
          <a:ln/>
        </p:spPr>
        <p:txBody>
          <a:bodyPr wrap="squar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Identify the query you want to optimize</a:t>
            </a:r>
            <a:endParaRPr lang="en-US" sz="1550" dirty="0"/>
          </a:p>
        </p:txBody>
      </p:sp>
      <p:sp>
        <p:nvSpPr>
          <p:cNvPr id="10" name="Text 8"/>
          <p:cNvSpPr/>
          <p:nvPr/>
        </p:nvSpPr>
        <p:spPr>
          <a:xfrm>
            <a:off x="5499854" y="3623548"/>
            <a:ext cx="161092" cy="201454"/>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Mono Light" pitchFamily="34" charset="0"/>
                <a:ea typeface="Fira Mono Light" pitchFamily="34" charset="-122"/>
                <a:cs typeface="Fira Mono Light" pitchFamily="34" charset="-120"/>
              </a:rPr>
              <a:t>02</a:t>
            </a:r>
            <a:endParaRPr lang="en-US" sz="1250" dirty="0"/>
          </a:p>
        </p:txBody>
      </p:sp>
      <p:sp>
        <p:nvSpPr>
          <p:cNvPr id="11" name="Shape 9"/>
          <p:cNvSpPr/>
          <p:nvPr/>
        </p:nvSpPr>
        <p:spPr>
          <a:xfrm>
            <a:off x="5499854" y="3874532"/>
            <a:ext cx="3630573" cy="22860"/>
          </a:xfrm>
          <a:prstGeom prst="rect">
            <a:avLst/>
          </a:prstGeom>
          <a:solidFill>
            <a:srgbClr val="FF6BD8"/>
          </a:solidFill>
          <a:ln/>
        </p:spPr>
        <p:txBody>
          <a:bodyPr/>
          <a:lstStyle/>
          <a:p>
            <a:endParaRPr lang="en-US"/>
          </a:p>
        </p:txBody>
      </p:sp>
      <p:sp>
        <p:nvSpPr>
          <p:cNvPr id="12" name="Text 10"/>
          <p:cNvSpPr/>
          <p:nvPr/>
        </p:nvSpPr>
        <p:spPr>
          <a:xfrm>
            <a:off x="5499854" y="4000738"/>
            <a:ext cx="3630573" cy="755452"/>
          </a:xfrm>
          <a:prstGeom prst="rect">
            <a:avLst/>
          </a:prstGeom>
          <a:noFill/>
          <a:ln/>
        </p:spPr>
        <p:txBody>
          <a:bodyPr wrap="squar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Determine the best column order (equality → range → sort)</a:t>
            </a:r>
            <a:endParaRPr lang="en-US" sz="1550" dirty="0"/>
          </a:p>
        </p:txBody>
      </p:sp>
      <p:sp>
        <p:nvSpPr>
          <p:cNvPr id="13" name="Text 11"/>
          <p:cNvSpPr/>
          <p:nvPr/>
        </p:nvSpPr>
        <p:spPr>
          <a:xfrm>
            <a:off x="9244846" y="3623548"/>
            <a:ext cx="161092" cy="201454"/>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Mono Light" pitchFamily="34" charset="0"/>
                <a:ea typeface="Fira Mono Light" pitchFamily="34" charset="-122"/>
                <a:cs typeface="Fira Mono Light" pitchFamily="34" charset="-120"/>
              </a:rPr>
              <a:t>03</a:t>
            </a:r>
            <a:endParaRPr lang="en-US" sz="1250" dirty="0"/>
          </a:p>
        </p:txBody>
      </p:sp>
      <p:sp>
        <p:nvSpPr>
          <p:cNvPr id="14" name="Shape 12"/>
          <p:cNvSpPr/>
          <p:nvPr/>
        </p:nvSpPr>
        <p:spPr>
          <a:xfrm>
            <a:off x="9244846" y="3874532"/>
            <a:ext cx="3630573" cy="22860"/>
          </a:xfrm>
          <a:prstGeom prst="rect">
            <a:avLst/>
          </a:prstGeom>
          <a:solidFill>
            <a:srgbClr val="FF6BD8"/>
          </a:solidFill>
          <a:ln/>
        </p:spPr>
        <p:txBody>
          <a:bodyPr/>
          <a:lstStyle/>
          <a:p>
            <a:endParaRPr lang="en-US"/>
          </a:p>
        </p:txBody>
      </p:sp>
      <p:sp>
        <p:nvSpPr>
          <p:cNvPr id="15" name="Text 13"/>
          <p:cNvSpPr/>
          <p:nvPr/>
        </p:nvSpPr>
        <p:spPr>
          <a:xfrm>
            <a:off x="9244846" y="4000738"/>
            <a:ext cx="2014538" cy="251817"/>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Create the index</a:t>
            </a:r>
            <a:endParaRPr lang="en-US" sz="1550" dirty="0"/>
          </a:p>
        </p:txBody>
      </p:sp>
      <p:sp>
        <p:nvSpPr>
          <p:cNvPr id="16" name="Text 14"/>
          <p:cNvSpPr/>
          <p:nvPr/>
        </p:nvSpPr>
        <p:spPr>
          <a:xfrm>
            <a:off x="1754981" y="4991457"/>
            <a:ext cx="161092" cy="201454"/>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Mono Light" pitchFamily="34" charset="0"/>
                <a:ea typeface="Fira Mono Light" pitchFamily="34" charset="-122"/>
                <a:cs typeface="Fira Mono Light" pitchFamily="34" charset="-120"/>
              </a:rPr>
              <a:t>04</a:t>
            </a:r>
            <a:endParaRPr lang="en-US" sz="1250" dirty="0"/>
          </a:p>
        </p:txBody>
      </p:sp>
      <p:sp>
        <p:nvSpPr>
          <p:cNvPr id="17" name="Shape 15"/>
          <p:cNvSpPr/>
          <p:nvPr/>
        </p:nvSpPr>
        <p:spPr>
          <a:xfrm>
            <a:off x="1754981" y="5242441"/>
            <a:ext cx="5502950" cy="22860"/>
          </a:xfrm>
          <a:prstGeom prst="rect">
            <a:avLst/>
          </a:prstGeom>
          <a:solidFill>
            <a:srgbClr val="FF6BD8"/>
          </a:solidFill>
          <a:ln/>
        </p:spPr>
        <p:txBody>
          <a:bodyPr/>
          <a:lstStyle/>
          <a:p>
            <a:endParaRPr lang="en-US"/>
          </a:p>
        </p:txBody>
      </p:sp>
      <p:sp>
        <p:nvSpPr>
          <p:cNvPr id="18" name="Text 16"/>
          <p:cNvSpPr/>
          <p:nvPr/>
        </p:nvSpPr>
        <p:spPr>
          <a:xfrm>
            <a:off x="1754981" y="5368647"/>
            <a:ext cx="5194459" cy="251817"/>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Measure the impact on both reads and writes</a:t>
            </a:r>
            <a:endParaRPr lang="en-US" sz="1550" dirty="0"/>
          </a:p>
        </p:txBody>
      </p:sp>
      <p:sp>
        <p:nvSpPr>
          <p:cNvPr id="19" name="Text 17"/>
          <p:cNvSpPr/>
          <p:nvPr/>
        </p:nvSpPr>
        <p:spPr>
          <a:xfrm>
            <a:off x="7372350" y="4991457"/>
            <a:ext cx="161092" cy="201454"/>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Mono Light" pitchFamily="34" charset="0"/>
                <a:ea typeface="Fira Mono Light" pitchFamily="34" charset="-122"/>
                <a:cs typeface="Fira Mono Light" pitchFamily="34" charset="-120"/>
              </a:rPr>
              <a:t>05</a:t>
            </a:r>
            <a:endParaRPr lang="en-US" sz="1250" dirty="0"/>
          </a:p>
        </p:txBody>
      </p:sp>
      <p:sp>
        <p:nvSpPr>
          <p:cNvPr id="20" name="Shape 18"/>
          <p:cNvSpPr/>
          <p:nvPr/>
        </p:nvSpPr>
        <p:spPr>
          <a:xfrm>
            <a:off x="7372350" y="5242441"/>
            <a:ext cx="5503069" cy="22860"/>
          </a:xfrm>
          <a:prstGeom prst="rect">
            <a:avLst/>
          </a:prstGeom>
          <a:solidFill>
            <a:srgbClr val="FF6BD8"/>
          </a:solidFill>
          <a:ln/>
        </p:spPr>
        <p:txBody>
          <a:bodyPr/>
          <a:lstStyle/>
          <a:p>
            <a:endParaRPr lang="en-US"/>
          </a:p>
        </p:txBody>
      </p:sp>
      <p:sp>
        <p:nvSpPr>
          <p:cNvPr id="21" name="Text 19"/>
          <p:cNvSpPr/>
          <p:nvPr/>
        </p:nvSpPr>
        <p:spPr>
          <a:xfrm>
            <a:off x="7372350" y="5368647"/>
            <a:ext cx="5503069" cy="503634"/>
          </a:xfrm>
          <a:prstGeom prst="rect">
            <a:avLst/>
          </a:prstGeom>
          <a:noFill/>
          <a:ln/>
        </p:spPr>
        <p:txBody>
          <a:bodyPr wrap="squar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Remove it if the read benefit doesn't justify the write cost</a:t>
            </a:r>
            <a:endParaRPr lang="en-US" sz="1550" dirty="0"/>
          </a:p>
        </p:txBody>
      </p:sp>
      <p:sp>
        <p:nvSpPr>
          <p:cNvPr id="22" name="Text 20"/>
          <p:cNvSpPr/>
          <p:nvPr/>
        </p:nvSpPr>
        <p:spPr>
          <a:xfrm>
            <a:off x="1754981" y="6121956"/>
            <a:ext cx="11120437" cy="441008"/>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This is how production engineers think about indexing. Not "what indexes should this table have?" but "which specific queries are slow, and what's the minimum index needed to fix them?"</a:t>
            </a:r>
            <a:endParaRPr lang="en-US" sz="1250" dirty="0"/>
          </a:p>
        </p:txBody>
      </p:sp>
      <p:sp>
        <p:nvSpPr>
          <p:cNvPr id="23" name="Text 21"/>
          <p:cNvSpPr/>
          <p:nvPr/>
        </p:nvSpPr>
        <p:spPr>
          <a:xfrm>
            <a:off x="1754981" y="6691789"/>
            <a:ext cx="11120437" cy="441008"/>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Remember: You can always add an index later. But removing an index that's been in production for months is risky. Start minimal, add only when justified by real workload data.</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409105" y="1052751"/>
            <a:ext cx="9499640" cy="534948"/>
          </a:xfrm>
          <a:prstGeom prst="rect">
            <a:avLst/>
          </a:prstGeom>
          <a:noFill/>
          <a:ln/>
        </p:spPr>
        <p:txBody>
          <a:bodyPr wrap="none" lIns="0" tIns="0" rIns="0" bIns="0" rtlCol="0" anchor="t"/>
          <a:lstStyle/>
          <a:p>
            <a:pPr marL="0" indent="0" algn="l">
              <a:lnSpc>
                <a:spcPts val="4200"/>
              </a:lnSpc>
              <a:buNone/>
            </a:pPr>
            <a:r>
              <a:rPr lang="en-US" sz="3350" dirty="0">
                <a:solidFill>
                  <a:srgbClr val="FBF3FA"/>
                </a:solidFill>
                <a:latin typeface="Fira Mono Medium" pitchFamily="34" charset="0"/>
                <a:ea typeface="Fira Mono Medium" pitchFamily="34" charset="-122"/>
                <a:cs typeface="Fira Mono Medium" pitchFamily="34" charset="-120"/>
              </a:rPr>
              <a:t>Why Too Many Indexes Hurt Performance</a:t>
            </a:r>
            <a:endParaRPr lang="en-US" sz="3350" dirty="0"/>
          </a:p>
        </p:txBody>
      </p:sp>
      <p:sp>
        <p:nvSpPr>
          <p:cNvPr id="3" name="Text 1"/>
          <p:cNvSpPr/>
          <p:nvPr/>
        </p:nvSpPr>
        <p:spPr>
          <a:xfrm>
            <a:off x="1409105" y="1846064"/>
            <a:ext cx="11812072" cy="240268"/>
          </a:xfrm>
          <a:prstGeom prst="rect">
            <a:avLst/>
          </a:prstGeom>
          <a:noFill/>
          <a:ln/>
        </p:spPr>
        <p:txBody>
          <a:bodyPr wrap="none" lIns="0" tIns="0" rIns="0" bIns="0" rtlCol="0" anchor="t"/>
          <a:lstStyle/>
          <a:p>
            <a:pPr marL="0" indent="0" algn="l">
              <a:lnSpc>
                <a:spcPts val="1850"/>
              </a:lnSpc>
              <a:buNone/>
            </a:pPr>
            <a:r>
              <a:rPr lang="en-US" sz="1300" dirty="0">
                <a:solidFill>
                  <a:srgbClr val="E0D6DE"/>
                </a:solidFill>
                <a:latin typeface="Fira Sans" pitchFamily="34" charset="0"/>
                <a:ea typeface="Fira Sans" pitchFamily="34" charset="-122"/>
                <a:cs typeface="Fira Sans" pitchFamily="34" charset="-120"/>
              </a:rPr>
              <a:t>Every index must be maintained. On every INSERT, UPDATE, or DELETE, MySQL must:</a:t>
            </a:r>
            <a:endParaRPr lang="en-US" sz="1300" dirty="0"/>
          </a:p>
        </p:txBody>
      </p:sp>
      <p:sp>
        <p:nvSpPr>
          <p:cNvPr id="4" name="Shape 2"/>
          <p:cNvSpPr/>
          <p:nvPr/>
        </p:nvSpPr>
        <p:spPr>
          <a:xfrm>
            <a:off x="1409105" y="2231588"/>
            <a:ext cx="385167" cy="385167"/>
          </a:xfrm>
          <a:prstGeom prst="roundRect">
            <a:avLst>
              <a:gd name="adj" fmla="val 6667"/>
            </a:avLst>
          </a:prstGeom>
          <a:solidFill>
            <a:srgbClr val="2E2E2F"/>
          </a:solidFill>
          <a:ln/>
        </p:spPr>
        <p:txBody>
          <a:bodyPr/>
          <a:lstStyle/>
          <a:p>
            <a:endParaRPr lang="en-US"/>
          </a:p>
        </p:txBody>
      </p:sp>
      <p:sp>
        <p:nvSpPr>
          <p:cNvPr id="5" name="Text 3"/>
          <p:cNvSpPr/>
          <p:nvPr/>
        </p:nvSpPr>
        <p:spPr>
          <a:xfrm>
            <a:off x="1923455" y="2290405"/>
            <a:ext cx="2139791" cy="267414"/>
          </a:xfrm>
          <a:prstGeom prst="rect">
            <a:avLst/>
          </a:prstGeom>
          <a:noFill/>
          <a:ln/>
        </p:spPr>
        <p:txBody>
          <a:bodyPr wrap="none" lIns="0" tIns="0" rIns="0" bIns="0" rtlCol="0" anchor="t"/>
          <a:lstStyle/>
          <a:p>
            <a:pPr marL="0" indent="0" algn="l">
              <a:lnSpc>
                <a:spcPts val="2100"/>
              </a:lnSpc>
              <a:buNone/>
            </a:pPr>
            <a:r>
              <a:rPr lang="en-US" sz="1650" dirty="0">
                <a:solidFill>
                  <a:srgbClr val="E0D6DE"/>
                </a:solidFill>
                <a:latin typeface="Fira Mono Medium" pitchFamily="34" charset="0"/>
                <a:ea typeface="Fira Mono Medium" pitchFamily="34" charset="-122"/>
                <a:cs typeface="Fira Mono Medium" pitchFamily="34" charset="-120"/>
              </a:rPr>
              <a:t>Update the table</a:t>
            </a:r>
            <a:endParaRPr lang="en-US" sz="1650" dirty="0"/>
          </a:p>
        </p:txBody>
      </p:sp>
      <p:sp>
        <p:nvSpPr>
          <p:cNvPr id="6" name="Shape 4"/>
          <p:cNvSpPr/>
          <p:nvPr/>
        </p:nvSpPr>
        <p:spPr>
          <a:xfrm>
            <a:off x="7395805" y="2231588"/>
            <a:ext cx="385167" cy="385167"/>
          </a:xfrm>
          <a:prstGeom prst="roundRect">
            <a:avLst>
              <a:gd name="adj" fmla="val 6667"/>
            </a:avLst>
          </a:prstGeom>
          <a:solidFill>
            <a:srgbClr val="2E2E2F"/>
          </a:solidFill>
          <a:ln/>
        </p:spPr>
        <p:txBody>
          <a:bodyPr/>
          <a:lstStyle/>
          <a:p>
            <a:endParaRPr lang="en-US"/>
          </a:p>
        </p:txBody>
      </p:sp>
      <p:sp>
        <p:nvSpPr>
          <p:cNvPr id="7" name="Text 5"/>
          <p:cNvSpPr/>
          <p:nvPr/>
        </p:nvSpPr>
        <p:spPr>
          <a:xfrm>
            <a:off x="7910155" y="2290405"/>
            <a:ext cx="4108013" cy="267414"/>
          </a:xfrm>
          <a:prstGeom prst="rect">
            <a:avLst/>
          </a:prstGeom>
          <a:noFill/>
          <a:ln/>
        </p:spPr>
        <p:txBody>
          <a:bodyPr wrap="none" lIns="0" tIns="0" rIns="0" bIns="0" rtlCol="0" anchor="t"/>
          <a:lstStyle/>
          <a:p>
            <a:pPr marL="0" indent="0" algn="l">
              <a:lnSpc>
                <a:spcPts val="2100"/>
              </a:lnSpc>
              <a:buNone/>
            </a:pPr>
            <a:r>
              <a:rPr lang="en-US" sz="1650" dirty="0">
                <a:solidFill>
                  <a:srgbClr val="E0D6DE"/>
                </a:solidFill>
                <a:latin typeface="Fira Mono Medium" pitchFamily="34" charset="0"/>
                <a:ea typeface="Fira Mono Medium" pitchFamily="34" charset="-122"/>
                <a:cs typeface="Fira Mono Medium" pitchFamily="34" charset="-120"/>
              </a:rPr>
              <a:t>Update every index on that table</a:t>
            </a:r>
            <a:endParaRPr lang="en-US" sz="1650" dirty="0"/>
          </a:p>
        </p:txBody>
      </p:sp>
      <p:sp>
        <p:nvSpPr>
          <p:cNvPr id="8" name="Text 6"/>
          <p:cNvSpPr/>
          <p:nvPr/>
        </p:nvSpPr>
        <p:spPr>
          <a:xfrm>
            <a:off x="1409105" y="2762012"/>
            <a:ext cx="11812072" cy="240268"/>
          </a:xfrm>
          <a:prstGeom prst="rect">
            <a:avLst/>
          </a:prstGeom>
          <a:noFill/>
          <a:ln/>
        </p:spPr>
        <p:txBody>
          <a:bodyPr wrap="none" lIns="0" tIns="0" rIns="0" bIns="0" rtlCol="0" anchor="t"/>
          <a:lstStyle/>
          <a:p>
            <a:pPr marL="0" indent="0" algn="l">
              <a:lnSpc>
                <a:spcPts val="1850"/>
              </a:lnSpc>
              <a:buNone/>
            </a:pPr>
            <a:r>
              <a:rPr lang="en-US" sz="1300" dirty="0">
                <a:solidFill>
                  <a:srgbClr val="E0D6DE"/>
                </a:solidFill>
                <a:latin typeface="Fira Sans" pitchFamily="34" charset="0"/>
                <a:ea typeface="Fira Sans" pitchFamily="34" charset="-122"/>
                <a:cs typeface="Fira Sans" pitchFamily="34" charset="-120"/>
              </a:rPr>
              <a:t>Consider a write-heavy table like page_views. If you add five indexes:</a:t>
            </a:r>
            <a:endParaRPr lang="en-US" sz="1300" dirty="0"/>
          </a:p>
        </p:txBody>
      </p:sp>
      <p:sp>
        <p:nvSpPr>
          <p:cNvPr id="9" name="Shape 7"/>
          <p:cNvSpPr/>
          <p:nvPr/>
        </p:nvSpPr>
        <p:spPr>
          <a:xfrm>
            <a:off x="1409105" y="3147536"/>
            <a:ext cx="385167" cy="385167"/>
          </a:xfrm>
          <a:prstGeom prst="roundRect">
            <a:avLst>
              <a:gd name="adj" fmla="val 6667"/>
            </a:avLst>
          </a:prstGeom>
          <a:solidFill>
            <a:srgbClr val="2E2E2F"/>
          </a:solidFill>
          <a:ln/>
        </p:spPr>
        <p:txBody>
          <a:bodyPr/>
          <a:lstStyle/>
          <a:p>
            <a:endParaRPr lang="en-US"/>
          </a:p>
        </p:txBody>
      </p:sp>
      <p:sp>
        <p:nvSpPr>
          <p:cNvPr id="10" name="Text 8"/>
          <p:cNvSpPr/>
          <p:nvPr/>
        </p:nvSpPr>
        <p:spPr>
          <a:xfrm>
            <a:off x="1923455" y="3206353"/>
            <a:ext cx="4621530" cy="267414"/>
          </a:xfrm>
          <a:prstGeom prst="rect">
            <a:avLst/>
          </a:prstGeom>
          <a:noFill/>
          <a:ln/>
        </p:spPr>
        <p:txBody>
          <a:bodyPr wrap="none" lIns="0" tIns="0" rIns="0" bIns="0" rtlCol="0" anchor="t"/>
          <a:lstStyle/>
          <a:p>
            <a:pPr marL="0" indent="0" algn="l">
              <a:lnSpc>
                <a:spcPts val="2100"/>
              </a:lnSpc>
              <a:buNone/>
            </a:pPr>
            <a:r>
              <a:rPr lang="en-US" sz="1650" dirty="0">
                <a:solidFill>
                  <a:srgbClr val="E0D6DE"/>
                </a:solidFill>
                <a:latin typeface="Fira Mono Medium" pitchFamily="34" charset="0"/>
                <a:ea typeface="Fira Mono Medium" pitchFamily="34" charset="-122"/>
                <a:cs typeface="Fira Mono Medium" pitchFamily="34" charset="-120"/>
              </a:rPr>
              <a:t>Every insert now performs six writes</a:t>
            </a:r>
            <a:endParaRPr lang="en-US" sz="1650" dirty="0"/>
          </a:p>
        </p:txBody>
      </p:sp>
      <p:sp>
        <p:nvSpPr>
          <p:cNvPr id="11" name="Shape 9"/>
          <p:cNvSpPr/>
          <p:nvPr/>
        </p:nvSpPr>
        <p:spPr>
          <a:xfrm>
            <a:off x="7395805" y="3147536"/>
            <a:ext cx="385167" cy="385167"/>
          </a:xfrm>
          <a:prstGeom prst="roundRect">
            <a:avLst>
              <a:gd name="adj" fmla="val 6667"/>
            </a:avLst>
          </a:prstGeom>
          <a:solidFill>
            <a:srgbClr val="2E2E2F"/>
          </a:solidFill>
          <a:ln/>
        </p:spPr>
        <p:txBody>
          <a:bodyPr/>
          <a:lstStyle/>
          <a:p>
            <a:endParaRPr lang="en-US"/>
          </a:p>
        </p:txBody>
      </p:sp>
      <p:sp>
        <p:nvSpPr>
          <p:cNvPr id="12" name="Text 10"/>
          <p:cNvSpPr/>
          <p:nvPr/>
        </p:nvSpPr>
        <p:spPr>
          <a:xfrm>
            <a:off x="7910155" y="3206353"/>
            <a:ext cx="2310765" cy="267414"/>
          </a:xfrm>
          <a:prstGeom prst="rect">
            <a:avLst/>
          </a:prstGeom>
          <a:noFill/>
          <a:ln/>
        </p:spPr>
        <p:txBody>
          <a:bodyPr wrap="none" lIns="0" tIns="0" rIns="0" bIns="0" rtlCol="0" anchor="t"/>
          <a:lstStyle/>
          <a:p>
            <a:pPr marL="0" indent="0" algn="l">
              <a:lnSpc>
                <a:spcPts val="2100"/>
              </a:lnSpc>
              <a:buNone/>
            </a:pPr>
            <a:r>
              <a:rPr lang="en-US" sz="1650" dirty="0">
                <a:solidFill>
                  <a:srgbClr val="E0D6DE"/>
                </a:solidFill>
                <a:latin typeface="Fira Mono Medium" pitchFamily="34" charset="0"/>
                <a:ea typeface="Fira Mono Medium" pitchFamily="34" charset="-122"/>
                <a:cs typeface="Fira Mono Medium" pitchFamily="34" charset="-120"/>
              </a:rPr>
              <a:t>Disk I/O increases</a:t>
            </a:r>
            <a:endParaRPr lang="en-US" sz="1650" dirty="0"/>
          </a:p>
        </p:txBody>
      </p:sp>
      <p:sp>
        <p:nvSpPr>
          <p:cNvPr id="13" name="Shape 11"/>
          <p:cNvSpPr/>
          <p:nvPr/>
        </p:nvSpPr>
        <p:spPr>
          <a:xfrm>
            <a:off x="1409105" y="3791069"/>
            <a:ext cx="385167" cy="385167"/>
          </a:xfrm>
          <a:prstGeom prst="roundRect">
            <a:avLst>
              <a:gd name="adj" fmla="val 6667"/>
            </a:avLst>
          </a:prstGeom>
          <a:solidFill>
            <a:srgbClr val="2E2E2F"/>
          </a:solidFill>
          <a:ln/>
        </p:spPr>
        <p:txBody>
          <a:bodyPr/>
          <a:lstStyle/>
          <a:p>
            <a:endParaRPr lang="en-US"/>
          </a:p>
        </p:txBody>
      </p:sp>
      <p:sp>
        <p:nvSpPr>
          <p:cNvPr id="14" name="Text 12"/>
          <p:cNvSpPr/>
          <p:nvPr/>
        </p:nvSpPr>
        <p:spPr>
          <a:xfrm>
            <a:off x="1923455" y="3849886"/>
            <a:ext cx="3209330" cy="267414"/>
          </a:xfrm>
          <a:prstGeom prst="rect">
            <a:avLst/>
          </a:prstGeom>
          <a:noFill/>
          <a:ln/>
        </p:spPr>
        <p:txBody>
          <a:bodyPr wrap="none" lIns="0" tIns="0" rIns="0" bIns="0" rtlCol="0" anchor="t"/>
          <a:lstStyle/>
          <a:p>
            <a:pPr marL="0" indent="0" algn="l">
              <a:lnSpc>
                <a:spcPts val="2100"/>
              </a:lnSpc>
              <a:buNone/>
            </a:pPr>
            <a:r>
              <a:rPr lang="en-US" sz="1650" dirty="0">
                <a:solidFill>
                  <a:srgbClr val="E0D6DE"/>
                </a:solidFill>
                <a:latin typeface="Fira Mono Medium" pitchFamily="34" charset="0"/>
                <a:ea typeface="Fira Mono Medium" pitchFamily="34" charset="-122"/>
                <a:cs typeface="Fira Mono Medium" pitchFamily="34" charset="-120"/>
              </a:rPr>
              <a:t>Lock contention increases</a:t>
            </a:r>
            <a:endParaRPr lang="en-US" sz="1650" dirty="0"/>
          </a:p>
        </p:txBody>
      </p:sp>
      <p:sp>
        <p:nvSpPr>
          <p:cNvPr id="15" name="Shape 13"/>
          <p:cNvSpPr/>
          <p:nvPr/>
        </p:nvSpPr>
        <p:spPr>
          <a:xfrm>
            <a:off x="7395805" y="3791069"/>
            <a:ext cx="385167" cy="385167"/>
          </a:xfrm>
          <a:prstGeom prst="roundRect">
            <a:avLst>
              <a:gd name="adj" fmla="val 6667"/>
            </a:avLst>
          </a:prstGeom>
          <a:solidFill>
            <a:srgbClr val="2E2E2F"/>
          </a:solidFill>
          <a:ln/>
        </p:spPr>
        <p:txBody>
          <a:bodyPr/>
          <a:lstStyle/>
          <a:p>
            <a:endParaRPr lang="en-US"/>
          </a:p>
        </p:txBody>
      </p:sp>
      <p:sp>
        <p:nvSpPr>
          <p:cNvPr id="16" name="Text 14"/>
          <p:cNvSpPr/>
          <p:nvPr/>
        </p:nvSpPr>
        <p:spPr>
          <a:xfrm>
            <a:off x="7910155" y="3849886"/>
            <a:ext cx="2139791" cy="267414"/>
          </a:xfrm>
          <a:prstGeom prst="rect">
            <a:avLst/>
          </a:prstGeom>
          <a:noFill/>
          <a:ln/>
        </p:spPr>
        <p:txBody>
          <a:bodyPr wrap="none" lIns="0" tIns="0" rIns="0" bIns="0" rtlCol="0" anchor="t"/>
          <a:lstStyle/>
          <a:p>
            <a:pPr marL="0" indent="0" algn="l">
              <a:lnSpc>
                <a:spcPts val="2100"/>
              </a:lnSpc>
              <a:buNone/>
            </a:pPr>
            <a:r>
              <a:rPr lang="en-US" sz="1650" dirty="0">
                <a:solidFill>
                  <a:srgbClr val="E0D6DE"/>
                </a:solidFill>
                <a:latin typeface="Fira Mono Medium" pitchFamily="34" charset="0"/>
                <a:ea typeface="Fira Mono Medium" pitchFamily="34" charset="-122"/>
                <a:cs typeface="Fira Mono Medium" pitchFamily="34" charset="-120"/>
              </a:rPr>
              <a:t>Throughput drops</a:t>
            </a:r>
            <a:endParaRPr lang="en-US" sz="1650" dirty="0"/>
          </a:p>
        </p:txBody>
      </p:sp>
      <p:sp>
        <p:nvSpPr>
          <p:cNvPr id="17" name="Text 15"/>
          <p:cNvSpPr/>
          <p:nvPr/>
        </p:nvSpPr>
        <p:spPr>
          <a:xfrm>
            <a:off x="1409105" y="4321493"/>
            <a:ext cx="11812072" cy="240268"/>
          </a:xfrm>
          <a:prstGeom prst="rect">
            <a:avLst/>
          </a:prstGeom>
          <a:noFill/>
          <a:ln/>
        </p:spPr>
        <p:txBody>
          <a:bodyPr wrap="none" lIns="0" tIns="0" rIns="0" bIns="0" rtlCol="0" anchor="t"/>
          <a:lstStyle/>
          <a:p>
            <a:pPr marL="0" indent="0" algn="l">
              <a:lnSpc>
                <a:spcPts val="1850"/>
              </a:lnSpc>
              <a:buNone/>
            </a:pPr>
            <a:r>
              <a:rPr lang="en-US" sz="1300" dirty="0">
                <a:solidFill>
                  <a:srgbClr val="E0D6DE"/>
                </a:solidFill>
                <a:latin typeface="Fira Sans" pitchFamily="34" charset="0"/>
                <a:ea typeface="Fira Sans" pitchFamily="34" charset="-122"/>
                <a:cs typeface="Fira Sans" pitchFamily="34" charset="-120"/>
              </a:rPr>
              <a:t>You can demonstrate this idea with:</a:t>
            </a:r>
            <a:endParaRPr lang="en-US" sz="1300" dirty="0"/>
          </a:p>
        </p:txBody>
      </p:sp>
      <p:sp>
        <p:nvSpPr>
          <p:cNvPr id="18" name="Shape 16"/>
          <p:cNvSpPr/>
          <p:nvPr/>
        </p:nvSpPr>
        <p:spPr>
          <a:xfrm>
            <a:off x="1409105" y="4707017"/>
            <a:ext cx="11812072" cy="496967"/>
          </a:xfrm>
          <a:prstGeom prst="roundRect">
            <a:avLst>
              <a:gd name="adj" fmla="val 5167"/>
            </a:avLst>
          </a:prstGeom>
          <a:solidFill>
            <a:srgbClr val="1C1C1D"/>
          </a:solidFill>
          <a:ln/>
        </p:spPr>
        <p:txBody>
          <a:bodyPr/>
          <a:lstStyle/>
          <a:p>
            <a:endParaRPr lang="en-US"/>
          </a:p>
        </p:txBody>
      </p:sp>
      <p:sp>
        <p:nvSpPr>
          <p:cNvPr id="19" name="Shape 17"/>
          <p:cNvSpPr/>
          <p:nvPr/>
        </p:nvSpPr>
        <p:spPr>
          <a:xfrm>
            <a:off x="1400651" y="4707017"/>
            <a:ext cx="11828978" cy="496967"/>
          </a:xfrm>
          <a:prstGeom prst="roundRect">
            <a:avLst>
              <a:gd name="adj" fmla="val 5167"/>
            </a:avLst>
          </a:prstGeom>
          <a:solidFill>
            <a:srgbClr val="1C1C1D"/>
          </a:solidFill>
          <a:ln/>
        </p:spPr>
        <p:txBody>
          <a:bodyPr/>
          <a:lstStyle/>
          <a:p>
            <a:endParaRPr lang="en-US"/>
          </a:p>
        </p:txBody>
      </p:sp>
      <p:sp>
        <p:nvSpPr>
          <p:cNvPr id="20" name="Text 18"/>
          <p:cNvSpPr/>
          <p:nvPr/>
        </p:nvSpPr>
        <p:spPr>
          <a:xfrm>
            <a:off x="1571744" y="4835366"/>
            <a:ext cx="11486793" cy="240268"/>
          </a:xfrm>
          <a:prstGeom prst="rect">
            <a:avLst/>
          </a:prstGeom>
          <a:noFill/>
          <a:ln/>
        </p:spPr>
        <p:txBody>
          <a:bodyPr wrap="none" lIns="0" tIns="0" rIns="0" bIns="0" rtlCol="0" anchor="t"/>
          <a:lstStyle/>
          <a:p>
            <a:pPr marL="0" indent="0" algn="l">
              <a:lnSpc>
                <a:spcPts val="1850"/>
              </a:lnSpc>
              <a:buNone/>
            </a:pPr>
            <a:r>
              <a:rPr lang="en-US" sz="1300" dirty="0">
                <a:solidFill>
                  <a:srgbClr val="E0D6DE"/>
                </a:solidFill>
                <a:highlight>
                  <a:srgbClr val="1C1C1D"/>
                </a:highlight>
                <a:latin typeface="Consolas" pitchFamily="34" charset="0"/>
                <a:ea typeface="Consolas" pitchFamily="34" charset="-122"/>
                <a:cs typeface="Consolas" pitchFamily="34" charset="-120"/>
              </a:rPr>
              <a:t>SHOW INDEX FROM page_views;</a:t>
            </a:r>
            <a:endParaRPr lang="en-US" sz="1300" dirty="0"/>
          </a:p>
        </p:txBody>
      </p:sp>
      <p:sp>
        <p:nvSpPr>
          <p:cNvPr id="21" name="Text 19"/>
          <p:cNvSpPr/>
          <p:nvPr/>
        </p:nvSpPr>
        <p:spPr>
          <a:xfrm>
            <a:off x="1409105" y="5349240"/>
            <a:ext cx="11812072" cy="240268"/>
          </a:xfrm>
          <a:prstGeom prst="rect">
            <a:avLst/>
          </a:prstGeom>
          <a:noFill/>
          <a:ln/>
        </p:spPr>
        <p:txBody>
          <a:bodyPr wrap="none" lIns="0" tIns="0" rIns="0" bIns="0" rtlCol="0" anchor="t"/>
          <a:lstStyle/>
          <a:p>
            <a:pPr marL="0" indent="0" algn="l">
              <a:lnSpc>
                <a:spcPts val="1850"/>
              </a:lnSpc>
              <a:buNone/>
            </a:pPr>
            <a:r>
              <a:rPr lang="en-US" sz="1300" dirty="0">
                <a:solidFill>
                  <a:srgbClr val="E0D6DE"/>
                </a:solidFill>
                <a:latin typeface="Fira Sans" pitchFamily="34" charset="0"/>
                <a:ea typeface="Fira Sans" pitchFamily="34" charset="-122"/>
                <a:cs typeface="Fira Sans" pitchFamily="34" charset="-120"/>
              </a:rPr>
              <a:t>Then ask:</a:t>
            </a:r>
            <a:endParaRPr lang="en-US" sz="1300" dirty="0"/>
          </a:p>
        </p:txBody>
      </p:sp>
      <p:sp>
        <p:nvSpPr>
          <p:cNvPr id="22" name="Text 20"/>
          <p:cNvSpPr/>
          <p:nvPr/>
        </p:nvSpPr>
        <p:spPr>
          <a:xfrm>
            <a:off x="1409105" y="5734764"/>
            <a:ext cx="11812072" cy="480627"/>
          </a:xfrm>
          <a:prstGeom prst="rect">
            <a:avLst/>
          </a:prstGeom>
          <a:noFill/>
          <a:ln/>
        </p:spPr>
        <p:txBody>
          <a:bodyPr wrap="square" lIns="0" tIns="0" rIns="0" bIns="0" rtlCol="0" anchor="t"/>
          <a:lstStyle/>
          <a:p>
            <a:pPr marL="342900" indent="-342900" algn="l">
              <a:lnSpc>
                <a:spcPts val="1850"/>
              </a:lnSpc>
              <a:buSzPct val="100000"/>
              <a:buChar char="•"/>
            </a:pPr>
            <a:r>
              <a:rPr lang="en-US" sz="1300" dirty="0">
                <a:solidFill>
                  <a:srgbClr val="E0D6DE"/>
                </a:solidFill>
                <a:latin typeface="Fira Sans" pitchFamily="34" charset="0"/>
                <a:ea typeface="Fira Sans" pitchFamily="34" charset="-122"/>
                <a:cs typeface="Fira Sans" pitchFamily="34" charset="-120"/>
              </a:rPr>
              <a:t>Which queries justify each index?</a:t>
            </a:r>
            <a:endParaRPr lang="en-US" sz="1300" dirty="0"/>
          </a:p>
          <a:p>
            <a:pPr marL="342900" indent="-342900" algn="l">
              <a:lnSpc>
                <a:spcPts val="1850"/>
              </a:lnSpc>
              <a:buSzPct val="100000"/>
              <a:buChar char="•"/>
            </a:pPr>
            <a:r>
              <a:rPr lang="en-US" sz="1300" dirty="0">
                <a:solidFill>
                  <a:srgbClr val="E0D6DE"/>
                </a:solidFill>
                <a:latin typeface="Fira Sans" pitchFamily="34" charset="0"/>
                <a:ea typeface="Fira Sans" pitchFamily="34" charset="-122"/>
                <a:cs typeface="Fira Sans" pitchFamily="34" charset="-120"/>
              </a:rPr>
              <a:t>Which ones are "just in case" indexes?</a:t>
            </a:r>
            <a:endParaRPr lang="en-US" sz="1300" dirty="0"/>
          </a:p>
        </p:txBody>
      </p:sp>
      <p:sp>
        <p:nvSpPr>
          <p:cNvPr id="23" name="Text 21"/>
          <p:cNvSpPr/>
          <p:nvPr/>
        </p:nvSpPr>
        <p:spPr>
          <a:xfrm>
            <a:off x="1665803" y="6505904"/>
            <a:ext cx="11555373" cy="480536"/>
          </a:xfrm>
          <a:prstGeom prst="rect">
            <a:avLst/>
          </a:prstGeom>
          <a:noFill/>
          <a:ln/>
        </p:spPr>
        <p:txBody>
          <a:bodyPr wrap="square" lIns="0" tIns="0" rIns="0" bIns="0" rtlCol="0" anchor="t"/>
          <a:lstStyle/>
          <a:p>
            <a:pPr marL="0" indent="0" algn="l">
              <a:lnSpc>
                <a:spcPts val="1850"/>
              </a:lnSpc>
              <a:buNone/>
            </a:pPr>
            <a:r>
              <a:rPr lang="en-US" sz="1300" dirty="0">
                <a:solidFill>
                  <a:srgbClr val="E0D6DE"/>
                </a:solidFill>
                <a:latin typeface="Fira Sans" pitchFamily="34" charset="0"/>
                <a:ea typeface="Fira Sans" pitchFamily="34" charset="-122"/>
                <a:cs typeface="Fira Sans" pitchFamily="34" charset="-120"/>
              </a:rPr>
              <a:t>Production engineers regularly remove indexes, not just add them. This is the mindset shift from "add indexes to make queries faster" to "only add indexes that justify their maintenance cost."</a:t>
            </a:r>
            <a:endParaRPr lang="en-US" sz="1300" dirty="0"/>
          </a:p>
        </p:txBody>
      </p:sp>
      <p:sp>
        <p:nvSpPr>
          <p:cNvPr id="24" name="Shape 22"/>
          <p:cNvSpPr/>
          <p:nvPr/>
        </p:nvSpPr>
        <p:spPr>
          <a:xfrm>
            <a:off x="1409105" y="6360648"/>
            <a:ext cx="22860" cy="771049"/>
          </a:xfrm>
          <a:prstGeom prst="rect">
            <a:avLst/>
          </a:prstGeom>
          <a:solidFill>
            <a:srgbClr val="FF6BD8"/>
          </a:solid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3402449" y="464820"/>
            <a:ext cx="7821097"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Composite Indexes and the Leftmost Prefix Rule</a:t>
            </a:r>
            <a:endParaRPr lang="en-US" sz="2200" dirty="0"/>
          </a:p>
        </p:txBody>
      </p:sp>
      <p:sp>
        <p:nvSpPr>
          <p:cNvPr id="3" name="Text 1"/>
          <p:cNvSpPr/>
          <p:nvPr/>
        </p:nvSpPr>
        <p:spPr>
          <a:xfrm>
            <a:off x="3402449" y="932498"/>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This is the single most important indexing concept to understand. Given this index:</a:t>
            </a:r>
            <a:endParaRPr lang="en-US" sz="850" dirty="0"/>
          </a:p>
        </p:txBody>
      </p:sp>
      <p:sp>
        <p:nvSpPr>
          <p:cNvPr id="4" name="Shape 2"/>
          <p:cNvSpPr/>
          <p:nvPr/>
        </p:nvSpPr>
        <p:spPr>
          <a:xfrm>
            <a:off x="3402449" y="1132284"/>
            <a:ext cx="7825502" cy="306110"/>
          </a:xfrm>
          <a:prstGeom prst="roundRect">
            <a:avLst>
              <a:gd name="adj" fmla="val 5558"/>
            </a:avLst>
          </a:prstGeom>
          <a:solidFill>
            <a:srgbClr val="1C1C1D"/>
          </a:solidFill>
          <a:ln/>
        </p:spPr>
        <p:txBody>
          <a:bodyPr/>
          <a:lstStyle/>
          <a:p>
            <a:endParaRPr lang="en-US"/>
          </a:p>
        </p:txBody>
      </p:sp>
      <p:sp>
        <p:nvSpPr>
          <p:cNvPr id="5" name="Shape 3"/>
          <p:cNvSpPr/>
          <p:nvPr/>
        </p:nvSpPr>
        <p:spPr>
          <a:xfrm>
            <a:off x="3396853" y="1132284"/>
            <a:ext cx="7836694" cy="306110"/>
          </a:xfrm>
          <a:prstGeom prst="roundRect">
            <a:avLst>
              <a:gd name="adj" fmla="val 5558"/>
            </a:avLst>
          </a:prstGeom>
          <a:solidFill>
            <a:srgbClr val="1C1C1D"/>
          </a:solidFill>
          <a:ln/>
        </p:spPr>
        <p:txBody>
          <a:bodyPr/>
          <a:lstStyle/>
          <a:p>
            <a:endParaRPr lang="en-US"/>
          </a:p>
        </p:txBody>
      </p:sp>
      <p:sp>
        <p:nvSpPr>
          <p:cNvPr id="6" name="Text 4"/>
          <p:cNvSpPr/>
          <p:nvPr/>
        </p:nvSpPr>
        <p:spPr>
          <a:xfrm>
            <a:off x="3510201" y="1217295"/>
            <a:ext cx="7609999"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highlight>
                  <a:srgbClr val="1C1C1D"/>
                </a:highlight>
                <a:latin typeface="Consolas" pitchFamily="34" charset="0"/>
                <a:ea typeface="Consolas" pitchFamily="34" charset="-122"/>
                <a:cs typeface="Consolas" pitchFamily="34" charset="-120"/>
              </a:rPr>
              <a:t>CREATE INDEX idx_orders_status_placed_customer ON orders(order_status, placed_at, customer_id);</a:t>
            </a:r>
            <a:endParaRPr lang="en-US" sz="850" dirty="0"/>
          </a:p>
        </p:txBody>
      </p:sp>
      <p:sp>
        <p:nvSpPr>
          <p:cNvPr id="7" name="Text 5"/>
          <p:cNvSpPr/>
          <p:nvPr/>
        </p:nvSpPr>
        <p:spPr>
          <a:xfrm>
            <a:off x="3402449" y="1502092"/>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MySQL can efficiently use the index for:</a:t>
            </a:r>
            <a:endParaRPr lang="en-US" sz="850" dirty="0"/>
          </a:p>
        </p:txBody>
      </p:sp>
      <p:sp>
        <p:nvSpPr>
          <p:cNvPr id="8" name="Text 6"/>
          <p:cNvSpPr/>
          <p:nvPr/>
        </p:nvSpPr>
        <p:spPr>
          <a:xfrm>
            <a:off x="3402449" y="1701879"/>
            <a:ext cx="7825502" cy="408291"/>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order_status</a:t>
            </a:r>
            <a:endParaRPr lang="en-US" sz="850" dirty="0"/>
          </a:p>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order_status + placed_at</a:t>
            </a:r>
            <a:endParaRPr lang="en-US" sz="850" dirty="0"/>
          </a:p>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order_status + placed_at + customer_id</a:t>
            </a:r>
            <a:endParaRPr lang="en-US" sz="850" dirty="0"/>
          </a:p>
        </p:txBody>
      </p:sp>
      <p:sp>
        <p:nvSpPr>
          <p:cNvPr id="9" name="Text 7"/>
          <p:cNvSpPr/>
          <p:nvPr/>
        </p:nvSpPr>
        <p:spPr>
          <a:xfrm>
            <a:off x="3402449" y="2173869"/>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But not for:</a:t>
            </a:r>
            <a:endParaRPr lang="en-US" sz="850" dirty="0"/>
          </a:p>
        </p:txBody>
      </p:sp>
      <p:sp>
        <p:nvSpPr>
          <p:cNvPr id="10" name="Text 8"/>
          <p:cNvSpPr/>
          <p:nvPr/>
        </p:nvSpPr>
        <p:spPr>
          <a:xfrm>
            <a:off x="3402449" y="2373656"/>
            <a:ext cx="7825502" cy="408291"/>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placed_at alone</a:t>
            </a:r>
            <a:endParaRPr lang="en-US" sz="850" dirty="0"/>
          </a:p>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customer_id alone</a:t>
            </a:r>
            <a:endParaRPr lang="en-US" sz="850" dirty="0"/>
          </a:p>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placed_at + customer_id</a:t>
            </a:r>
            <a:endParaRPr lang="en-US" sz="850" dirty="0"/>
          </a:p>
        </p:txBody>
      </p:sp>
      <p:sp>
        <p:nvSpPr>
          <p:cNvPr id="11" name="Text 9"/>
          <p:cNvSpPr/>
          <p:nvPr/>
        </p:nvSpPr>
        <p:spPr>
          <a:xfrm>
            <a:off x="3402449" y="4075323"/>
            <a:ext cx="4989671" cy="272177"/>
          </a:xfrm>
          <a:prstGeom prst="rect">
            <a:avLst/>
          </a:prstGeom>
          <a:noFill/>
          <a:ln/>
        </p:spPr>
        <p:txBody>
          <a:bodyPr wrap="squar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Why? Because the index is sorted first by order_status, then within that by placed_at, then by customer_id. Think of it like a phone book sorted by:</a:t>
            </a:r>
            <a:endParaRPr lang="en-US" sz="850" dirty="0"/>
          </a:p>
        </p:txBody>
      </p:sp>
      <p:sp>
        <p:nvSpPr>
          <p:cNvPr id="12" name="Text 10"/>
          <p:cNvSpPr/>
          <p:nvPr/>
        </p:nvSpPr>
        <p:spPr>
          <a:xfrm>
            <a:off x="3402449" y="4398458"/>
            <a:ext cx="4989671" cy="408291"/>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Country</a:t>
            </a:r>
            <a:endParaRPr lang="en-US" sz="850" dirty="0"/>
          </a:p>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City</a:t>
            </a:r>
            <a:endParaRPr lang="en-US" sz="850" dirty="0"/>
          </a:p>
          <a:p>
            <a:pPr marL="342900" indent="-342900" algn="l">
              <a:lnSpc>
                <a:spcPts val="1050"/>
              </a:lnSpc>
              <a:buSzPct val="100000"/>
              <a:buChar char="•"/>
            </a:pPr>
            <a:r>
              <a:rPr lang="en-US" sz="850" dirty="0">
                <a:solidFill>
                  <a:srgbClr val="E0D6DE"/>
                </a:solidFill>
                <a:latin typeface="Fira Sans" pitchFamily="34" charset="0"/>
                <a:ea typeface="Fira Sans" pitchFamily="34" charset="-122"/>
                <a:cs typeface="Fira Sans" pitchFamily="34" charset="-120"/>
              </a:rPr>
              <a:t>Last name</a:t>
            </a:r>
            <a:endParaRPr lang="en-US" sz="850" dirty="0"/>
          </a:p>
        </p:txBody>
      </p:sp>
      <p:sp>
        <p:nvSpPr>
          <p:cNvPr id="13" name="Text 11"/>
          <p:cNvSpPr/>
          <p:nvPr/>
        </p:nvSpPr>
        <p:spPr>
          <a:xfrm>
            <a:off x="3402449" y="4857708"/>
            <a:ext cx="4989671"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You cannot efficiently search by last name if you do not know the country.</a:t>
            </a:r>
            <a:endParaRPr lang="en-US" sz="850" dirty="0"/>
          </a:p>
        </p:txBody>
      </p:sp>
      <p:pic>
        <p:nvPicPr>
          <p:cNvPr id="14" name="Image 0" descr="preencoded.png"/>
          <p:cNvPicPr>
            <a:picLocks noChangeAspect="1"/>
          </p:cNvPicPr>
          <p:nvPr/>
        </p:nvPicPr>
        <p:blipFill>
          <a:blip r:embed="rId3"/>
          <a:stretch>
            <a:fillRect/>
          </a:stretch>
        </p:blipFill>
        <p:spPr>
          <a:xfrm>
            <a:off x="8676442" y="2909344"/>
            <a:ext cx="2559010" cy="3290054"/>
          </a:xfrm>
          <a:prstGeom prst="rect">
            <a:avLst/>
          </a:prstGeom>
        </p:spPr>
      </p:pic>
      <p:sp>
        <p:nvSpPr>
          <p:cNvPr id="15" name="Text 12"/>
          <p:cNvSpPr/>
          <p:nvPr/>
        </p:nvSpPr>
        <p:spPr>
          <a:xfrm>
            <a:off x="3402449" y="6308604"/>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FBF3FA"/>
                </a:solidFill>
                <a:latin typeface="Fira Mono Medium" pitchFamily="34" charset="0"/>
                <a:ea typeface="Fira Mono Medium" pitchFamily="34" charset="-122"/>
                <a:cs typeface="Fira Mono Medium" pitchFamily="34" charset="-120"/>
              </a:rPr>
              <a:t>Concrete demo:</a:t>
            </a:r>
            <a:endParaRPr lang="en-US" sz="1100" dirty="0"/>
          </a:p>
        </p:txBody>
      </p:sp>
      <p:sp>
        <p:nvSpPr>
          <p:cNvPr id="16" name="Shape 13"/>
          <p:cNvSpPr/>
          <p:nvPr/>
        </p:nvSpPr>
        <p:spPr>
          <a:xfrm>
            <a:off x="3402449" y="6570779"/>
            <a:ext cx="7825502" cy="306110"/>
          </a:xfrm>
          <a:prstGeom prst="roundRect">
            <a:avLst>
              <a:gd name="adj" fmla="val 5558"/>
            </a:avLst>
          </a:prstGeom>
          <a:solidFill>
            <a:srgbClr val="1C1C1D"/>
          </a:solidFill>
          <a:ln/>
        </p:spPr>
        <p:txBody>
          <a:bodyPr/>
          <a:lstStyle/>
          <a:p>
            <a:endParaRPr lang="en-US"/>
          </a:p>
        </p:txBody>
      </p:sp>
      <p:sp>
        <p:nvSpPr>
          <p:cNvPr id="17" name="Shape 14"/>
          <p:cNvSpPr/>
          <p:nvPr/>
        </p:nvSpPr>
        <p:spPr>
          <a:xfrm>
            <a:off x="3396853" y="6570779"/>
            <a:ext cx="7836694" cy="306110"/>
          </a:xfrm>
          <a:prstGeom prst="roundRect">
            <a:avLst>
              <a:gd name="adj" fmla="val 5558"/>
            </a:avLst>
          </a:prstGeom>
          <a:solidFill>
            <a:srgbClr val="1C1C1D"/>
          </a:solidFill>
          <a:ln/>
        </p:spPr>
        <p:txBody>
          <a:bodyPr/>
          <a:lstStyle/>
          <a:p>
            <a:endParaRPr lang="en-US"/>
          </a:p>
        </p:txBody>
      </p:sp>
      <p:sp>
        <p:nvSpPr>
          <p:cNvPr id="18" name="Text 15"/>
          <p:cNvSpPr/>
          <p:nvPr/>
        </p:nvSpPr>
        <p:spPr>
          <a:xfrm>
            <a:off x="3510201" y="6655790"/>
            <a:ext cx="7609999"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highlight>
                  <a:srgbClr val="1C1C1D"/>
                </a:highlight>
                <a:latin typeface="Consolas" pitchFamily="34" charset="0"/>
                <a:ea typeface="Consolas" pitchFamily="34" charset="-122"/>
                <a:cs typeface="Consolas" pitchFamily="34" charset="-120"/>
              </a:rPr>
              <a:t>EXPLAIN SELECT * FROM orders WHERE placed_at &gt;= NOW() - INTERVAL 7 DAY;</a:t>
            </a:r>
            <a:endParaRPr lang="en-US" sz="850" dirty="0"/>
          </a:p>
        </p:txBody>
      </p:sp>
      <p:sp>
        <p:nvSpPr>
          <p:cNvPr id="19" name="Text 16"/>
          <p:cNvSpPr/>
          <p:nvPr/>
        </p:nvSpPr>
        <p:spPr>
          <a:xfrm>
            <a:off x="3402449" y="6940587"/>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Even with the composite index above, MySQL may fall back to a table scan or a different index. But this works beautifully:</a:t>
            </a:r>
            <a:endParaRPr lang="en-US" sz="850" dirty="0"/>
          </a:p>
        </p:txBody>
      </p:sp>
      <p:sp>
        <p:nvSpPr>
          <p:cNvPr id="20" name="Shape 17"/>
          <p:cNvSpPr/>
          <p:nvPr/>
        </p:nvSpPr>
        <p:spPr>
          <a:xfrm>
            <a:off x="3402449" y="7140374"/>
            <a:ext cx="7825502" cy="306110"/>
          </a:xfrm>
          <a:prstGeom prst="roundRect">
            <a:avLst>
              <a:gd name="adj" fmla="val 5558"/>
            </a:avLst>
          </a:prstGeom>
          <a:solidFill>
            <a:srgbClr val="1C1C1D"/>
          </a:solidFill>
          <a:ln/>
        </p:spPr>
        <p:txBody>
          <a:bodyPr/>
          <a:lstStyle/>
          <a:p>
            <a:endParaRPr lang="en-US"/>
          </a:p>
        </p:txBody>
      </p:sp>
      <p:sp>
        <p:nvSpPr>
          <p:cNvPr id="21" name="Shape 18"/>
          <p:cNvSpPr/>
          <p:nvPr/>
        </p:nvSpPr>
        <p:spPr>
          <a:xfrm>
            <a:off x="3396853" y="7140374"/>
            <a:ext cx="7836694" cy="306110"/>
          </a:xfrm>
          <a:prstGeom prst="roundRect">
            <a:avLst>
              <a:gd name="adj" fmla="val 5558"/>
            </a:avLst>
          </a:prstGeom>
          <a:solidFill>
            <a:srgbClr val="1C1C1D"/>
          </a:solidFill>
          <a:ln/>
        </p:spPr>
        <p:txBody>
          <a:bodyPr/>
          <a:lstStyle/>
          <a:p>
            <a:endParaRPr lang="en-US"/>
          </a:p>
        </p:txBody>
      </p:sp>
      <p:sp>
        <p:nvSpPr>
          <p:cNvPr id="22" name="Text 19"/>
          <p:cNvSpPr/>
          <p:nvPr/>
        </p:nvSpPr>
        <p:spPr>
          <a:xfrm>
            <a:off x="3510201" y="7225385"/>
            <a:ext cx="7609999"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highlight>
                  <a:srgbClr val="1C1C1D"/>
                </a:highlight>
                <a:latin typeface="Consolas" pitchFamily="34" charset="0"/>
                <a:ea typeface="Consolas" pitchFamily="34" charset="-122"/>
                <a:cs typeface="Consolas" pitchFamily="34" charset="-120"/>
              </a:rPr>
              <a:t>EXPLAIN SELECT * FROM orders WHERE order_status = 'SHIPPED' AND placed_at &gt;= NOW() - INTERVAL 7 DAY;</a:t>
            </a:r>
            <a:endParaRPr lang="en-US" sz="850" dirty="0"/>
          </a:p>
        </p:txBody>
      </p:sp>
      <p:sp>
        <p:nvSpPr>
          <p:cNvPr id="23" name="Text 20"/>
          <p:cNvSpPr/>
          <p:nvPr/>
        </p:nvSpPr>
        <p:spPr>
          <a:xfrm>
            <a:off x="3402449" y="7510182"/>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E0D6DE"/>
                </a:solidFill>
                <a:latin typeface="Fira Sans" pitchFamily="34" charset="0"/>
                <a:ea typeface="Fira Sans" pitchFamily="34" charset="-122"/>
                <a:cs typeface="Fira Sans" pitchFamily="34" charset="-120"/>
              </a:rPr>
              <a:t>Same table, same index, very different execution.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2585" y="813911"/>
            <a:ext cx="10823972" cy="609362"/>
          </a:xfrm>
          <a:prstGeom prst="rect">
            <a:avLst/>
          </a:prstGeom>
          <a:noFill/>
          <a:ln/>
        </p:spPr>
        <p:txBody>
          <a:bodyPr wrap="none" lIns="0" tIns="0" rIns="0" bIns="0" rtlCol="0" anchor="t"/>
          <a:lstStyle/>
          <a:p>
            <a:pPr marL="0" indent="0" algn="l">
              <a:lnSpc>
                <a:spcPts val="4750"/>
              </a:lnSpc>
              <a:buNone/>
            </a:pPr>
            <a:r>
              <a:rPr lang="en-US" sz="3800" dirty="0">
                <a:solidFill>
                  <a:srgbClr val="FBF3FA"/>
                </a:solidFill>
                <a:latin typeface="Fira Mono Medium" pitchFamily="34" charset="0"/>
                <a:ea typeface="Fira Mono Medium" pitchFamily="34" charset="-122"/>
                <a:cs typeface="Fira Mono Medium" pitchFamily="34" charset="-120"/>
              </a:rPr>
              <a:t>When Indexes Help and When They Don't</a:t>
            </a:r>
            <a:endParaRPr lang="en-US" sz="3800" dirty="0"/>
          </a:p>
        </p:txBody>
      </p:sp>
      <p:sp>
        <p:nvSpPr>
          <p:cNvPr id="3" name="Text 1"/>
          <p:cNvSpPr/>
          <p:nvPr/>
        </p:nvSpPr>
        <p:spPr>
          <a:xfrm>
            <a:off x="682585" y="1842373"/>
            <a:ext cx="2632234" cy="304800"/>
          </a:xfrm>
          <a:prstGeom prst="rect">
            <a:avLst/>
          </a:prstGeom>
          <a:noFill/>
          <a:ln/>
        </p:spPr>
        <p:txBody>
          <a:bodyPr wrap="none" lIns="0" tIns="0" rIns="0" bIns="0" rtlCol="0" anchor="t"/>
          <a:lstStyle/>
          <a:p>
            <a:pPr marL="0" indent="0" algn="l">
              <a:lnSpc>
                <a:spcPts val="2350"/>
              </a:lnSpc>
              <a:buNone/>
            </a:pPr>
            <a:r>
              <a:rPr lang="en-US" sz="1900" dirty="0">
                <a:solidFill>
                  <a:srgbClr val="FBF3FA"/>
                </a:solidFill>
                <a:latin typeface="Fira Mono Medium" pitchFamily="34" charset="0"/>
                <a:ea typeface="Fira Mono Medium" pitchFamily="34" charset="-122"/>
                <a:cs typeface="Fira Mono Medium" pitchFamily="34" charset="-120"/>
              </a:rPr>
              <a:t>Indexes help when:</a:t>
            </a:r>
            <a:endParaRPr lang="en-US" sz="1900" dirty="0"/>
          </a:p>
        </p:txBody>
      </p:sp>
      <p:sp>
        <p:nvSpPr>
          <p:cNvPr id="4" name="Text 2"/>
          <p:cNvSpPr/>
          <p:nvPr/>
        </p:nvSpPr>
        <p:spPr>
          <a:xfrm>
            <a:off x="682585" y="2314813"/>
            <a:ext cx="6394728" cy="1160816"/>
          </a:xfrm>
          <a:prstGeom prst="rect">
            <a:avLst/>
          </a:prstGeom>
          <a:noFill/>
          <a:ln/>
        </p:spPr>
        <p:txBody>
          <a:bodyPr wrap="square" lIns="0" tIns="0" rIns="0" bIns="0" rtlCol="0" anchor="t"/>
          <a:lstStyle/>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filter using WHERE</a:t>
            </a:r>
            <a:endParaRPr lang="en-US" sz="1500" dirty="0"/>
          </a:p>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join tables on indexed columns</a:t>
            </a:r>
            <a:endParaRPr lang="en-US" sz="1500" dirty="0"/>
          </a:p>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sort using ORDER BY</a:t>
            </a:r>
            <a:endParaRPr lang="en-US" sz="1500" dirty="0"/>
          </a:p>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limit results with LIMIT</a:t>
            </a:r>
            <a:endParaRPr lang="en-US" sz="1500" dirty="0"/>
          </a:p>
        </p:txBody>
      </p:sp>
      <p:sp>
        <p:nvSpPr>
          <p:cNvPr id="5" name="Text 3"/>
          <p:cNvSpPr/>
          <p:nvPr/>
        </p:nvSpPr>
        <p:spPr>
          <a:xfrm>
            <a:off x="682585" y="3509231"/>
            <a:ext cx="6394728" cy="290155"/>
          </a:xfrm>
          <a:prstGeom prst="rect">
            <a:avLst/>
          </a:prstGeom>
          <a:noFill/>
          <a:ln/>
        </p:spPr>
        <p:txBody>
          <a:bodyPr wrap="none" lIns="0" tIns="0" rIns="0" bIns="0" rtlCol="0" anchor="t"/>
          <a:lstStyle/>
          <a:p>
            <a:pPr marL="0" indent="0" algn="l">
              <a:lnSpc>
                <a:spcPts val="2250"/>
              </a:lnSpc>
              <a:buNone/>
            </a:pPr>
            <a:r>
              <a:rPr lang="en-US" sz="1500" dirty="0">
                <a:solidFill>
                  <a:srgbClr val="E0D6DE"/>
                </a:solidFill>
                <a:latin typeface="Fira Sans" pitchFamily="34" charset="0"/>
                <a:ea typeface="Fira Sans" pitchFamily="34" charset="-122"/>
                <a:cs typeface="Fira Sans" pitchFamily="34" charset="-120"/>
              </a:rPr>
              <a:t>Example where an index helps:</a:t>
            </a:r>
            <a:endParaRPr lang="en-US" sz="1500" dirty="0"/>
          </a:p>
        </p:txBody>
      </p:sp>
      <p:sp>
        <p:nvSpPr>
          <p:cNvPr id="6" name="Shape 4"/>
          <p:cNvSpPr/>
          <p:nvPr/>
        </p:nvSpPr>
        <p:spPr>
          <a:xfrm>
            <a:off x="682585" y="3987981"/>
            <a:ext cx="6394728" cy="872728"/>
          </a:xfrm>
          <a:prstGeom prst="roundRect">
            <a:avLst>
              <a:gd name="adj" fmla="val 3352"/>
            </a:avLst>
          </a:prstGeom>
          <a:solidFill>
            <a:srgbClr val="1C1C1D"/>
          </a:solidFill>
          <a:ln/>
        </p:spPr>
        <p:txBody>
          <a:bodyPr/>
          <a:lstStyle/>
          <a:p>
            <a:endParaRPr lang="en-US"/>
          </a:p>
        </p:txBody>
      </p:sp>
      <p:sp>
        <p:nvSpPr>
          <p:cNvPr id="7" name="Shape 5"/>
          <p:cNvSpPr/>
          <p:nvPr/>
        </p:nvSpPr>
        <p:spPr>
          <a:xfrm>
            <a:off x="672941" y="3987981"/>
            <a:ext cx="6414016" cy="872728"/>
          </a:xfrm>
          <a:prstGeom prst="roundRect">
            <a:avLst>
              <a:gd name="adj" fmla="val 3352"/>
            </a:avLst>
          </a:prstGeom>
          <a:solidFill>
            <a:srgbClr val="1C1C1D"/>
          </a:solidFill>
          <a:ln/>
        </p:spPr>
        <p:txBody>
          <a:bodyPr/>
          <a:lstStyle/>
          <a:p>
            <a:endParaRPr lang="en-US"/>
          </a:p>
        </p:txBody>
      </p:sp>
      <p:sp>
        <p:nvSpPr>
          <p:cNvPr id="8" name="Text 6"/>
          <p:cNvSpPr/>
          <p:nvPr/>
        </p:nvSpPr>
        <p:spPr>
          <a:xfrm>
            <a:off x="867966" y="4134190"/>
            <a:ext cx="6023967" cy="580311"/>
          </a:xfrm>
          <a:prstGeom prst="rect">
            <a:avLst/>
          </a:prstGeom>
          <a:noFill/>
          <a:ln/>
        </p:spPr>
        <p:txBody>
          <a:bodyPr wrap="square" lIns="0" tIns="0" rIns="0" bIns="0" rtlCol="0" anchor="t"/>
          <a:lstStyle/>
          <a:p>
            <a:pPr marL="0" indent="0" algn="l">
              <a:lnSpc>
                <a:spcPts val="2250"/>
              </a:lnSpc>
              <a:buNone/>
            </a:pPr>
            <a:r>
              <a:rPr lang="en-US" sz="1500" dirty="0">
                <a:solidFill>
                  <a:srgbClr val="E0D6DE"/>
                </a:solidFill>
                <a:highlight>
                  <a:srgbClr val="1C1C1D"/>
                </a:highlight>
                <a:latin typeface="Consolas" pitchFamily="34" charset="0"/>
                <a:ea typeface="Consolas" pitchFamily="34" charset="-122"/>
                <a:cs typeface="Consolas" pitchFamily="34" charset="-120"/>
              </a:rPr>
              <a:t>SELECT * FROM orders WHERE order_status = 'SHIPPED' AND placed_at &gt;= NOW() - INTERVAL 7 DAY;</a:t>
            </a:r>
            <a:endParaRPr lang="en-US" sz="1500" dirty="0"/>
          </a:p>
        </p:txBody>
      </p:sp>
      <p:sp>
        <p:nvSpPr>
          <p:cNvPr id="9" name="Text 7"/>
          <p:cNvSpPr/>
          <p:nvPr/>
        </p:nvSpPr>
        <p:spPr>
          <a:xfrm>
            <a:off x="682585" y="5049304"/>
            <a:ext cx="6394728" cy="580311"/>
          </a:xfrm>
          <a:prstGeom prst="rect">
            <a:avLst/>
          </a:prstGeom>
          <a:noFill/>
          <a:ln/>
        </p:spPr>
        <p:txBody>
          <a:bodyPr wrap="square" lIns="0" tIns="0" rIns="0" bIns="0" rtlCol="0" anchor="t"/>
          <a:lstStyle/>
          <a:p>
            <a:pPr marL="0" indent="0" algn="l">
              <a:lnSpc>
                <a:spcPts val="2250"/>
              </a:lnSpc>
              <a:buNone/>
            </a:pPr>
            <a:r>
              <a:rPr lang="en-US" sz="1500" dirty="0">
                <a:solidFill>
                  <a:srgbClr val="E0D6DE"/>
                </a:solidFill>
                <a:latin typeface="Fira Sans" pitchFamily="34" charset="0"/>
                <a:ea typeface="Fira Sans" pitchFamily="34" charset="-122"/>
                <a:cs typeface="Fira Sans" pitchFamily="34" charset="-120"/>
              </a:rPr>
              <a:t>An index on (order_status, placed_at) allows MySQL to jump straight to recent shipped orders.</a:t>
            </a:r>
            <a:endParaRPr lang="en-US" sz="1500" dirty="0"/>
          </a:p>
        </p:txBody>
      </p:sp>
      <p:sp>
        <p:nvSpPr>
          <p:cNvPr id="10" name="Text 8"/>
          <p:cNvSpPr/>
          <p:nvPr/>
        </p:nvSpPr>
        <p:spPr>
          <a:xfrm>
            <a:off x="7560707" y="1842373"/>
            <a:ext cx="3655814" cy="304800"/>
          </a:xfrm>
          <a:prstGeom prst="rect">
            <a:avLst/>
          </a:prstGeom>
          <a:noFill/>
          <a:ln/>
        </p:spPr>
        <p:txBody>
          <a:bodyPr wrap="none" lIns="0" tIns="0" rIns="0" bIns="0" rtlCol="0" anchor="t"/>
          <a:lstStyle/>
          <a:p>
            <a:pPr marL="0" indent="0" algn="l">
              <a:lnSpc>
                <a:spcPts val="2350"/>
              </a:lnSpc>
              <a:buNone/>
            </a:pPr>
            <a:r>
              <a:rPr lang="en-US" sz="1900" dirty="0">
                <a:solidFill>
                  <a:srgbClr val="FBF3FA"/>
                </a:solidFill>
                <a:latin typeface="Fira Mono Medium" pitchFamily="34" charset="0"/>
                <a:ea typeface="Fira Mono Medium" pitchFamily="34" charset="-122"/>
                <a:cs typeface="Fira Mono Medium" pitchFamily="34" charset="-120"/>
              </a:rPr>
              <a:t>Indexes do not help when:</a:t>
            </a:r>
            <a:endParaRPr lang="en-US" sz="1900" dirty="0"/>
          </a:p>
        </p:txBody>
      </p:sp>
      <p:sp>
        <p:nvSpPr>
          <p:cNvPr id="11" name="Text 9"/>
          <p:cNvSpPr/>
          <p:nvPr/>
        </p:nvSpPr>
        <p:spPr>
          <a:xfrm>
            <a:off x="7560707" y="2314813"/>
            <a:ext cx="6394728" cy="870612"/>
          </a:xfrm>
          <a:prstGeom prst="rect">
            <a:avLst/>
          </a:prstGeom>
          <a:noFill/>
          <a:ln/>
        </p:spPr>
        <p:txBody>
          <a:bodyPr wrap="square" lIns="0" tIns="0" rIns="0" bIns="0" rtlCol="0" anchor="t"/>
          <a:lstStyle/>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apply functions to indexed columns</a:t>
            </a:r>
            <a:endParaRPr lang="en-US" sz="1500" dirty="0"/>
          </a:p>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filter on very low selectivity columns</a:t>
            </a:r>
            <a:endParaRPr lang="en-US" sz="1500" dirty="0"/>
          </a:p>
          <a:p>
            <a:pPr marL="342900" indent="-342900" algn="l">
              <a:lnSpc>
                <a:spcPts val="2250"/>
              </a:lnSpc>
              <a:buSzPct val="100000"/>
              <a:buChar char="•"/>
            </a:pPr>
            <a:r>
              <a:rPr lang="en-US" sz="1500" dirty="0">
                <a:solidFill>
                  <a:srgbClr val="E0D6DE"/>
                </a:solidFill>
                <a:latin typeface="Fira Sans" pitchFamily="34" charset="0"/>
                <a:ea typeface="Fira Sans" pitchFamily="34" charset="-122"/>
                <a:cs typeface="Fira Sans" pitchFamily="34" charset="-120"/>
              </a:rPr>
              <a:t>You use patterns that prevent index usage</a:t>
            </a:r>
            <a:endParaRPr lang="en-US" sz="1500" dirty="0"/>
          </a:p>
        </p:txBody>
      </p:sp>
      <p:sp>
        <p:nvSpPr>
          <p:cNvPr id="12" name="Text 10"/>
          <p:cNvSpPr/>
          <p:nvPr/>
        </p:nvSpPr>
        <p:spPr>
          <a:xfrm>
            <a:off x="7560707" y="3336277"/>
            <a:ext cx="6394728" cy="290155"/>
          </a:xfrm>
          <a:prstGeom prst="rect">
            <a:avLst/>
          </a:prstGeom>
          <a:noFill/>
          <a:ln/>
        </p:spPr>
        <p:txBody>
          <a:bodyPr wrap="none" lIns="0" tIns="0" rIns="0" bIns="0" rtlCol="0" anchor="t"/>
          <a:lstStyle/>
          <a:p>
            <a:pPr marL="0" indent="0" algn="l">
              <a:lnSpc>
                <a:spcPts val="2250"/>
              </a:lnSpc>
              <a:buNone/>
            </a:pPr>
            <a:r>
              <a:rPr lang="en-US" sz="1500" dirty="0">
                <a:solidFill>
                  <a:srgbClr val="E0D6DE"/>
                </a:solidFill>
                <a:latin typeface="Fira Sans" pitchFamily="34" charset="0"/>
                <a:ea typeface="Fira Sans" pitchFamily="34" charset="-122"/>
                <a:cs typeface="Fira Sans" pitchFamily="34" charset="-120"/>
              </a:rPr>
              <a:t>Bad example:</a:t>
            </a:r>
            <a:endParaRPr lang="en-US" sz="1500" dirty="0"/>
          </a:p>
        </p:txBody>
      </p:sp>
      <p:sp>
        <p:nvSpPr>
          <p:cNvPr id="13" name="Shape 11"/>
          <p:cNvSpPr/>
          <p:nvPr/>
        </p:nvSpPr>
        <p:spPr>
          <a:xfrm>
            <a:off x="7560707" y="3639128"/>
            <a:ext cx="6394728" cy="582573"/>
          </a:xfrm>
          <a:prstGeom prst="roundRect">
            <a:avLst>
              <a:gd name="adj" fmla="val 5022"/>
            </a:avLst>
          </a:prstGeom>
          <a:solidFill>
            <a:srgbClr val="1C1C1D"/>
          </a:solidFill>
          <a:ln/>
        </p:spPr>
        <p:txBody>
          <a:bodyPr/>
          <a:lstStyle/>
          <a:p>
            <a:endParaRPr lang="en-US"/>
          </a:p>
        </p:txBody>
      </p:sp>
      <p:sp>
        <p:nvSpPr>
          <p:cNvPr id="14" name="Shape 12"/>
          <p:cNvSpPr/>
          <p:nvPr/>
        </p:nvSpPr>
        <p:spPr>
          <a:xfrm>
            <a:off x="7551063" y="3639128"/>
            <a:ext cx="6414016" cy="582573"/>
          </a:xfrm>
          <a:prstGeom prst="roundRect">
            <a:avLst>
              <a:gd name="adj" fmla="val 5022"/>
            </a:avLst>
          </a:prstGeom>
          <a:solidFill>
            <a:srgbClr val="1C1C1D"/>
          </a:solidFill>
          <a:ln/>
        </p:spPr>
        <p:txBody>
          <a:bodyPr/>
          <a:lstStyle/>
          <a:p>
            <a:endParaRPr lang="en-US"/>
          </a:p>
        </p:txBody>
      </p:sp>
      <p:sp>
        <p:nvSpPr>
          <p:cNvPr id="15" name="Text 13"/>
          <p:cNvSpPr/>
          <p:nvPr/>
        </p:nvSpPr>
        <p:spPr>
          <a:xfrm>
            <a:off x="7746087" y="3785337"/>
            <a:ext cx="6023967" cy="290155"/>
          </a:xfrm>
          <a:prstGeom prst="rect">
            <a:avLst/>
          </a:prstGeom>
          <a:noFill/>
          <a:ln/>
        </p:spPr>
        <p:txBody>
          <a:bodyPr wrap="none" lIns="0" tIns="0" rIns="0" bIns="0" rtlCol="0" anchor="t"/>
          <a:lstStyle/>
          <a:p>
            <a:pPr marL="0" indent="0" algn="l">
              <a:lnSpc>
                <a:spcPts val="2250"/>
              </a:lnSpc>
              <a:buNone/>
            </a:pPr>
            <a:r>
              <a:rPr lang="en-US" sz="1500" dirty="0">
                <a:solidFill>
                  <a:srgbClr val="E0D6DE"/>
                </a:solidFill>
                <a:highlight>
                  <a:srgbClr val="1C1C1D"/>
                </a:highlight>
                <a:latin typeface="Consolas" pitchFamily="34" charset="0"/>
                <a:ea typeface="Consolas" pitchFamily="34" charset="-122"/>
                <a:cs typeface="Consolas" pitchFamily="34" charset="-120"/>
              </a:rPr>
              <a:t>SELECT * FROM orders WHERE YEAR(placed_at) = 2024;</a:t>
            </a:r>
            <a:endParaRPr lang="en-US" sz="1500" dirty="0"/>
          </a:p>
        </p:txBody>
      </p:sp>
      <p:sp>
        <p:nvSpPr>
          <p:cNvPr id="16" name="Text 14"/>
          <p:cNvSpPr/>
          <p:nvPr/>
        </p:nvSpPr>
        <p:spPr>
          <a:xfrm>
            <a:off x="7560707" y="4410296"/>
            <a:ext cx="6394728" cy="580311"/>
          </a:xfrm>
          <a:prstGeom prst="rect">
            <a:avLst/>
          </a:prstGeom>
          <a:noFill/>
          <a:ln/>
        </p:spPr>
        <p:txBody>
          <a:bodyPr wrap="square" lIns="0" tIns="0" rIns="0" bIns="0" rtlCol="0" anchor="t"/>
          <a:lstStyle/>
          <a:p>
            <a:pPr marL="0" indent="0" algn="l">
              <a:lnSpc>
                <a:spcPts val="2250"/>
              </a:lnSpc>
              <a:buNone/>
            </a:pPr>
            <a:r>
              <a:rPr lang="en-US" sz="1500" dirty="0">
                <a:solidFill>
                  <a:srgbClr val="E0D6DE"/>
                </a:solidFill>
                <a:latin typeface="Fira Sans" pitchFamily="34" charset="0"/>
                <a:ea typeface="Fira Sans" pitchFamily="34" charset="-122"/>
                <a:cs typeface="Fira Sans" pitchFamily="34" charset="-120"/>
              </a:rPr>
              <a:t>Even if placed_at is indexed, MySQL cannot use the index efficiently because it must compute YEAR() for every row.</a:t>
            </a:r>
            <a:endParaRPr lang="en-US" sz="1500" dirty="0"/>
          </a:p>
        </p:txBody>
      </p:sp>
      <p:sp>
        <p:nvSpPr>
          <p:cNvPr id="17" name="Text 15"/>
          <p:cNvSpPr/>
          <p:nvPr/>
        </p:nvSpPr>
        <p:spPr>
          <a:xfrm>
            <a:off x="7560707" y="5141459"/>
            <a:ext cx="6394728" cy="290155"/>
          </a:xfrm>
          <a:prstGeom prst="rect">
            <a:avLst/>
          </a:prstGeom>
          <a:noFill/>
          <a:ln/>
        </p:spPr>
        <p:txBody>
          <a:bodyPr wrap="none" lIns="0" tIns="0" rIns="0" bIns="0" rtlCol="0" anchor="t"/>
          <a:lstStyle/>
          <a:p>
            <a:pPr marL="0" indent="0" algn="l">
              <a:lnSpc>
                <a:spcPts val="2250"/>
              </a:lnSpc>
              <a:buNone/>
            </a:pPr>
            <a:r>
              <a:rPr lang="en-US" sz="1500" dirty="0">
                <a:solidFill>
                  <a:srgbClr val="E0D6DE"/>
                </a:solidFill>
                <a:latin typeface="Fira Sans" pitchFamily="34" charset="0"/>
                <a:ea typeface="Fira Sans" pitchFamily="34" charset="-122"/>
                <a:cs typeface="Fira Sans" pitchFamily="34" charset="-120"/>
              </a:rPr>
              <a:t>Better version:</a:t>
            </a:r>
            <a:endParaRPr lang="en-US" sz="1500" dirty="0"/>
          </a:p>
        </p:txBody>
      </p:sp>
      <p:sp>
        <p:nvSpPr>
          <p:cNvPr id="18" name="Shape 16"/>
          <p:cNvSpPr/>
          <p:nvPr/>
        </p:nvSpPr>
        <p:spPr>
          <a:xfrm>
            <a:off x="7560707" y="5620209"/>
            <a:ext cx="6394728" cy="872728"/>
          </a:xfrm>
          <a:prstGeom prst="roundRect">
            <a:avLst>
              <a:gd name="adj" fmla="val 3352"/>
            </a:avLst>
          </a:prstGeom>
          <a:solidFill>
            <a:srgbClr val="1C1C1D"/>
          </a:solidFill>
          <a:ln/>
        </p:spPr>
        <p:txBody>
          <a:bodyPr/>
          <a:lstStyle/>
          <a:p>
            <a:endParaRPr lang="en-US"/>
          </a:p>
        </p:txBody>
      </p:sp>
      <p:sp>
        <p:nvSpPr>
          <p:cNvPr id="19" name="Shape 17"/>
          <p:cNvSpPr/>
          <p:nvPr/>
        </p:nvSpPr>
        <p:spPr>
          <a:xfrm>
            <a:off x="7551063" y="5620209"/>
            <a:ext cx="6414016" cy="872728"/>
          </a:xfrm>
          <a:prstGeom prst="roundRect">
            <a:avLst>
              <a:gd name="adj" fmla="val 3352"/>
            </a:avLst>
          </a:prstGeom>
          <a:solidFill>
            <a:srgbClr val="1C1C1D"/>
          </a:solidFill>
          <a:ln/>
        </p:spPr>
        <p:txBody>
          <a:bodyPr/>
          <a:lstStyle/>
          <a:p>
            <a:endParaRPr lang="en-US"/>
          </a:p>
        </p:txBody>
      </p:sp>
      <p:sp>
        <p:nvSpPr>
          <p:cNvPr id="20" name="Text 18"/>
          <p:cNvSpPr/>
          <p:nvPr/>
        </p:nvSpPr>
        <p:spPr>
          <a:xfrm>
            <a:off x="7746087" y="5766418"/>
            <a:ext cx="6023967" cy="580311"/>
          </a:xfrm>
          <a:prstGeom prst="rect">
            <a:avLst/>
          </a:prstGeom>
          <a:noFill/>
          <a:ln/>
        </p:spPr>
        <p:txBody>
          <a:bodyPr wrap="square" lIns="0" tIns="0" rIns="0" bIns="0" rtlCol="0" anchor="t"/>
          <a:lstStyle/>
          <a:p>
            <a:pPr marL="0" indent="0" algn="l">
              <a:lnSpc>
                <a:spcPts val="2250"/>
              </a:lnSpc>
              <a:buNone/>
            </a:pPr>
            <a:r>
              <a:rPr lang="en-US" sz="1500" dirty="0">
                <a:solidFill>
                  <a:srgbClr val="E0D6DE"/>
                </a:solidFill>
                <a:highlight>
                  <a:srgbClr val="1C1C1D"/>
                </a:highlight>
                <a:latin typeface="Consolas" pitchFamily="34" charset="0"/>
                <a:ea typeface="Consolas" pitchFamily="34" charset="-122"/>
                <a:cs typeface="Consolas" pitchFamily="34" charset="-120"/>
              </a:rPr>
              <a:t>SELECT * FROM orders WHERE placed_at &gt;= '2024-01-01' AND placed_at &lt; '2025-01-01';</a:t>
            </a:r>
            <a:endParaRPr lang="en-US" sz="1500" dirty="0"/>
          </a:p>
        </p:txBody>
      </p:sp>
      <p:sp>
        <p:nvSpPr>
          <p:cNvPr id="21" name="Text 19"/>
          <p:cNvSpPr/>
          <p:nvPr/>
        </p:nvSpPr>
        <p:spPr>
          <a:xfrm>
            <a:off x="7560707" y="6681532"/>
            <a:ext cx="6394728" cy="290155"/>
          </a:xfrm>
          <a:prstGeom prst="rect">
            <a:avLst/>
          </a:prstGeom>
          <a:noFill/>
          <a:ln/>
        </p:spPr>
        <p:txBody>
          <a:bodyPr wrap="none" lIns="0" tIns="0" rIns="0" bIns="0" rtlCol="0" anchor="t"/>
          <a:lstStyle/>
          <a:p>
            <a:pPr marL="0" indent="0" algn="l">
              <a:lnSpc>
                <a:spcPts val="2250"/>
              </a:lnSpc>
              <a:buNone/>
            </a:pPr>
            <a:r>
              <a:rPr lang="en-US" sz="1500" dirty="0">
                <a:solidFill>
                  <a:srgbClr val="E0D6DE"/>
                </a:solidFill>
                <a:latin typeface="Fira Sans" pitchFamily="34" charset="0"/>
                <a:ea typeface="Fira Sans" pitchFamily="34" charset="-122"/>
                <a:cs typeface="Fira Sans" pitchFamily="34" charset="-120"/>
              </a:rPr>
              <a:t>Same logic, completely different performance.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1830705" y="1048464"/>
            <a:ext cx="6436519" cy="496729"/>
          </a:xfrm>
          <a:prstGeom prst="rect">
            <a:avLst/>
          </a:prstGeom>
          <a:noFill/>
          <a:ln/>
        </p:spPr>
        <p:txBody>
          <a:bodyPr wrap="none" lIns="0" tIns="0" rIns="0" bIns="0" rtlCol="0" anchor="t"/>
          <a:lstStyle/>
          <a:p>
            <a:pPr marL="0" indent="0" algn="l">
              <a:lnSpc>
                <a:spcPts val="3900"/>
              </a:lnSpc>
              <a:buNone/>
            </a:pPr>
            <a:r>
              <a:rPr lang="en-US" sz="3100" dirty="0">
                <a:solidFill>
                  <a:srgbClr val="FBF3FA"/>
                </a:solidFill>
                <a:latin typeface="Fira Mono Medium" pitchFamily="34" charset="0"/>
                <a:ea typeface="Fira Mono Medium" pitchFamily="34" charset="-122"/>
                <a:cs typeface="Fira Mono Medium" pitchFamily="34" charset="-120"/>
              </a:rPr>
              <a:t>Common Index Types in MySQL</a:t>
            </a:r>
            <a:endParaRPr lang="en-US" sz="3100" dirty="0"/>
          </a:p>
        </p:txBody>
      </p:sp>
      <p:sp>
        <p:nvSpPr>
          <p:cNvPr id="3" name="Text 1"/>
          <p:cNvSpPr/>
          <p:nvPr/>
        </p:nvSpPr>
        <p:spPr>
          <a:xfrm>
            <a:off x="1830705" y="1767959"/>
            <a:ext cx="10968990" cy="216218"/>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The most common index types you will see are:</a:t>
            </a:r>
            <a:endParaRPr lang="en-US" sz="1250" dirty="0"/>
          </a:p>
        </p:txBody>
      </p:sp>
      <p:sp>
        <p:nvSpPr>
          <p:cNvPr id="4" name="Shape 2"/>
          <p:cNvSpPr/>
          <p:nvPr/>
        </p:nvSpPr>
        <p:spPr>
          <a:xfrm>
            <a:off x="1830705" y="2109430"/>
            <a:ext cx="5428774" cy="1985129"/>
          </a:xfrm>
          <a:prstGeom prst="roundRect">
            <a:avLst>
              <a:gd name="adj" fmla="val 1201"/>
            </a:avLst>
          </a:prstGeom>
          <a:solidFill>
            <a:srgbClr val="0F0F10"/>
          </a:solidFill>
          <a:ln w="22860">
            <a:solidFill>
              <a:srgbClr val="474748"/>
            </a:solidFill>
            <a:prstDash val="solid"/>
          </a:ln>
        </p:spPr>
        <p:txBody>
          <a:bodyPr/>
          <a:lstStyle/>
          <a:p>
            <a:endParaRPr lang="en-US"/>
          </a:p>
        </p:txBody>
      </p:sp>
      <p:sp>
        <p:nvSpPr>
          <p:cNvPr id="5" name="Shape 3"/>
          <p:cNvSpPr/>
          <p:nvPr/>
        </p:nvSpPr>
        <p:spPr>
          <a:xfrm>
            <a:off x="2012513" y="2291239"/>
            <a:ext cx="5065157" cy="454581"/>
          </a:xfrm>
          <a:prstGeom prst="roundRect">
            <a:avLst>
              <a:gd name="adj" fmla="val 5246"/>
            </a:avLst>
          </a:prstGeom>
          <a:solidFill>
            <a:srgbClr val="1C1C1D"/>
          </a:solidFill>
          <a:ln/>
        </p:spPr>
        <p:txBody>
          <a:bodyPr/>
          <a:lstStyle/>
          <a:p>
            <a:endParaRPr lang="en-US"/>
          </a:p>
        </p:txBody>
      </p:sp>
      <p:sp>
        <p:nvSpPr>
          <p:cNvPr id="6" name="Shape 4"/>
          <p:cNvSpPr/>
          <p:nvPr/>
        </p:nvSpPr>
        <p:spPr>
          <a:xfrm>
            <a:off x="2004655" y="2291239"/>
            <a:ext cx="5080873" cy="454581"/>
          </a:xfrm>
          <a:prstGeom prst="roundRect">
            <a:avLst>
              <a:gd name="adj" fmla="val 5246"/>
            </a:avLst>
          </a:prstGeom>
          <a:solidFill>
            <a:srgbClr val="1C1C1D"/>
          </a:solidFill>
          <a:ln/>
        </p:spPr>
        <p:txBody>
          <a:bodyPr/>
          <a:lstStyle/>
          <a:p>
            <a:endParaRPr lang="en-US"/>
          </a:p>
        </p:txBody>
      </p:sp>
      <p:sp>
        <p:nvSpPr>
          <p:cNvPr id="7" name="Text 5"/>
          <p:cNvSpPr/>
          <p:nvPr/>
        </p:nvSpPr>
        <p:spPr>
          <a:xfrm>
            <a:off x="2163604" y="2410420"/>
            <a:ext cx="4762976" cy="216218"/>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PRIMARY KEY (order_id)</a:t>
            </a:r>
            <a:endParaRPr lang="en-US" sz="1250" dirty="0"/>
          </a:p>
        </p:txBody>
      </p:sp>
      <p:sp>
        <p:nvSpPr>
          <p:cNvPr id="8" name="Text 6"/>
          <p:cNvSpPr/>
          <p:nvPr/>
        </p:nvSpPr>
        <p:spPr>
          <a:xfrm>
            <a:off x="2012513" y="2871073"/>
            <a:ext cx="1987034" cy="24836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Primary Key</a:t>
            </a:r>
            <a:endParaRPr lang="en-US" sz="1550" dirty="0"/>
          </a:p>
        </p:txBody>
      </p:sp>
      <p:sp>
        <p:nvSpPr>
          <p:cNvPr id="9" name="Text 7"/>
          <p:cNvSpPr/>
          <p:nvPr/>
        </p:nvSpPr>
        <p:spPr>
          <a:xfrm>
            <a:off x="2012513" y="3186232"/>
            <a:ext cx="5065157" cy="648922"/>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Enforces uniqueness</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Physically organizes data in InnoDB</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Fastest possible lookup</a:t>
            </a:r>
            <a:endParaRPr lang="en-US" sz="1250" dirty="0"/>
          </a:p>
        </p:txBody>
      </p:sp>
      <p:sp>
        <p:nvSpPr>
          <p:cNvPr id="10" name="Shape 8"/>
          <p:cNvSpPr/>
          <p:nvPr/>
        </p:nvSpPr>
        <p:spPr>
          <a:xfrm>
            <a:off x="7370802" y="2109430"/>
            <a:ext cx="5428893" cy="1985129"/>
          </a:xfrm>
          <a:prstGeom prst="roundRect">
            <a:avLst>
              <a:gd name="adj" fmla="val 1201"/>
            </a:avLst>
          </a:prstGeom>
          <a:solidFill>
            <a:srgbClr val="0F0F10"/>
          </a:solidFill>
          <a:ln w="22860">
            <a:solidFill>
              <a:srgbClr val="474748"/>
            </a:solidFill>
            <a:prstDash val="solid"/>
          </a:ln>
        </p:spPr>
        <p:txBody>
          <a:bodyPr/>
          <a:lstStyle/>
          <a:p>
            <a:endParaRPr lang="en-US"/>
          </a:p>
        </p:txBody>
      </p:sp>
      <p:sp>
        <p:nvSpPr>
          <p:cNvPr id="11" name="Shape 9"/>
          <p:cNvSpPr/>
          <p:nvPr/>
        </p:nvSpPr>
        <p:spPr>
          <a:xfrm>
            <a:off x="7552611" y="2291239"/>
            <a:ext cx="5065276" cy="670798"/>
          </a:xfrm>
          <a:prstGeom prst="roundRect">
            <a:avLst>
              <a:gd name="adj" fmla="val 3555"/>
            </a:avLst>
          </a:prstGeom>
          <a:solidFill>
            <a:srgbClr val="1C1C1D"/>
          </a:solidFill>
          <a:ln/>
        </p:spPr>
        <p:txBody>
          <a:bodyPr/>
          <a:lstStyle/>
          <a:p>
            <a:endParaRPr lang="en-US"/>
          </a:p>
        </p:txBody>
      </p:sp>
      <p:sp>
        <p:nvSpPr>
          <p:cNvPr id="12" name="Shape 10"/>
          <p:cNvSpPr/>
          <p:nvPr/>
        </p:nvSpPr>
        <p:spPr>
          <a:xfrm>
            <a:off x="7544752" y="2291239"/>
            <a:ext cx="5080992" cy="670798"/>
          </a:xfrm>
          <a:prstGeom prst="roundRect">
            <a:avLst>
              <a:gd name="adj" fmla="val 3555"/>
            </a:avLst>
          </a:prstGeom>
          <a:solidFill>
            <a:srgbClr val="1C1C1D"/>
          </a:solidFill>
          <a:ln/>
        </p:spPr>
        <p:txBody>
          <a:bodyPr/>
          <a:lstStyle/>
          <a:p>
            <a:endParaRPr lang="en-US"/>
          </a:p>
        </p:txBody>
      </p:sp>
      <p:sp>
        <p:nvSpPr>
          <p:cNvPr id="13" name="Text 11"/>
          <p:cNvSpPr/>
          <p:nvPr/>
        </p:nvSpPr>
        <p:spPr>
          <a:xfrm>
            <a:off x="7703701" y="2410420"/>
            <a:ext cx="4763095" cy="432435"/>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UNIQUE INDEX uq_customers_email ON customers(email);</a:t>
            </a:r>
            <a:endParaRPr lang="en-US" sz="1250" dirty="0"/>
          </a:p>
        </p:txBody>
      </p:sp>
      <p:sp>
        <p:nvSpPr>
          <p:cNvPr id="14" name="Text 12"/>
          <p:cNvSpPr/>
          <p:nvPr/>
        </p:nvSpPr>
        <p:spPr>
          <a:xfrm>
            <a:off x="7552611" y="3087291"/>
            <a:ext cx="1987034" cy="24836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Unique Index</a:t>
            </a:r>
            <a:endParaRPr lang="en-US" sz="1550" dirty="0"/>
          </a:p>
        </p:txBody>
      </p:sp>
      <p:sp>
        <p:nvSpPr>
          <p:cNvPr id="15" name="Text 13"/>
          <p:cNvSpPr/>
          <p:nvPr/>
        </p:nvSpPr>
        <p:spPr>
          <a:xfrm>
            <a:off x="7552611" y="3402449"/>
            <a:ext cx="5065276" cy="432615"/>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Prevents duplicate values</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Used heavily for emails, usernames, SKUs</a:t>
            </a:r>
            <a:endParaRPr lang="en-US" sz="1250" dirty="0"/>
          </a:p>
        </p:txBody>
      </p:sp>
      <p:sp>
        <p:nvSpPr>
          <p:cNvPr id="16" name="Shape 14"/>
          <p:cNvSpPr/>
          <p:nvPr/>
        </p:nvSpPr>
        <p:spPr>
          <a:xfrm>
            <a:off x="1830705" y="4089532"/>
            <a:ext cx="5428774" cy="2633782"/>
          </a:xfrm>
          <a:prstGeom prst="roundRect">
            <a:avLst>
              <a:gd name="adj" fmla="val 905"/>
            </a:avLst>
          </a:prstGeom>
          <a:solidFill>
            <a:srgbClr val="0F0F10"/>
          </a:solidFill>
          <a:ln w="22860">
            <a:solidFill>
              <a:srgbClr val="474748"/>
            </a:solidFill>
            <a:prstDash val="solid"/>
          </a:ln>
        </p:spPr>
        <p:txBody>
          <a:bodyPr/>
          <a:lstStyle/>
          <a:p>
            <a:endParaRPr lang="en-US"/>
          </a:p>
        </p:txBody>
      </p:sp>
      <p:sp>
        <p:nvSpPr>
          <p:cNvPr id="17" name="Shape 15"/>
          <p:cNvSpPr/>
          <p:nvPr/>
        </p:nvSpPr>
        <p:spPr>
          <a:xfrm>
            <a:off x="2012513" y="4271341"/>
            <a:ext cx="5065157" cy="1103233"/>
          </a:xfrm>
          <a:prstGeom prst="roundRect">
            <a:avLst>
              <a:gd name="adj" fmla="val 2161"/>
            </a:avLst>
          </a:prstGeom>
          <a:solidFill>
            <a:srgbClr val="1C1C1D"/>
          </a:solidFill>
          <a:ln/>
        </p:spPr>
        <p:txBody>
          <a:bodyPr/>
          <a:lstStyle/>
          <a:p>
            <a:endParaRPr lang="en-US"/>
          </a:p>
        </p:txBody>
      </p:sp>
      <p:sp>
        <p:nvSpPr>
          <p:cNvPr id="18" name="Shape 16"/>
          <p:cNvSpPr/>
          <p:nvPr/>
        </p:nvSpPr>
        <p:spPr>
          <a:xfrm>
            <a:off x="2004655" y="4271341"/>
            <a:ext cx="5080873" cy="1103233"/>
          </a:xfrm>
          <a:prstGeom prst="roundRect">
            <a:avLst>
              <a:gd name="adj" fmla="val 2161"/>
            </a:avLst>
          </a:prstGeom>
          <a:solidFill>
            <a:srgbClr val="1C1C1D"/>
          </a:solidFill>
          <a:ln/>
        </p:spPr>
        <p:txBody>
          <a:bodyPr/>
          <a:lstStyle/>
          <a:p>
            <a:endParaRPr lang="en-US"/>
          </a:p>
        </p:txBody>
      </p:sp>
      <p:sp>
        <p:nvSpPr>
          <p:cNvPr id="19" name="Text 17"/>
          <p:cNvSpPr/>
          <p:nvPr/>
        </p:nvSpPr>
        <p:spPr>
          <a:xfrm>
            <a:off x="2163604" y="4390522"/>
            <a:ext cx="4762976" cy="864870"/>
          </a:xfrm>
          <a:prstGeom prst="rect">
            <a:avLst/>
          </a:prstGeom>
          <a:noFill/>
          <a:ln/>
        </p:spPr>
        <p:txBody>
          <a:bodyPr wrap="square" lIns="0" tIns="0" rIns="0" bIns="0" rtlCol="0" anchor="t"/>
          <a:lstStyle/>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INDEX idx_orders_customer ON orders(customer_id);</a:t>
            </a:r>
            <a:endParaRPr lang="en-US" sz="1250" dirty="0"/>
          </a:p>
          <a:p>
            <a:pPr marL="0" indent="0" algn="l">
              <a:lnSpc>
                <a:spcPts val="1700"/>
              </a:lnSpc>
              <a:buNone/>
            </a:pPr>
            <a:endParaRPr lang="en-US" sz="1250" dirty="0"/>
          </a:p>
          <a:p>
            <a:pPr marL="0" indent="0" algn="l">
              <a:lnSpc>
                <a:spcPts val="1700"/>
              </a:lnSpc>
              <a:buNone/>
            </a:pPr>
            <a:r>
              <a:rPr lang="en-US" sz="1250" dirty="0">
                <a:solidFill>
                  <a:srgbClr val="E0D6DE"/>
                </a:solidFill>
                <a:highlight>
                  <a:srgbClr val="1C1C1D"/>
                </a:highlight>
                <a:latin typeface="Consolas" pitchFamily="34" charset="0"/>
                <a:ea typeface="Consolas" pitchFamily="34" charset="-122"/>
                <a:cs typeface="Consolas" pitchFamily="34" charset="-120"/>
              </a:rPr>
              <a:t>CREATE INDEX idx_orders_status_placed ON orders(order_status, placed_at);</a:t>
            </a:r>
            <a:endParaRPr lang="en-US" sz="1250" dirty="0"/>
          </a:p>
        </p:txBody>
      </p:sp>
      <p:sp>
        <p:nvSpPr>
          <p:cNvPr id="20" name="Text 18"/>
          <p:cNvSpPr/>
          <p:nvPr/>
        </p:nvSpPr>
        <p:spPr>
          <a:xfrm>
            <a:off x="2012513" y="5461074"/>
            <a:ext cx="3336488" cy="24836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Secondary (non-unique) Index</a:t>
            </a:r>
            <a:endParaRPr lang="en-US" sz="1550" dirty="0"/>
          </a:p>
        </p:txBody>
      </p:sp>
      <p:sp>
        <p:nvSpPr>
          <p:cNvPr id="21" name="Text 19"/>
          <p:cNvSpPr/>
          <p:nvPr/>
        </p:nvSpPr>
        <p:spPr>
          <a:xfrm>
            <a:off x="2012513" y="5776232"/>
            <a:ext cx="5065157" cy="648922"/>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The most common performance index</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Allows duplicates</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Used for filtering, joining, sorting</a:t>
            </a:r>
            <a:endParaRPr lang="en-US" sz="1250" dirty="0"/>
          </a:p>
        </p:txBody>
      </p:sp>
      <p:sp>
        <p:nvSpPr>
          <p:cNvPr id="22" name="Shape 20"/>
          <p:cNvSpPr/>
          <p:nvPr/>
        </p:nvSpPr>
        <p:spPr>
          <a:xfrm>
            <a:off x="7370802" y="4089532"/>
            <a:ext cx="5428893" cy="2633782"/>
          </a:xfrm>
          <a:prstGeom prst="roundRect">
            <a:avLst>
              <a:gd name="adj" fmla="val 905"/>
            </a:avLst>
          </a:prstGeom>
          <a:solidFill>
            <a:srgbClr val="0F0F10"/>
          </a:solidFill>
          <a:ln w="22860">
            <a:solidFill>
              <a:srgbClr val="474748"/>
            </a:solidFill>
            <a:prstDash val="solid"/>
          </a:ln>
        </p:spPr>
        <p:txBody>
          <a:bodyPr/>
          <a:lstStyle/>
          <a:p>
            <a:endParaRPr lang="en-US"/>
          </a:p>
        </p:txBody>
      </p:sp>
      <p:sp>
        <p:nvSpPr>
          <p:cNvPr id="23" name="Text 21"/>
          <p:cNvSpPr/>
          <p:nvPr/>
        </p:nvSpPr>
        <p:spPr>
          <a:xfrm>
            <a:off x="7552611" y="4271341"/>
            <a:ext cx="1987034" cy="24836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Fira Mono Medium" pitchFamily="34" charset="0"/>
                <a:ea typeface="Fira Mono Medium" pitchFamily="34" charset="-122"/>
                <a:cs typeface="Fira Mono Medium" pitchFamily="34" charset="-120"/>
              </a:rPr>
              <a:t>Composite Index</a:t>
            </a:r>
            <a:endParaRPr lang="en-US" sz="1550" dirty="0"/>
          </a:p>
        </p:txBody>
      </p:sp>
      <p:sp>
        <p:nvSpPr>
          <p:cNvPr id="24" name="Text 22"/>
          <p:cNvSpPr/>
          <p:nvPr/>
        </p:nvSpPr>
        <p:spPr>
          <a:xfrm>
            <a:off x="7552611" y="4586499"/>
            <a:ext cx="5065276" cy="432615"/>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An index on multiple columns</a:t>
            </a:r>
            <a:endParaRPr lang="en-US" sz="1250" dirty="0"/>
          </a:p>
          <a:p>
            <a:pPr marL="342900" indent="-342900" algn="l">
              <a:lnSpc>
                <a:spcPts val="1700"/>
              </a:lnSpc>
              <a:buSzPct val="100000"/>
              <a:buChar char="•"/>
            </a:pPr>
            <a:r>
              <a:rPr lang="en-US" sz="1250" dirty="0">
                <a:solidFill>
                  <a:srgbClr val="E0D6DE"/>
                </a:solidFill>
                <a:latin typeface="Fira Sans" pitchFamily="34" charset="0"/>
                <a:ea typeface="Fira Sans" pitchFamily="34" charset="-122"/>
                <a:cs typeface="Fira Sans" pitchFamily="34" charset="-120"/>
              </a:rPr>
              <a:t>Extremely powerful and extremely misunderstood</a:t>
            </a:r>
            <a:endParaRPr lang="en-US" sz="1250" dirty="0"/>
          </a:p>
        </p:txBody>
      </p:sp>
      <p:sp>
        <p:nvSpPr>
          <p:cNvPr id="25" name="Text 23"/>
          <p:cNvSpPr/>
          <p:nvPr/>
        </p:nvSpPr>
        <p:spPr>
          <a:xfrm>
            <a:off x="1830705" y="6732217"/>
            <a:ext cx="10968990" cy="216218"/>
          </a:xfrm>
          <a:prstGeom prst="rect">
            <a:avLst/>
          </a:prstGeom>
          <a:noFill/>
          <a:ln/>
        </p:spPr>
        <p:txBody>
          <a:bodyPr wrap="none" lIns="0" tIns="0" rIns="0" bIns="0" rtlCol="0" anchor="t"/>
          <a:lstStyle/>
          <a:p>
            <a:pPr marL="0" indent="0" algn="l">
              <a:lnSpc>
                <a:spcPts val="1700"/>
              </a:lnSpc>
              <a:buNone/>
            </a:pPr>
            <a:r>
              <a:rPr lang="en-US" sz="1250" dirty="0">
                <a:solidFill>
                  <a:srgbClr val="E0D6DE"/>
                </a:solidFill>
                <a:latin typeface="Fira Sans" pitchFamily="34" charset="0"/>
                <a:ea typeface="Fira Sans" pitchFamily="34" charset="-122"/>
                <a:cs typeface="Fira Sans" pitchFamily="34" charset="-120"/>
              </a:rPr>
              <a:t>We'll spend most of our thinking time on composite indexes because that's where production systems live or die.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820</TotalTime>
  <Words>3839</Words>
  <Application>Microsoft Macintosh PowerPoint</Application>
  <PresentationFormat>Custom</PresentationFormat>
  <Paragraphs>297</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Fira Sans</vt:lpstr>
      <vt:lpstr>Fira Mono Medium</vt:lpstr>
      <vt:lpstr>Fira Mono Light</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Narges Yarahmadi Gharaei</cp:lastModifiedBy>
  <cp:revision>4</cp:revision>
  <dcterms:created xsi:type="dcterms:W3CDTF">2026-02-02T14:28:34Z</dcterms:created>
  <dcterms:modified xsi:type="dcterms:W3CDTF">2026-02-03T07:18:58Z</dcterms:modified>
</cp:coreProperties>
</file>