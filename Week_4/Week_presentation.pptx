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60" r:id="rId10"/>
    <p:sldId id="261" r:id="rId11"/>
    <p:sldId id="262" r:id="rId12"/>
    <p:sldId id="280" r:id="rId13"/>
    <p:sldId id="281" r:id="rId14"/>
    <p:sldId id="282" r:id="rId15"/>
    <p:sldId id="283" r:id="rId16"/>
    <p:sldId id="263" r:id="rId17"/>
    <p:sldId id="264" r:id="rId18"/>
    <p:sldId id="265" r:id="rId19"/>
    <p:sldId id="266" r:id="rId20"/>
    <p:sldId id="284" r:id="rId21"/>
    <p:sldId id="285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4630400" cy="8229600"/>
  <p:notesSz cx="8229600" cy="146304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Inter" panose="02000503000000020004" pitchFamily="2" charset="0"/>
      <p:regular r:id="rId37"/>
    </p:embeddedFont>
    <p:embeddedFont>
      <p:font typeface="Manrope" pitchFamily="2" charset="0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/>
    <p:restoredTop sz="71306"/>
  </p:normalViewPr>
  <p:slideViewPr>
    <p:cSldViewPr snapToGrid="0" snapToObjects="1">
      <p:cViewPr varScale="1">
        <p:scale>
          <a:sx n="77" d="100"/>
          <a:sy n="77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42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transaction is a sequence of one or more operations (reads/writes) executed as a </a:t>
            </a: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logical unit of work</a:t>
            </a: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Transactions bring predictability to state changes.</a:t>
            </a:r>
            <a:endParaRPr lang="en-US" sz="1800" dirty="0"/>
          </a:p>
          <a:p>
            <a:pPr>
              <a:buNone/>
            </a:pPr>
            <a:br>
              <a:rPr lang="en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1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sv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02437"/>
            <a:ext cx="62242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After Graduation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001810"/>
            <a:ext cx="61823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— Transactions, Concurrency &amp; Consistency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46096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Narges Yarahmadi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Feb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229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of Contents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83531"/>
            <a:ext cx="6422231" cy="2286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628430"/>
            <a:ext cx="45153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Transactions: The Atomic Unit of Work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ACID properties, Commit &amp; Rollback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483531"/>
            <a:ext cx="6422231" cy="2286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14379" y="3628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Conditions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concurrency nightmare — lost updates, overselling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036701"/>
            <a:ext cx="6422231" cy="2286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5181600"/>
            <a:ext cx="32450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Isolation Levels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Dirty Read, Non-Repeatable Read, Phantom Read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036701"/>
            <a:ext cx="6422231" cy="2286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14379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of the Trade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Transactor Pattern, Concurrency Testing, Read Replicas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630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Concurrency Matters in Real Systems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42411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academic environments, database queries often execute sequentially. In production systems, this assumption immediately breaks.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50915" y="3282434"/>
            <a:ext cx="3821906" cy="4060746"/>
          </a:xfrm>
          <a:prstGeom prst="roundRect">
            <a:avLst>
              <a:gd name="adj" fmla="val 7478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49273" y="3480792"/>
            <a:ext cx="25312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Banking Example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9273" y="3989308"/>
            <a:ext cx="342519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 Balance =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$100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Request A withdraws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$80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Request B withdraws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$50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read </a:t>
            </a:r>
            <a:r>
              <a:rPr lang="en-US" sz="155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100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simultaneously.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9273" y="5755600"/>
            <a:ext cx="34251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Result: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inconsistency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the final stored balance is wrong.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3480792"/>
            <a:ext cx="34768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Concurrency Happens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21674" y="3989308"/>
            <a:ext cx="3536156" cy="172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Multiple users &amp; API requests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Microservices &amp; background workers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Scheduled jobs &amp; distributed servers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21674" y="5894427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app, web client, admin dashboard, and background billing jobs all hit the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database simultaneously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4794"/>
            <a:ext cx="90326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69503" y="4213621"/>
            <a:ext cx="13042821" cy="1483876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3790" y="463801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transaction is a sequence of one or more operations (reads/writes) executed as a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logical unit of work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Transactions bring predictability to state changes.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9472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ACID Properties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Reliable Transaction Processing</a:t>
            </a:r>
            <a:endParaRPr lang="en-US" sz="3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375" y="464939"/>
            <a:ext cx="4646652" cy="508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Atomicity:</a:t>
            </a: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or Nothing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02375" y="1239560"/>
            <a:ext cx="12825651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the system crashes mid-process, the transaction is rolled back.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02375" y="2168450"/>
            <a:ext cx="12825651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operations complete or none do. Example in Money transfer: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6383" y="3966083"/>
            <a:ext cx="6448544" cy="1507559"/>
          </a:xfrm>
          <a:prstGeom prst="roundRect">
            <a:avLst>
              <a:gd name="adj" fmla="val 411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9023" y="4099313"/>
            <a:ext cx="349781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Debit Account A → Credit Account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9023" y="4486742"/>
            <a:ext cx="6123265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credit fails → Debit must rollback.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834" y="2221944"/>
            <a:ext cx="6005036" cy="5392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87488" y="3290838"/>
            <a:ext cx="2238265" cy="28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Debit A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8711" y="4506868"/>
            <a:ext cx="513363" cy="5133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90199" y="6258882"/>
            <a:ext cx="2167838" cy="28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B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11581" y="4819860"/>
            <a:ext cx="513364" cy="5133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14350" y="3895164"/>
            <a:ext cx="2167838" cy="28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1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38729" y="5155952"/>
            <a:ext cx="513364" cy="513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891"/>
            <a:ext cx="88813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Consistency: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 State to Valid State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2780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transaction brings the database from one valid state to another, preserving defined rules (constraints, triggers).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4800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 moves from one valid state to another. Constraints remain preserved. Example: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588782"/>
            <a:ext cx="6422231" cy="722114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9768" y="3794760"/>
            <a:ext cx="32485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cannot be negative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14379" y="3588782"/>
            <a:ext cx="6422231" cy="722114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357" y="3794760"/>
            <a:ext cx="29740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keys remain valid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633286"/>
            <a:ext cx="13042821" cy="32385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3790" y="4963239"/>
            <a:ext cx="76376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A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Isolation: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 Execution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793790" y="588097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Concurrent execution of transactions results in a state that is equivalent to some serial (sequential) execution.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65011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should not interfere with each other. Users should behave as if operations run independently.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3272"/>
            <a:ext cx="69900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Durability: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Committed Forever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38018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Once a transaction is committed, it remains so, even in the event of a power loss or crash.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0003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Once committed, Data survives crashes. Handled using: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838819"/>
            <a:ext cx="4215289" cy="1027509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3790" y="4815959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03778" y="45411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372" y="4719757"/>
            <a:ext cx="238125" cy="238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5008" y="53349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Write-ahead logging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5207437" y="4838819"/>
            <a:ext cx="4215408" cy="1027509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07437" y="4815959"/>
            <a:ext cx="4215408" cy="9144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17425" y="45411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6018" y="4719757"/>
            <a:ext cx="238125" cy="238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8655" y="53349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 persistence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9621203" y="4838819"/>
            <a:ext cx="4215289" cy="1027509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21203" y="4815959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1431191" y="45411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9784" y="4719757"/>
            <a:ext cx="238125" cy="238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42421" y="53349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Replication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717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ACID Properties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54091"/>
            <a:ext cx="6422231" cy="2269927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9768" y="246006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262366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32537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Atomicity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68296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operations complete or none do. If credit fails, debit must rollback.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2254091"/>
            <a:ext cx="6422231" cy="2269927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20357" y="246006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068" y="262366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32537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20357" y="368296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 moves from one valid state to another. Constraints (e.g., no negative balance) remain preserved.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2269927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99768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5091946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722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9768" y="615124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don't interfere with each other — equivalent to serial execution.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2269927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20357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4068" y="5091946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722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20357" y="615124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Once committed, data survives crashes via write-ahead logging, disk persistence, and replication.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668893"/>
            <a:ext cx="7469505" cy="561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and Rollback: Save &amp; Undo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8661" y="1636990"/>
            <a:ext cx="23622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Commands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8661" y="2100501"/>
            <a:ext cx="6377345" cy="1122164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5801" y="2100501"/>
            <a:ext cx="91440" cy="1122164"/>
          </a:xfrm>
          <a:prstGeom prst="roundRect">
            <a:avLst>
              <a:gd name="adj" fmla="val 17684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9767" y="2303026"/>
            <a:ext cx="2357199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TRANSACTION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9767" y="2746296"/>
            <a:ext cx="5903714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Marks the starting point of a transaction.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8661" y="3385304"/>
            <a:ext cx="6377345" cy="1396008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5801" y="3385304"/>
            <a:ext cx="91440" cy="1396008"/>
          </a:xfrm>
          <a:prstGeom prst="roundRect">
            <a:avLst>
              <a:gd name="adj" fmla="val 17684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9767" y="3587829"/>
            <a:ext cx="2245876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9767" y="4031099"/>
            <a:ext cx="5903714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Saves all modifications permanently. Changes become visible to other transactions.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8661" y="4943951"/>
            <a:ext cx="6377345" cy="1396008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5801" y="4943951"/>
            <a:ext cx="91440" cy="1396008"/>
          </a:xfrm>
          <a:prstGeom prst="roundRect">
            <a:avLst>
              <a:gd name="adj" fmla="val 17684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9767" y="5146477"/>
            <a:ext cx="2245876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89767" y="5589746"/>
            <a:ext cx="5903714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Aborts the transaction, undoing all modifications. Used when errors occur, validation fails, or business rules are violated.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2014" y="1636990"/>
            <a:ext cx="2769275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 Transfer Example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42014" y="2100501"/>
            <a:ext cx="6377345" cy="4103132"/>
          </a:xfrm>
          <a:prstGeom prst="roundRect">
            <a:avLst>
              <a:gd name="adj" fmla="val 39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33084" y="2100501"/>
            <a:ext cx="6395204" cy="4103132"/>
          </a:xfrm>
          <a:prstGeom prst="roundRect">
            <a:avLst>
              <a:gd name="adj" fmla="val 6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12750" y="2235160"/>
            <a:ext cx="6035873" cy="3833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TRY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BEGIN TRANSACTION TransferFunds;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balance = balance - 100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'A';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balance = balance + 100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'B';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 TRANSACTION;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 TRY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 CATCH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 TRANSACTION;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'TRANSACTION FAILED';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 CATCH;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2014" y="6386513"/>
            <a:ext cx="6377345" cy="991314"/>
          </a:xfrm>
          <a:prstGeom prst="roundRect">
            <a:avLst>
              <a:gd name="adj" fmla="val 16312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79" y="6651903"/>
            <a:ext cx="224552" cy="1796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125897" y="6594038"/>
            <a:ext cx="5613797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Takeaway:</a:t>
            </a: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Never assume a multi-step operation succeeds until the COMMIT is acknowledged.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927" y="561380"/>
            <a:ext cx="7570946" cy="1228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Conditions: The Concurrency Nightmare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272927" y="3894696"/>
            <a:ext cx="7570946" cy="219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When multiple threads access shared data concurrently and the outcome depends on execution timing, you have a </a:t>
            </a:r>
            <a:r>
              <a:rPr lang="en-US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race condition</a:t>
            </a: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one of the most common production failures.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1379"/>
            <a:ext cx="62453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A: Ticket Booking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2829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users purchase last seat.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48489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4140637"/>
            <a:ext cx="25455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available seats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148489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41406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seat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148489"/>
            <a:ext cx="4347567" cy="7937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7282" y="41406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purchase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93790" y="5050988"/>
            <a:ext cx="763202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requests read availability </a:t>
            </a:r>
            <a:r>
              <a:rPr lang="en-US" sz="1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simultaneously</a:t>
            </a: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93790" y="5626537"/>
            <a:ext cx="763202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 is </a:t>
            </a:r>
            <a:r>
              <a:rPr lang="en-US" sz="1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Overselling</a:t>
            </a: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8774668" y="4872395"/>
            <a:ext cx="5212318" cy="1845707"/>
          </a:xfrm>
          <a:prstGeom prst="roundRect">
            <a:avLst>
              <a:gd name="adj" fmla="val 15485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973026" y="5070753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Problem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973026" y="5586889"/>
            <a:ext cx="481560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users both see 1 seat available and both proceed to book it — resulting in a double booking of the same seat.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9118" y="762953"/>
            <a:ext cx="5673566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B: The "Lost Update"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469118" y="1177409"/>
            <a:ext cx="1646396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A6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Account Analogy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469118" y="1483400"/>
            <a:ext cx="9692164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Imagine a bank account with </a:t>
            </a:r>
            <a:r>
              <a:rPr lang="en-US" sz="12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$1000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Two concurrent requests arrive: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69118" y="1767959"/>
            <a:ext cx="4807982" cy="657582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99611" y="1898452"/>
            <a:ext cx="1536263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Request A (Credit)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99611" y="2135981"/>
            <a:ext cx="4546997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$100.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53181" y="1767959"/>
            <a:ext cx="4808101" cy="657582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83673" y="1898452"/>
            <a:ext cx="1536263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Request B (Debit)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83673" y="2135981"/>
            <a:ext cx="4547116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Subtract $50.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9118" y="2539603"/>
            <a:ext cx="24581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Race: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07580" y="2960965"/>
            <a:ext cx="15240" cy="4024193"/>
          </a:xfrm>
          <a:prstGeom prst="roundRect">
            <a:avLst>
              <a:gd name="adj" fmla="val 72583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84695" y="3091577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9123" y="3053120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9867" y="3003113"/>
            <a:ext cx="2173724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A reads balance: 1000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99960" y="3735348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69123" y="3696891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06809" y="3646884"/>
            <a:ext cx="216824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B reads balance: 1000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06809" y="3884414"/>
            <a:ext cx="4354473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(Thread A hasn't written yet)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84695" y="4324112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9123" y="4285655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26093" y="4235648"/>
            <a:ext cx="3797498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A calculates new balance: 1000 + 100 = 1100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99960" y="4912876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69123" y="4874419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06809" y="4824413"/>
            <a:ext cx="3657362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B calculates new balance: 1000 - 50 = 950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84695" y="5501640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69123" y="5463183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66849" y="5413177"/>
            <a:ext cx="1556742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A writes: 1100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9118" y="5650706"/>
            <a:ext cx="4354473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(Thread B's write overwrites this if done after)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99960" y="6090404"/>
            <a:ext cx="245745" cy="15240"/>
          </a:xfrm>
          <a:prstGeom prst="roundRect">
            <a:avLst>
              <a:gd name="adj" fmla="val 725838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69123" y="6051947"/>
            <a:ext cx="92154" cy="92154"/>
          </a:xfrm>
          <a:prstGeom prst="roundRect">
            <a:avLst>
              <a:gd name="adj" fmla="val 496126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06809" y="6001941"/>
            <a:ext cx="1536263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B writes: 950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9118" y="7070765"/>
            <a:ext cx="9692164" cy="395764"/>
          </a:xfrm>
          <a:prstGeom prst="roundRect">
            <a:avLst>
              <a:gd name="adj" fmla="val 27950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991" y="7238762"/>
            <a:ext cx="153591" cy="122873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868454" y="7177564"/>
            <a:ext cx="9169956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Result: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Despite two valid operations, the final balance is </a:t>
            </a:r>
            <a:r>
              <a:rPr lang="en-US" sz="9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$950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the correct </a:t>
            </a:r>
            <a:r>
              <a:rPr lang="en-US" sz="9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$1050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One update was </a:t>
            </a:r>
            <a:r>
              <a:rPr lang="en-US" sz="9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"lost"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1205"/>
            <a:ext cx="69689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Bug (False Mutex)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988939"/>
            <a:ext cx="75564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common flaw is implementing a lock that only protects </a:t>
            </a:r>
            <a:r>
              <a:rPr lang="en-US" sz="1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</a:t>
            </a: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the system.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006090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Consider a batch process (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executeBatch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that uses a flag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isProcessingBatch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prevent concurrent runs. However, if the standard API endpoint (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/assignParcel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ignores this flag, a race condition occurs: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4181951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4604" y="421915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925032" y="4250174"/>
            <a:ext cx="3452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reads capacity (0/100).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280190" y="5025271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54604" y="50624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925032" y="5093494"/>
            <a:ext cx="58156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reads capacity (0/100) before Batch commits.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6280190" y="5868591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4604" y="590579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925032" y="5936813"/>
            <a:ext cx="41030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assign parcels (50kg + 60kg).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6280190" y="6711910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54604" y="674911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925032" y="6780133"/>
            <a:ext cx="560379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Truck capacity is </a:t>
            </a:r>
            <a:r>
              <a:rPr lang="en-US" sz="19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violated (110kg/100kg)</a:t>
            </a: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436B8D-62FB-DFC8-1A9F-033FF339C198}"/>
              </a:ext>
            </a:extLst>
          </p:cNvPr>
          <p:cNvSpPr/>
          <p:nvPr/>
        </p:nvSpPr>
        <p:spPr>
          <a:xfrm>
            <a:off x="2725760" y="403026"/>
            <a:ext cx="4053126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Isolation Levels</a:t>
            </a:r>
            <a:endParaRPr lang="en-US" sz="225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6EF689-4BC6-1E97-63DB-5FEA65C1E9C3}"/>
              </a:ext>
            </a:extLst>
          </p:cNvPr>
          <p:cNvSpPr/>
          <p:nvPr/>
        </p:nvSpPr>
        <p:spPr>
          <a:xfrm>
            <a:off x="2725760" y="1082522"/>
            <a:ext cx="10452358" cy="52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prevent race conditions without forcing all transactions to run one at a time (which kills performance), databases offer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Isolation Levels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These levels define how transaction changes are visible to each other. They balance </a:t>
            </a:r>
            <a:r>
              <a:rPr lang="en-US" sz="160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consistency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against </a:t>
            </a:r>
            <a:r>
              <a:rPr lang="en-US" sz="1600" b="1" dirty="0">
                <a:solidFill>
                  <a:srgbClr val="FFA6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concurrency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8FD33A-2AAC-2F7D-F2A4-00A86D4FDACF}"/>
              </a:ext>
            </a:extLst>
          </p:cNvPr>
          <p:cNvSpPr/>
          <p:nvPr/>
        </p:nvSpPr>
        <p:spPr>
          <a:xfrm>
            <a:off x="2739390" y="1867162"/>
            <a:ext cx="9151620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Imagine a database handling thousands of transactions at the same time.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DD33A2-CDF6-B715-E76F-1C8D9A8A2166}"/>
              </a:ext>
            </a:extLst>
          </p:cNvPr>
          <p:cNvSpPr/>
          <p:nvPr/>
        </p:nvSpPr>
        <p:spPr>
          <a:xfrm>
            <a:off x="2739390" y="2233493"/>
            <a:ext cx="9151620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the database forced this:</a:t>
            </a:r>
            <a:endParaRPr lang="en-US" sz="14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9B52634-51CD-4EE7-2083-1339B8066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390" y="2533293"/>
            <a:ext cx="5377696" cy="46410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6CA017B4-016F-ED04-535E-3361F47B62B8}"/>
              </a:ext>
            </a:extLst>
          </p:cNvPr>
          <p:cNvSpPr/>
          <p:nvPr/>
        </p:nvSpPr>
        <p:spPr>
          <a:xfrm>
            <a:off x="2855357" y="3065145"/>
            <a:ext cx="2309932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A finishes completely</a:t>
            </a:r>
            <a:endParaRPr lang="en-US" sz="16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2892E36-D227-99DA-F4AB-4BF0A8E5E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390" y="3362325"/>
            <a:ext cx="5377696" cy="464106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C93C37B-0287-DAFA-13C6-1B2E30DF549E}"/>
              </a:ext>
            </a:extLst>
          </p:cNvPr>
          <p:cNvSpPr/>
          <p:nvPr/>
        </p:nvSpPr>
        <p:spPr>
          <a:xfrm>
            <a:off x="2855357" y="3894177"/>
            <a:ext cx="1707952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Transaction B starts</a:t>
            </a:r>
            <a:endParaRPr lang="en-US" sz="16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EEF9B51F-FFBB-C024-02DC-5D32E0878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390" y="4191357"/>
            <a:ext cx="5377696" cy="46410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2D718-35E5-1B21-B3E3-CABE7447544F}"/>
              </a:ext>
            </a:extLst>
          </p:cNvPr>
          <p:cNvSpPr/>
          <p:nvPr/>
        </p:nvSpPr>
        <p:spPr>
          <a:xfrm>
            <a:off x="2855357" y="4723209"/>
            <a:ext cx="1719024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Transaction C starts</a:t>
            </a:r>
            <a:endParaRPr lang="en-US" sz="16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63E8157-766D-98A4-79BA-3F5C4C157053}"/>
              </a:ext>
            </a:extLst>
          </p:cNvPr>
          <p:cNvSpPr/>
          <p:nvPr/>
        </p:nvSpPr>
        <p:spPr>
          <a:xfrm>
            <a:off x="8305381" y="2348311"/>
            <a:ext cx="3657838" cy="2639735"/>
          </a:xfrm>
          <a:prstGeom prst="roundRect">
            <a:avLst>
              <a:gd name="adj" fmla="val 6331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53423AE-5F4C-BB83-06AD-501DE8B1D538}"/>
              </a:ext>
            </a:extLst>
          </p:cNvPr>
          <p:cNvSpPr/>
          <p:nvPr/>
        </p:nvSpPr>
        <p:spPr>
          <a:xfrm>
            <a:off x="8440222" y="3199578"/>
            <a:ext cx="342590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Perfect correctness</a:t>
            </a: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D42D4E4-7001-B221-7479-13425E894CE3}"/>
              </a:ext>
            </a:extLst>
          </p:cNvPr>
          <p:cNvSpPr/>
          <p:nvPr/>
        </p:nvSpPr>
        <p:spPr>
          <a:xfrm>
            <a:off x="8440222" y="3559564"/>
            <a:ext cx="342590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 Terrible performance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33C3094-5F0A-B198-CC0A-B3A65FD7B7AF}"/>
              </a:ext>
            </a:extLst>
          </p:cNvPr>
          <p:cNvSpPr/>
          <p:nvPr/>
        </p:nvSpPr>
        <p:spPr>
          <a:xfrm>
            <a:off x="1396538" y="5221989"/>
            <a:ext cx="13233862" cy="46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Modern systems instead allow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to run concurrently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but they must control </a:t>
            </a:r>
            <a:r>
              <a:rPr lang="en-US" sz="140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much transactions can see each other's changes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E9E5711-BB25-8721-150A-96E35DF26213}"/>
              </a:ext>
            </a:extLst>
          </p:cNvPr>
          <p:cNvSpPr/>
          <p:nvPr/>
        </p:nvSpPr>
        <p:spPr>
          <a:xfrm>
            <a:off x="2739390" y="5617013"/>
            <a:ext cx="10610850" cy="331734"/>
          </a:xfrm>
          <a:prstGeom prst="roundRect">
            <a:avLst>
              <a:gd name="adj" fmla="val 28791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9EB09D4-B0A4-D323-CC7D-87EDABDF2EE4}"/>
              </a:ext>
            </a:extLst>
          </p:cNvPr>
          <p:cNvSpPr/>
          <p:nvPr/>
        </p:nvSpPr>
        <p:spPr>
          <a:xfrm>
            <a:off x="3116342" y="5713690"/>
            <a:ext cx="8658701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Isolation levels are therefore: </a:t>
            </a:r>
            <a:r>
              <a:rPr lang="en-US" sz="14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Rules that define what one transaction is allowed to observe from another transaction.</a:t>
            </a:r>
            <a:endParaRPr lang="en-US" sz="14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F75347F-61A6-695A-A125-0B172C38ABF7}"/>
              </a:ext>
            </a:extLst>
          </p:cNvPr>
          <p:cNvSpPr/>
          <p:nvPr/>
        </p:nvSpPr>
        <p:spPr>
          <a:xfrm>
            <a:off x="2739390" y="6081474"/>
            <a:ext cx="232100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balance:</a:t>
            </a:r>
            <a:endParaRPr lang="en-US" sz="18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86114E1-C29F-BCF4-7A1E-CAA8CE4B817F}"/>
              </a:ext>
            </a:extLst>
          </p:cNvPr>
          <p:cNvSpPr/>
          <p:nvPr/>
        </p:nvSpPr>
        <p:spPr>
          <a:xfrm>
            <a:off x="2739390" y="6473190"/>
            <a:ext cx="9151620" cy="428387"/>
          </a:xfrm>
          <a:prstGeom prst="roundRect">
            <a:avLst>
              <a:gd name="adj" fmla="val 2438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E9A08C3D-3775-7F44-A483-1FD3CCC009D3}"/>
              </a:ext>
            </a:extLst>
          </p:cNvPr>
          <p:cNvSpPr/>
          <p:nvPr/>
        </p:nvSpPr>
        <p:spPr>
          <a:xfrm>
            <a:off x="2747010" y="6480810"/>
            <a:ext cx="4568190" cy="413147"/>
          </a:xfrm>
          <a:prstGeom prst="roundRect">
            <a:avLst>
              <a:gd name="adj" fmla="val 252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BC8CA1B-5242-B394-ACCC-39E4EBEA576F}"/>
              </a:ext>
            </a:extLst>
          </p:cNvPr>
          <p:cNvSpPr/>
          <p:nvPr/>
        </p:nvSpPr>
        <p:spPr>
          <a:xfrm>
            <a:off x="2862977" y="6596777"/>
            <a:ext cx="199322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</a:t>
            </a:r>
            <a:endParaRPr lang="en-US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59309B5D-9928-4FB4-68F2-6BFE99304BA0}"/>
              </a:ext>
            </a:extLst>
          </p:cNvPr>
          <p:cNvSpPr/>
          <p:nvPr/>
        </p:nvSpPr>
        <p:spPr>
          <a:xfrm>
            <a:off x="7315200" y="6480810"/>
            <a:ext cx="4568190" cy="4131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744CAD7-70CD-DADF-61CF-0051D8427CAC}"/>
              </a:ext>
            </a:extLst>
          </p:cNvPr>
          <p:cNvSpPr/>
          <p:nvPr/>
        </p:nvSpPr>
        <p:spPr>
          <a:xfrm>
            <a:off x="7315200" y="6480810"/>
            <a:ext cx="15240" cy="413147"/>
          </a:xfrm>
          <a:prstGeom prst="roundRect">
            <a:avLst>
              <a:gd name="adj" fmla="val 685362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727B497-4F9E-BD8D-AD58-5064984CFCFC}"/>
              </a:ext>
            </a:extLst>
          </p:cNvPr>
          <p:cNvSpPr/>
          <p:nvPr/>
        </p:nvSpPr>
        <p:spPr>
          <a:xfrm>
            <a:off x="7431167" y="6596777"/>
            <a:ext cx="145065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</a:t>
            </a: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Speed</a:t>
            </a:r>
            <a:endParaRPr lang="en-US" sz="20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598D7B98-F8F4-AD10-3362-239653A862F0}"/>
              </a:ext>
            </a:extLst>
          </p:cNvPr>
          <p:cNvSpPr/>
          <p:nvPr/>
        </p:nvSpPr>
        <p:spPr>
          <a:xfrm>
            <a:off x="2739390" y="7318552"/>
            <a:ext cx="9151620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First, we define the </a:t>
            </a:r>
            <a:r>
              <a:rPr lang="en-US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phenomena</a:t>
            </a: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we are trying to prevent: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7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015" y="428153"/>
            <a:ext cx="4829413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Isolation Levels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1015" y="1070515"/>
            <a:ext cx="11643598" cy="77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prevent race conditions without forcing serial execution (which kills performance), databases offer </a:t>
            </a:r>
            <a:r>
              <a:rPr lang="en-US" sz="2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Isolation Levels</a:t>
            </a:r>
            <a:r>
              <a:rPr lang="en-US" sz="2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rules defining how much one transaction can observe from another. They balance Consistency </a:t>
            </a:r>
            <a:r>
              <a:rPr lang="en-US" sz="20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↔</a:t>
            </a:r>
            <a:r>
              <a:rPr lang="en-US" sz="2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Performance and Safety </a:t>
            </a:r>
            <a:r>
              <a:rPr lang="en-US" sz="20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↔</a:t>
            </a:r>
            <a:r>
              <a:rPr lang="en-US" sz="2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Speed.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168" y="1668661"/>
            <a:ext cx="8505944" cy="5786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14946" y="5848447"/>
            <a:ext cx="1758139" cy="65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Uncommitted</a:t>
            </a:r>
            <a:endParaRPr lang="en-US" sz="2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6935" y="4131787"/>
            <a:ext cx="582165" cy="5821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9280" y="5301211"/>
            <a:ext cx="1758139" cy="65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Committed</a:t>
            </a:r>
            <a:endParaRPr lang="en-US" sz="2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444" y="3584552"/>
            <a:ext cx="582165" cy="5821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71788" y="4753976"/>
            <a:ext cx="1758139" cy="65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Read</a:t>
            </a:r>
            <a:endParaRPr lang="en-US" sz="2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51952" y="3037316"/>
            <a:ext cx="582164" cy="5821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32471" y="4370475"/>
            <a:ext cx="1758138" cy="32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Serializable</a:t>
            </a:r>
            <a:endParaRPr lang="en-US" sz="2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24460" y="2490081"/>
            <a:ext cx="582165" cy="58216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93401" y="7579042"/>
            <a:ext cx="116435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First, we must understand the three phenomena these levels are designed to prevent: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Dirty Read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Non-Repeatable Read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Phantom Read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505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Dirty Read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0196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dirty read occurs when a transaction reads data written by a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concurrent uncommitted transaction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Applications make decisions based on data that never officially existed.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260288"/>
            <a:ext cx="6565106" cy="3584258"/>
          </a:xfrm>
          <a:prstGeom prst="roundRect">
            <a:avLst>
              <a:gd name="adj" fmla="val 797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9273" y="34586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Scenario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967163"/>
            <a:ext cx="616839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A sets </a:t>
            </a:r>
            <a:r>
              <a:rPr lang="en-US" sz="155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0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but hasn't committed.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B reads </a:t>
            </a:r>
            <a:r>
              <a:rPr lang="en-US" sz="155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0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A crashes → </a:t>
            </a:r>
            <a:r>
              <a:rPr lang="en-US" sz="155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 balance returns to </a:t>
            </a:r>
            <a:r>
              <a:rPr lang="en-US" sz="155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B already used wrong data.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458647"/>
            <a:ext cx="27083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Dangerous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967163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systems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absolutely forbid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dirty reads. A payment approval based on a balance that was never real can cause catastrophic errors — funds released that don't exist, fraud windows opened, and audit trails corrupted.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64874" y="5460563"/>
            <a:ext cx="6279356" cy="1160740"/>
          </a:xfrm>
          <a:prstGeom prst="roundRect">
            <a:avLst>
              <a:gd name="adj" fmla="val 15389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5763458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09598" y="5708452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 why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Uncommitted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isolation is rarely used in critical systems.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9F09E5-9CB6-B631-BA39-E8D569FB2986}"/>
              </a:ext>
            </a:extLst>
          </p:cNvPr>
          <p:cNvSpPr/>
          <p:nvPr/>
        </p:nvSpPr>
        <p:spPr>
          <a:xfrm>
            <a:off x="7331533" y="1228056"/>
            <a:ext cx="7049485" cy="6136191"/>
          </a:xfrm>
          <a:custGeom>
            <a:avLst/>
            <a:gdLst>
              <a:gd name="connsiteX0" fmla="*/ 0 w 7049485"/>
              <a:gd name="connsiteY0" fmla="*/ 0 h 6136191"/>
              <a:gd name="connsiteX1" fmla="*/ 516962 w 7049485"/>
              <a:gd name="connsiteY1" fmla="*/ 0 h 6136191"/>
              <a:gd name="connsiteX2" fmla="*/ 1104419 w 7049485"/>
              <a:gd name="connsiteY2" fmla="*/ 0 h 6136191"/>
              <a:gd name="connsiteX3" fmla="*/ 1762371 w 7049485"/>
              <a:gd name="connsiteY3" fmla="*/ 0 h 6136191"/>
              <a:gd name="connsiteX4" fmla="*/ 2420323 w 7049485"/>
              <a:gd name="connsiteY4" fmla="*/ 0 h 6136191"/>
              <a:gd name="connsiteX5" fmla="*/ 3078275 w 7049485"/>
              <a:gd name="connsiteY5" fmla="*/ 0 h 6136191"/>
              <a:gd name="connsiteX6" fmla="*/ 3806722 w 7049485"/>
              <a:gd name="connsiteY6" fmla="*/ 0 h 6136191"/>
              <a:gd name="connsiteX7" fmla="*/ 4394179 w 7049485"/>
              <a:gd name="connsiteY7" fmla="*/ 0 h 6136191"/>
              <a:gd name="connsiteX8" fmla="*/ 5052131 w 7049485"/>
              <a:gd name="connsiteY8" fmla="*/ 0 h 6136191"/>
              <a:gd name="connsiteX9" fmla="*/ 5639588 w 7049485"/>
              <a:gd name="connsiteY9" fmla="*/ 0 h 6136191"/>
              <a:gd name="connsiteX10" fmla="*/ 6227045 w 7049485"/>
              <a:gd name="connsiteY10" fmla="*/ 0 h 6136191"/>
              <a:gd name="connsiteX11" fmla="*/ 7049485 w 7049485"/>
              <a:gd name="connsiteY11" fmla="*/ 0 h 6136191"/>
              <a:gd name="connsiteX12" fmla="*/ 7049485 w 7049485"/>
              <a:gd name="connsiteY12" fmla="*/ 373750 h 6136191"/>
              <a:gd name="connsiteX13" fmla="*/ 7049485 w 7049485"/>
              <a:gd name="connsiteY13" fmla="*/ 992947 h 6136191"/>
              <a:gd name="connsiteX14" fmla="*/ 7049485 w 7049485"/>
              <a:gd name="connsiteY14" fmla="*/ 1428059 h 6136191"/>
              <a:gd name="connsiteX15" fmla="*/ 7049485 w 7049485"/>
              <a:gd name="connsiteY15" fmla="*/ 2047256 h 6136191"/>
              <a:gd name="connsiteX16" fmla="*/ 7049485 w 7049485"/>
              <a:gd name="connsiteY16" fmla="*/ 2543730 h 6136191"/>
              <a:gd name="connsiteX17" fmla="*/ 7049485 w 7049485"/>
              <a:gd name="connsiteY17" fmla="*/ 2978842 h 6136191"/>
              <a:gd name="connsiteX18" fmla="*/ 7049485 w 7049485"/>
              <a:gd name="connsiteY18" fmla="*/ 3352592 h 6136191"/>
              <a:gd name="connsiteX19" fmla="*/ 7049485 w 7049485"/>
              <a:gd name="connsiteY19" fmla="*/ 3787703 h 6136191"/>
              <a:gd name="connsiteX20" fmla="*/ 7049485 w 7049485"/>
              <a:gd name="connsiteY20" fmla="*/ 4222815 h 6136191"/>
              <a:gd name="connsiteX21" fmla="*/ 7049485 w 7049485"/>
              <a:gd name="connsiteY21" fmla="*/ 4780651 h 6136191"/>
              <a:gd name="connsiteX22" fmla="*/ 7049485 w 7049485"/>
              <a:gd name="connsiteY22" fmla="*/ 5338486 h 6136191"/>
              <a:gd name="connsiteX23" fmla="*/ 7049485 w 7049485"/>
              <a:gd name="connsiteY23" fmla="*/ 6136191 h 6136191"/>
              <a:gd name="connsiteX24" fmla="*/ 6321038 w 7049485"/>
              <a:gd name="connsiteY24" fmla="*/ 6136191 h 6136191"/>
              <a:gd name="connsiteX25" fmla="*/ 5592591 w 7049485"/>
              <a:gd name="connsiteY25" fmla="*/ 6136191 h 6136191"/>
              <a:gd name="connsiteX26" fmla="*/ 5005134 w 7049485"/>
              <a:gd name="connsiteY26" fmla="*/ 6136191 h 6136191"/>
              <a:gd name="connsiteX27" fmla="*/ 4347182 w 7049485"/>
              <a:gd name="connsiteY27" fmla="*/ 6136191 h 6136191"/>
              <a:gd name="connsiteX28" fmla="*/ 3971210 w 7049485"/>
              <a:gd name="connsiteY28" fmla="*/ 6136191 h 6136191"/>
              <a:gd name="connsiteX29" fmla="*/ 3242763 w 7049485"/>
              <a:gd name="connsiteY29" fmla="*/ 6136191 h 6136191"/>
              <a:gd name="connsiteX30" fmla="*/ 2725801 w 7049485"/>
              <a:gd name="connsiteY30" fmla="*/ 6136191 h 6136191"/>
              <a:gd name="connsiteX31" fmla="*/ 2067849 w 7049485"/>
              <a:gd name="connsiteY31" fmla="*/ 6136191 h 6136191"/>
              <a:gd name="connsiteX32" fmla="*/ 1691876 w 7049485"/>
              <a:gd name="connsiteY32" fmla="*/ 6136191 h 6136191"/>
              <a:gd name="connsiteX33" fmla="*/ 963430 w 7049485"/>
              <a:gd name="connsiteY33" fmla="*/ 6136191 h 6136191"/>
              <a:gd name="connsiteX34" fmla="*/ 0 w 7049485"/>
              <a:gd name="connsiteY34" fmla="*/ 6136191 h 6136191"/>
              <a:gd name="connsiteX35" fmla="*/ 0 w 7049485"/>
              <a:gd name="connsiteY35" fmla="*/ 5578355 h 6136191"/>
              <a:gd name="connsiteX36" fmla="*/ 0 w 7049485"/>
              <a:gd name="connsiteY36" fmla="*/ 5204606 h 6136191"/>
              <a:gd name="connsiteX37" fmla="*/ 0 w 7049485"/>
              <a:gd name="connsiteY37" fmla="*/ 4524046 h 6136191"/>
              <a:gd name="connsiteX38" fmla="*/ 0 w 7049485"/>
              <a:gd name="connsiteY38" fmla="*/ 4150296 h 6136191"/>
              <a:gd name="connsiteX39" fmla="*/ 0 w 7049485"/>
              <a:gd name="connsiteY39" fmla="*/ 3592461 h 6136191"/>
              <a:gd name="connsiteX40" fmla="*/ 0 w 7049485"/>
              <a:gd name="connsiteY40" fmla="*/ 3218711 h 6136191"/>
              <a:gd name="connsiteX41" fmla="*/ 0 w 7049485"/>
              <a:gd name="connsiteY41" fmla="*/ 2599514 h 6136191"/>
              <a:gd name="connsiteX42" fmla="*/ 0 w 7049485"/>
              <a:gd name="connsiteY42" fmla="*/ 2041678 h 6136191"/>
              <a:gd name="connsiteX43" fmla="*/ 0 w 7049485"/>
              <a:gd name="connsiteY43" fmla="*/ 1422481 h 6136191"/>
              <a:gd name="connsiteX44" fmla="*/ 0 w 7049485"/>
              <a:gd name="connsiteY44" fmla="*/ 864645 h 6136191"/>
              <a:gd name="connsiteX45" fmla="*/ 0 w 7049485"/>
              <a:gd name="connsiteY45" fmla="*/ 0 h 613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049485" h="6136191" fill="none" extrusionOk="0">
                <a:moveTo>
                  <a:pt x="0" y="0"/>
                </a:moveTo>
                <a:cubicBezTo>
                  <a:pt x="194819" y="-17245"/>
                  <a:pt x="348019" y="8352"/>
                  <a:pt x="516962" y="0"/>
                </a:cubicBezTo>
                <a:cubicBezTo>
                  <a:pt x="685905" y="-8352"/>
                  <a:pt x="965234" y="18585"/>
                  <a:pt x="1104419" y="0"/>
                </a:cubicBezTo>
                <a:cubicBezTo>
                  <a:pt x="1243604" y="-18585"/>
                  <a:pt x="1486040" y="40294"/>
                  <a:pt x="1762371" y="0"/>
                </a:cubicBezTo>
                <a:cubicBezTo>
                  <a:pt x="2038702" y="-40294"/>
                  <a:pt x="2274781" y="65791"/>
                  <a:pt x="2420323" y="0"/>
                </a:cubicBezTo>
                <a:cubicBezTo>
                  <a:pt x="2565865" y="-65791"/>
                  <a:pt x="2900080" y="44458"/>
                  <a:pt x="3078275" y="0"/>
                </a:cubicBezTo>
                <a:cubicBezTo>
                  <a:pt x="3256470" y="-44458"/>
                  <a:pt x="3655681" y="24294"/>
                  <a:pt x="3806722" y="0"/>
                </a:cubicBezTo>
                <a:cubicBezTo>
                  <a:pt x="3957763" y="-24294"/>
                  <a:pt x="4250685" y="65237"/>
                  <a:pt x="4394179" y="0"/>
                </a:cubicBezTo>
                <a:cubicBezTo>
                  <a:pt x="4537673" y="-65237"/>
                  <a:pt x="4891554" y="72867"/>
                  <a:pt x="5052131" y="0"/>
                </a:cubicBezTo>
                <a:cubicBezTo>
                  <a:pt x="5212708" y="-72867"/>
                  <a:pt x="5351353" y="23842"/>
                  <a:pt x="5639588" y="0"/>
                </a:cubicBezTo>
                <a:cubicBezTo>
                  <a:pt x="5927823" y="-23842"/>
                  <a:pt x="5956434" y="24680"/>
                  <a:pt x="6227045" y="0"/>
                </a:cubicBezTo>
                <a:cubicBezTo>
                  <a:pt x="6497656" y="-24680"/>
                  <a:pt x="6699534" y="65364"/>
                  <a:pt x="7049485" y="0"/>
                </a:cubicBezTo>
                <a:cubicBezTo>
                  <a:pt x="7075802" y="141013"/>
                  <a:pt x="7028837" y="230523"/>
                  <a:pt x="7049485" y="373750"/>
                </a:cubicBezTo>
                <a:cubicBezTo>
                  <a:pt x="7070133" y="516977"/>
                  <a:pt x="7010678" y="744287"/>
                  <a:pt x="7049485" y="992947"/>
                </a:cubicBezTo>
                <a:cubicBezTo>
                  <a:pt x="7088292" y="1241607"/>
                  <a:pt x="7026883" y="1231226"/>
                  <a:pt x="7049485" y="1428059"/>
                </a:cubicBezTo>
                <a:cubicBezTo>
                  <a:pt x="7072087" y="1624892"/>
                  <a:pt x="6985213" y="1913612"/>
                  <a:pt x="7049485" y="2047256"/>
                </a:cubicBezTo>
                <a:cubicBezTo>
                  <a:pt x="7113757" y="2180900"/>
                  <a:pt x="7036528" y="2320081"/>
                  <a:pt x="7049485" y="2543730"/>
                </a:cubicBezTo>
                <a:cubicBezTo>
                  <a:pt x="7062442" y="2767379"/>
                  <a:pt x="7036055" y="2783901"/>
                  <a:pt x="7049485" y="2978842"/>
                </a:cubicBezTo>
                <a:cubicBezTo>
                  <a:pt x="7062915" y="3173783"/>
                  <a:pt x="7007287" y="3213443"/>
                  <a:pt x="7049485" y="3352592"/>
                </a:cubicBezTo>
                <a:cubicBezTo>
                  <a:pt x="7091683" y="3491741"/>
                  <a:pt x="7037971" y="3628105"/>
                  <a:pt x="7049485" y="3787703"/>
                </a:cubicBezTo>
                <a:cubicBezTo>
                  <a:pt x="7060999" y="3947301"/>
                  <a:pt x="7016744" y="4057362"/>
                  <a:pt x="7049485" y="4222815"/>
                </a:cubicBezTo>
                <a:cubicBezTo>
                  <a:pt x="7082226" y="4388268"/>
                  <a:pt x="7035782" y="4570654"/>
                  <a:pt x="7049485" y="4780651"/>
                </a:cubicBezTo>
                <a:cubicBezTo>
                  <a:pt x="7063188" y="4990648"/>
                  <a:pt x="6992340" y="5079579"/>
                  <a:pt x="7049485" y="5338486"/>
                </a:cubicBezTo>
                <a:cubicBezTo>
                  <a:pt x="7106630" y="5597394"/>
                  <a:pt x="6959503" y="5951028"/>
                  <a:pt x="7049485" y="6136191"/>
                </a:cubicBezTo>
                <a:cubicBezTo>
                  <a:pt x="6788403" y="6208170"/>
                  <a:pt x="6482384" y="6117501"/>
                  <a:pt x="6321038" y="6136191"/>
                </a:cubicBezTo>
                <a:cubicBezTo>
                  <a:pt x="6159692" y="6154881"/>
                  <a:pt x="5757897" y="6108411"/>
                  <a:pt x="5592591" y="6136191"/>
                </a:cubicBezTo>
                <a:cubicBezTo>
                  <a:pt x="5427285" y="6163971"/>
                  <a:pt x="5230712" y="6070550"/>
                  <a:pt x="5005134" y="6136191"/>
                </a:cubicBezTo>
                <a:cubicBezTo>
                  <a:pt x="4779556" y="6201832"/>
                  <a:pt x="4667238" y="6090404"/>
                  <a:pt x="4347182" y="6136191"/>
                </a:cubicBezTo>
                <a:cubicBezTo>
                  <a:pt x="4027126" y="6181978"/>
                  <a:pt x="4065629" y="6103215"/>
                  <a:pt x="3971210" y="6136191"/>
                </a:cubicBezTo>
                <a:cubicBezTo>
                  <a:pt x="3876791" y="6169167"/>
                  <a:pt x="3413489" y="6078816"/>
                  <a:pt x="3242763" y="6136191"/>
                </a:cubicBezTo>
                <a:cubicBezTo>
                  <a:pt x="3072037" y="6193566"/>
                  <a:pt x="2916906" y="6107444"/>
                  <a:pt x="2725801" y="6136191"/>
                </a:cubicBezTo>
                <a:cubicBezTo>
                  <a:pt x="2534696" y="6164938"/>
                  <a:pt x="2205861" y="6082029"/>
                  <a:pt x="2067849" y="6136191"/>
                </a:cubicBezTo>
                <a:cubicBezTo>
                  <a:pt x="1929837" y="6190353"/>
                  <a:pt x="1806620" y="6106551"/>
                  <a:pt x="1691876" y="6136191"/>
                </a:cubicBezTo>
                <a:cubicBezTo>
                  <a:pt x="1577132" y="6165831"/>
                  <a:pt x="1226430" y="6115783"/>
                  <a:pt x="963430" y="6136191"/>
                </a:cubicBezTo>
                <a:cubicBezTo>
                  <a:pt x="700430" y="6156599"/>
                  <a:pt x="286963" y="6062457"/>
                  <a:pt x="0" y="6136191"/>
                </a:cubicBezTo>
                <a:cubicBezTo>
                  <a:pt x="-40497" y="5900936"/>
                  <a:pt x="54758" y="5753297"/>
                  <a:pt x="0" y="5578355"/>
                </a:cubicBezTo>
                <a:cubicBezTo>
                  <a:pt x="-54758" y="5403413"/>
                  <a:pt x="44495" y="5381911"/>
                  <a:pt x="0" y="5204606"/>
                </a:cubicBezTo>
                <a:cubicBezTo>
                  <a:pt x="-44495" y="5027301"/>
                  <a:pt x="55841" y="4841594"/>
                  <a:pt x="0" y="4524046"/>
                </a:cubicBezTo>
                <a:cubicBezTo>
                  <a:pt x="-55841" y="4206498"/>
                  <a:pt x="33185" y="4264089"/>
                  <a:pt x="0" y="4150296"/>
                </a:cubicBezTo>
                <a:cubicBezTo>
                  <a:pt x="-33185" y="4036503"/>
                  <a:pt x="26152" y="3758857"/>
                  <a:pt x="0" y="3592461"/>
                </a:cubicBezTo>
                <a:cubicBezTo>
                  <a:pt x="-26152" y="3426066"/>
                  <a:pt x="22753" y="3294947"/>
                  <a:pt x="0" y="3218711"/>
                </a:cubicBezTo>
                <a:cubicBezTo>
                  <a:pt x="-22753" y="3142475"/>
                  <a:pt x="73971" y="2788757"/>
                  <a:pt x="0" y="2599514"/>
                </a:cubicBezTo>
                <a:cubicBezTo>
                  <a:pt x="-73971" y="2410271"/>
                  <a:pt x="47885" y="2259468"/>
                  <a:pt x="0" y="2041678"/>
                </a:cubicBezTo>
                <a:cubicBezTo>
                  <a:pt x="-47885" y="1823888"/>
                  <a:pt x="59479" y="1721597"/>
                  <a:pt x="0" y="1422481"/>
                </a:cubicBezTo>
                <a:cubicBezTo>
                  <a:pt x="-59479" y="1123365"/>
                  <a:pt x="48546" y="1132665"/>
                  <a:pt x="0" y="864645"/>
                </a:cubicBezTo>
                <a:cubicBezTo>
                  <a:pt x="-48546" y="596625"/>
                  <a:pt x="87511" y="217277"/>
                  <a:pt x="0" y="0"/>
                </a:cubicBezTo>
                <a:close/>
              </a:path>
              <a:path w="7049485" h="6136191" stroke="0" extrusionOk="0">
                <a:moveTo>
                  <a:pt x="0" y="0"/>
                </a:moveTo>
                <a:cubicBezTo>
                  <a:pt x="156205" y="-55703"/>
                  <a:pt x="399607" y="31977"/>
                  <a:pt x="516962" y="0"/>
                </a:cubicBezTo>
                <a:cubicBezTo>
                  <a:pt x="634317" y="-31977"/>
                  <a:pt x="731575" y="4304"/>
                  <a:pt x="892935" y="0"/>
                </a:cubicBezTo>
                <a:cubicBezTo>
                  <a:pt x="1054295" y="-4304"/>
                  <a:pt x="1352718" y="76884"/>
                  <a:pt x="1621382" y="0"/>
                </a:cubicBezTo>
                <a:cubicBezTo>
                  <a:pt x="1890046" y="-76884"/>
                  <a:pt x="1898437" y="19717"/>
                  <a:pt x="2138344" y="0"/>
                </a:cubicBezTo>
                <a:cubicBezTo>
                  <a:pt x="2378251" y="-19717"/>
                  <a:pt x="2509329" y="961"/>
                  <a:pt x="2655306" y="0"/>
                </a:cubicBezTo>
                <a:cubicBezTo>
                  <a:pt x="2801283" y="-961"/>
                  <a:pt x="3052852" y="72387"/>
                  <a:pt x="3383753" y="0"/>
                </a:cubicBezTo>
                <a:cubicBezTo>
                  <a:pt x="3714654" y="-72387"/>
                  <a:pt x="3638196" y="27587"/>
                  <a:pt x="3830220" y="0"/>
                </a:cubicBezTo>
                <a:cubicBezTo>
                  <a:pt x="4022244" y="-27587"/>
                  <a:pt x="4388301" y="40020"/>
                  <a:pt x="4558667" y="0"/>
                </a:cubicBezTo>
                <a:cubicBezTo>
                  <a:pt x="4729033" y="-40020"/>
                  <a:pt x="5105669" y="56551"/>
                  <a:pt x="5287114" y="0"/>
                </a:cubicBezTo>
                <a:cubicBezTo>
                  <a:pt x="5468559" y="-56551"/>
                  <a:pt x="5614646" y="6403"/>
                  <a:pt x="5874571" y="0"/>
                </a:cubicBezTo>
                <a:cubicBezTo>
                  <a:pt x="6134496" y="-6403"/>
                  <a:pt x="6695524" y="125329"/>
                  <a:pt x="7049485" y="0"/>
                </a:cubicBezTo>
                <a:cubicBezTo>
                  <a:pt x="7084970" y="217144"/>
                  <a:pt x="7006048" y="373662"/>
                  <a:pt x="7049485" y="496474"/>
                </a:cubicBezTo>
                <a:cubicBezTo>
                  <a:pt x="7092922" y="619286"/>
                  <a:pt x="7006952" y="791091"/>
                  <a:pt x="7049485" y="870223"/>
                </a:cubicBezTo>
                <a:cubicBezTo>
                  <a:pt x="7092018" y="949355"/>
                  <a:pt x="7004694" y="1275801"/>
                  <a:pt x="7049485" y="1428059"/>
                </a:cubicBezTo>
                <a:cubicBezTo>
                  <a:pt x="7094276" y="1580317"/>
                  <a:pt x="7045863" y="1784463"/>
                  <a:pt x="7049485" y="1985895"/>
                </a:cubicBezTo>
                <a:cubicBezTo>
                  <a:pt x="7053107" y="2187327"/>
                  <a:pt x="7045495" y="2285650"/>
                  <a:pt x="7049485" y="2543730"/>
                </a:cubicBezTo>
                <a:cubicBezTo>
                  <a:pt x="7053475" y="2801810"/>
                  <a:pt x="7004243" y="2884065"/>
                  <a:pt x="7049485" y="3162928"/>
                </a:cubicBezTo>
                <a:cubicBezTo>
                  <a:pt x="7094727" y="3441791"/>
                  <a:pt x="7001091" y="3509792"/>
                  <a:pt x="7049485" y="3782125"/>
                </a:cubicBezTo>
                <a:cubicBezTo>
                  <a:pt x="7097879" y="4054458"/>
                  <a:pt x="7042481" y="4095186"/>
                  <a:pt x="7049485" y="4401322"/>
                </a:cubicBezTo>
                <a:cubicBezTo>
                  <a:pt x="7056489" y="4707458"/>
                  <a:pt x="7020192" y="4687686"/>
                  <a:pt x="7049485" y="4775072"/>
                </a:cubicBezTo>
                <a:cubicBezTo>
                  <a:pt x="7078778" y="4862458"/>
                  <a:pt x="7039272" y="5105803"/>
                  <a:pt x="7049485" y="5210184"/>
                </a:cubicBezTo>
                <a:cubicBezTo>
                  <a:pt x="7059698" y="5314565"/>
                  <a:pt x="6971470" y="5714876"/>
                  <a:pt x="7049485" y="6136191"/>
                </a:cubicBezTo>
                <a:cubicBezTo>
                  <a:pt x="6922326" y="6176377"/>
                  <a:pt x="6688320" y="6115740"/>
                  <a:pt x="6532523" y="6136191"/>
                </a:cubicBezTo>
                <a:cubicBezTo>
                  <a:pt x="6376726" y="6156642"/>
                  <a:pt x="6088598" y="6070142"/>
                  <a:pt x="5945066" y="6136191"/>
                </a:cubicBezTo>
                <a:cubicBezTo>
                  <a:pt x="5801534" y="6202240"/>
                  <a:pt x="5712880" y="6098629"/>
                  <a:pt x="5569093" y="6136191"/>
                </a:cubicBezTo>
                <a:cubicBezTo>
                  <a:pt x="5425306" y="6173753"/>
                  <a:pt x="5309979" y="6126479"/>
                  <a:pt x="5193121" y="6136191"/>
                </a:cubicBezTo>
                <a:cubicBezTo>
                  <a:pt x="5076263" y="6145903"/>
                  <a:pt x="4860724" y="6065835"/>
                  <a:pt x="4605664" y="6136191"/>
                </a:cubicBezTo>
                <a:cubicBezTo>
                  <a:pt x="4350604" y="6206547"/>
                  <a:pt x="4369472" y="6119745"/>
                  <a:pt x="4159196" y="6136191"/>
                </a:cubicBezTo>
                <a:cubicBezTo>
                  <a:pt x="3948920" y="6152637"/>
                  <a:pt x="3674916" y="6106850"/>
                  <a:pt x="3501244" y="6136191"/>
                </a:cubicBezTo>
                <a:cubicBezTo>
                  <a:pt x="3327572" y="6165532"/>
                  <a:pt x="3235588" y="6109629"/>
                  <a:pt x="3054777" y="6136191"/>
                </a:cubicBezTo>
                <a:cubicBezTo>
                  <a:pt x="2873966" y="6162753"/>
                  <a:pt x="2635559" y="6114941"/>
                  <a:pt x="2396825" y="6136191"/>
                </a:cubicBezTo>
                <a:cubicBezTo>
                  <a:pt x="2158091" y="6157441"/>
                  <a:pt x="2180370" y="6093127"/>
                  <a:pt x="2020852" y="6136191"/>
                </a:cubicBezTo>
                <a:cubicBezTo>
                  <a:pt x="1861334" y="6179255"/>
                  <a:pt x="1532160" y="6071628"/>
                  <a:pt x="1362900" y="6136191"/>
                </a:cubicBezTo>
                <a:cubicBezTo>
                  <a:pt x="1193640" y="6200754"/>
                  <a:pt x="1020371" y="6135399"/>
                  <a:pt x="916433" y="6136191"/>
                </a:cubicBezTo>
                <a:cubicBezTo>
                  <a:pt x="812495" y="6136983"/>
                  <a:pt x="698910" y="6133383"/>
                  <a:pt x="540461" y="6136191"/>
                </a:cubicBezTo>
                <a:cubicBezTo>
                  <a:pt x="382012" y="6138999"/>
                  <a:pt x="132778" y="6086898"/>
                  <a:pt x="0" y="6136191"/>
                </a:cubicBezTo>
                <a:cubicBezTo>
                  <a:pt x="-38359" y="5875415"/>
                  <a:pt x="54250" y="5821112"/>
                  <a:pt x="0" y="5516994"/>
                </a:cubicBezTo>
                <a:cubicBezTo>
                  <a:pt x="-54250" y="5212876"/>
                  <a:pt x="7891" y="5272163"/>
                  <a:pt x="0" y="5081882"/>
                </a:cubicBezTo>
                <a:cubicBezTo>
                  <a:pt x="-7891" y="4891601"/>
                  <a:pt x="39285" y="4820676"/>
                  <a:pt x="0" y="4708132"/>
                </a:cubicBezTo>
                <a:cubicBezTo>
                  <a:pt x="-39285" y="4595588"/>
                  <a:pt x="1696" y="4428731"/>
                  <a:pt x="0" y="4334382"/>
                </a:cubicBezTo>
                <a:cubicBezTo>
                  <a:pt x="-1696" y="4240033"/>
                  <a:pt x="1994" y="3976477"/>
                  <a:pt x="0" y="3715185"/>
                </a:cubicBezTo>
                <a:cubicBezTo>
                  <a:pt x="-1994" y="3453893"/>
                  <a:pt x="34968" y="3463501"/>
                  <a:pt x="0" y="3341435"/>
                </a:cubicBezTo>
                <a:cubicBezTo>
                  <a:pt x="-34968" y="3219369"/>
                  <a:pt x="722" y="2920679"/>
                  <a:pt x="0" y="2783599"/>
                </a:cubicBezTo>
                <a:cubicBezTo>
                  <a:pt x="-722" y="2646519"/>
                  <a:pt x="22788" y="2502888"/>
                  <a:pt x="0" y="2348488"/>
                </a:cubicBezTo>
                <a:cubicBezTo>
                  <a:pt x="-22788" y="2194088"/>
                  <a:pt x="9245" y="1954582"/>
                  <a:pt x="0" y="1790652"/>
                </a:cubicBezTo>
                <a:cubicBezTo>
                  <a:pt x="-9245" y="1626722"/>
                  <a:pt x="46526" y="1400376"/>
                  <a:pt x="0" y="1232817"/>
                </a:cubicBezTo>
                <a:cubicBezTo>
                  <a:pt x="-46526" y="1065259"/>
                  <a:pt x="35338" y="924432"/>
                  <a:pt x="0" y="674981"/>
                </a:cubicBezTo>
                <a:cubicBezTo>
                  <a:pt x="-35338" y="425530"/>
                  <a:pt x="7353" y="315700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A0969-7393-0850-EE7C-7D1FA8D26576}"/>
              </a:ext>
            </a:extLst>
          </p:cNvPr>
          <p:cNvSpPr/>
          <p:nvPr/>
        </p:nvSpPr>
        <p:spPr>
          <a:xfrm>
            <a:off x="249384" y="1197033"/>
            <a:ext cx="7049485" cy="6136191"/>
          </a:xfrm>
          <a:custGeom>
            <a:avLst/>
            <a:gdLst>
              <a:gd name="connsiteX0" fmla="*/ 0 w 7049485"/>
              <a:gd name="connsiteY0" fmla="*/ 0 h 6136191"/>
              <a:gd name="connsiteX1" fmla="*/ 516962 w 7049485"/>
              <a:gd name="connsiteY1" fmla="*/ 0 h 6136191"/>
              <a:gd name="connsiteX2" fmla="*/ 1104419 w 7049485"/>
              <a:gd name="connsiteY2" fmla="*/ 0 h 6136191"/>
              <a:gd name="connsiteX3" fmla="*/ 1762371 w 7049485"/>
              <a:gd name="connsiteY3" fmla="*/ 0 h 6136191"/>
              <a:gd name="connsiteX4" fmla="*/ 2420323 w 7049485"/>
              <a:gd name="connsiteY4" fmla="*/ 0 h 6136191"/>
              <a:gd name="connsiteX5" fmla="*/ 3078275 w 7049485"/>
              <a:gd name="connsiteY5" fmla="*/ 0 h 6136191"/>
              <a:gd name="connsiteX6" fmla="*/ 3806722 w 7049485"/>
              <a:gd name="connsiteY6" fmla="*/ 0 h 6136191"/>
              <a:gd name="connsiteX7" fmla="*/ 4394179 w 7049485"/>
              <a:gd name="connsiteY7" fmla="*/ 0 h 6136191"/>
              <a:gd name="connsiteX8" fmla="*/ 5052131 w 7049485"/>
              <a:gd name="connsiteY8" fmla="*/ 0 h 6136191"/>
              <a:gd name="connsiteX9" fmla="*/ 5639588 w 7049485"/>
              <a:gd name="connsiteY9" fmla="*/ 0 h 6136191"/>
              <a:gd name="connsiteX10" fmla="*/ 6227045 w 7049485"/>
              <a:gd name="connsiteY10" fmla="*/ 0 h 6136191"/>
              <a:gd name="connsiteX11" fmla="*/ 7049485 w 7049485"/>
              <a:gd name="connsiteY11" fmla="*/ 0 h 6136191"/>
              <a:gd name="connsiteX12" fmla="*/ 7049485 w 7049485"/>
              <a:gd name="connsiteY12" fmla="*/ 373750 h 6136191"/>
              <a:gd name="connsiteX13" fmla="*/ 7049485 w 7049485"/>
              <a:gd name="connsiteY13" fmla="*/ 992947 h 6136191"/>
              <a:gd name="connsiteX14" fmla="*/ 7049485 w 7049485"/>
              <a:gd name="connsiteY14" fmla="*/ 1428059 h 6136191"/>
              <a:gd name="connsiteX15" fmla="*/ 7049485 w 7049485"/>
              <a:gd name="connsiteY15" fmla="*/ 2047256 h 6136191"/>
              <a:gd name="connsiteX16" fmla="*/ 7049485 w 7049485"/>
              <a:gd name="connsiteY16" fmla="*/ 2543730 h 6136191"/>
              <a:gd name="connsiteX17" fmla="*/ 7049485 w 7049485"/>
              <a:gd name="connsiteY17" fmla="*/ 2978842 h 6136191"/>
              <a:gd name="connsiteX18" fmla="*/ 7049485 w 7049485"/>
              <a:gd name="connsiteY18" fmla="*/ 3352592 h 6136191"/>
              <a:gd name="connsiteX19" fmla="*/ 7049485 w 7049485"/>
              <a:gd name="connsiteY19" fmla="*/ 3787703 h 6136191"/>
              <a:gd name="connsiteX20" fmla="*/ 7049485 w 7049485"/>
              <a:gd name="connsiteY20" fmla="*/ 4222815 h 6136191"/>
              <a:gd name="connsiteX21" fmla="*/ 7049485 w 7049485"/>
              <a:gd name="connsiteY21" fmla="*/ 4780651 h 6136191"/>
              <a:gd name="connsiteX22" fmla="*/ 7049485 w 7049485"/>
              <a:gd name="connsiteY22" fmla="*/ 5338486 h 6136191"/>
              <a:gd name="connsiteX23" fmla="*/ 7049485 w 7049485"/>
              <a:gd name="connsiteY23" fmla="*/ 6136191 h 6136191"/>
              <a:gd name="connsiteX24" fmla="*/ 6321038 w 7049485"/>
              <a:gd name="connsiteY24" fmla="*/ 6136191 h 6136191"/>
              <a:gd name="connsiteX25" fmla="*/ 5592591 w 7049485"/>
              <a:gd name="connsiteY25" fmla="*/ 6136191 h 6136191"/>
              <a:gd name="connsiteX26" fmla="*/ 5005134 w 7049485"/>
              <a:gd name="connsiteY26" fmla="*/ 6136191 h 6136191"/>
              <a:gd name="connsiteX27" fmla="*/ 4347182 w 7049485"/>
              <a:gd name="connsiteY27" fmla="*/ 6136191 h 6136191"/>
              <a:gd name="connsiteX28" fmla="*/ 3971210 w 7049485"/>
              <a:gd name="connsiteY28" fmla="*/ 6136191 h 6136191"/>
              <a:gd name="connsiteX29" fmla="*/ 3242763 w 7049485"/>
              <a:gd name="connsiteY29" fmla="*/ 6136191 h 6136191"/>
              <a:gd name="connsiteX30" fmla="*/ 2725801 w 7049485"/>
              <a:gd name="connsiteY30" fmla="*/ 6136191 h 6136191"/>
              <a:gd name="connsiteX31" fmla="*/ 2067849 w 7049485"/>
              <a:gd name="connsiteY31" fmla="*/ 6136191 h 6136191"/>
              <a:gd name="connsiteX32" fmla="*/ 1691876 w 7049485"/>
              <a:gd name="connsiteY32" fmla="*/ 6136191 h 6136191"/>
              <a:gd name="connsiteX33" fmla="*/ 963430 w 7049485"/>
              <a:gd name="connsiteY33" fmla="*/ 6136191 h 6136191"/>
              <a:gd name="connsiteX34" fmla="*/ 0 w 7049485"/>
              <a:gd name="connsiteY34" fmla="*/ 6136191 h 6136191"/>
              <a:gd name="connsiteX35" fmla="*/ 0 w 7049485"/>
              <a:gd name="connsiteY35" fmla="*/ 5578355 h 6136191"/>
              <a:gd name="connsiteX36" fmla="*/ 0 w 7049485"/>
              <a:gd name="connsiteY36" fmla="*/ 5204606 h 6136191"/>
              <a:gd name="connsiteX37" fmla="*/ 0 w 7049485"/>
              <a:gd name="connsiteY37" fmla="*/ 4524046 h 6136191"/>
              <a:gd name="connsiteX38" fmla="*/ 0 w 7049485"/>
              <a:gd name="connsiteY38" fmla="*/ 4150296 h 6136191"/>
              <a:gd name="connsiteX39" fmla="*/ 0 w 7049485"/>
              <a:gd name="connsiteY39" fmla="*/ 3592461 h 6136191"/>
              <a:gd name="connsiteX40" fmla="*/ 0 w 7049485"/>
              <a:gd name="connsiteY40" fmla="*/ 3218711 h 6136191"/>
              <a:gd name="connsiteX41" fmla="*/ 0 w 7049485"/>
              <a:gd name="connsiteY41" fmla="*/ 2599514 h 6136191"/>
              <a:gd name="connsiteX42" fmla="*/ 0 w 7049485"/>
              <a:gd name="connsiteY42" fmla="*/ 2041678 h 6136191"/>
              <a:gd name="connsiteX43" fmla="*/ 0 w 7049485"/>
              <a:gd name="connsiteY43" fmla="*/ 1422481 h 6136191"/>
              <a:gd name="connsiteX44" fmla="*/ 0 w 7049485"/>
              <a:gd name="connsiteY44" fmla="*/ 864645 h 6136191"/>
              <a:gd name="connsiteX45" fmla="*/ 0 w 7049485"/>
              <a:gd name="connsiteY45" fmla="*/ 0 h 613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049485" h="6136191" fill="none" extrusionOk="0">
                <a:moveTo>
                  <a:pt x="0" y="0"/>
                </a:moveTo>
                <a:cubicBezTo>
                  <a:pt x="194819" y="-17245"/>
                  <a:pt x="348019" y="8352"/>
                  <a:pt x="516962" y="0"/>
                </a:cubicBezTo>
                <a:cubicBezTo>
                  <a:pt x="685905" y="-8352"/>
                  <a:pt x="965234" y="18585"/>
                  <a:pt x="1104419" y="0"/>
                </a:cubicBezTo>
                <a:cubicBezTo>
                  <a:pt x="1243604" y="-18585"/>
                  <a:pt x="1486040" y="40294"/>
                  <a:pt x="1762371" y="0"/>
                </a:cubicBezTo>
                <a:cubicBezTo>
                  <a:pt x="2038702" y="-40294"/>
                  <a:pt x="2274781" y="65791"/>
                  <a:pt x="2420323" y="0"/>
                </a:cubicBezTo>
                <a:cubicBezTo>
                  <a:pt x="2565865" y="-65791"/>
                  <a:pt x="2900080" y="44458"/>
                  <a:pt x="3078275" y="0"/>
                </a:cubicBezTo>
                <a:cubicBezTo>
                  <a:pt x="3256470" y="-44458"/>
                  <a:pt x="3655681" y="24294"/>
                  <a:pt x="3806722" y="0"/>
                </a:cubicBezTo>
                <a:cubicBezTo>
                  <a:pt x="3957763" y="-24294"/>
                  <a:pt x="4250685" y="65237"/>
                  <a:pt x="4394179" y="0"/>
                </a:cubicBezTo>
                <a:cubicBezTo>
                  <a:pt x="4537673" y="-65237"/>
                  <a:pt x="4891554" y="72867"/>
                  <a:pt x="5052131" y="0"/>
                </a:cubicBezTo>
                <a:cubicBezTo>
                  <a:pt x="5212708" y="-72867"/>
                  <a:pt x="5351353" y="23842"/>
                  <a:pt x="5639588" y="0"/>
                </a:cubicBezTo>
                <a:cubicBezTo>
                  <a:pt x="5927823" y="-23842"/>
                  <a:pt x="5956434" y="24680"/>
                  <a:pt x="6227045" y="0"/>
                </a:cubicBezTo>
                <a:cubicBezTo>
                  <a:pt x="6497656" y="-24680"/>
                  <a:pt x="6699534" y="65364"/>
                  <a:pt x="7049485" y="0"/>
                </a:cubicBezTo>
                <a:cubicBezTo>
                  <a:pt x="7075802" y="141013"/>
                  <a:pt x="7028837" y="230523"/>
                  <a:pt x="7049485" y="373750"/>
                </a:cubicBezTo>
                <a:cubicBezTo>
                  <a:pt x="7070133" y="516977"/>
                  <a:pt x="7010678" y="744287"/>
                  <a:pt x="7049485" y="992947"/>
                </a:cubicBezTo>
                <a:cubicBezTo>
                  <a:pt x="7088292" y="1241607"/>
                  <a:pt x="7026883" y="1231226"/>
                  <a:pt x="7049485" y="1428059"/>
                </a:cubicBezTo>
                <a:cubicBezTo>
                  <a:pt x="7072087" y="1624892"/>
                  <a:pt x="6985213" y="1913612"/>
                  <a:pt x="7049485" y="2047256"/>
                </a:cubicBezTo>
                <a:cubicBezTo>
                  <a:pt x="7113757" y="2180900"/>
                  <a:pt x="7036528" y="2320081"/>
                  <a:pt x="7049485" y="2543730"/>
                </a:cubicBezTo>
                <a:cubicBezTo>
                  <a:pt x="7062442" y="2767379"/>
                  <a:pt x="7036055" y="2783901"/>
                  <a:pt x="7049485" y="2978842"/>
                </a:cubicBezTo>
                <a:cubicBezTo>
                  <a:pt x="7062915" y="3173783"/>
                  <a:pt x="7007287" y="3213443"/>
                  <a:pt x="7049485" y="3352592"/>
                </a:cubicBezTo>
                <a:cubicBezTo>
                  <a:pt x="7091683" y="3491741"/>
                  <a:pt x="7037971" y="3628105"/>
                  <a:pt x="7049485" y="3787703"/>
                </a:cubicBezTo>
                <a:cubicBezTo>
                  <a:pt x="7060999" y="3947301"/>
                  <a:pt x="7016744" y="4057362"/>
                  <a:pt x="7049485" y="4222815"/>
                </a:cubicBezTo>
                <a:cubicBezTo>
                  <a:pt x="7082226" y="4388268"/>
                  <a:pt x="7035782" y="4570654"/>
                  <a:pt x="7049485" y="4780651"/>
                </a:cubicBezTo>
                <a:cubicBezTo>
                  <a:pt x="7063188" y="4990648"/>
                  <a:pt x="6992340" y="5079579"/>
                  <a:pt x="7049485" y="5338486"/>
                </a:cubicBezTo>
                <a:cubicBezTo>
                  <a:pt x="7106630" y="5597394"/>
                  <a:pt x="6959503" y="5951028"/>
                  <a:pt x="7049485" y="6136191"/>
                </a:cubicBezTo>
                <a:cubicBezTo>
                  <a:pt x="6788403" y="6208170"/>
                  <a:pt x="6482384" y="6117501"/>
                  <a:pt x="6321038" y="6136191"/>
                </a:cubicBezTo>
                <a:cubicBezTo>
                  <a:pt x="6159692" y="6154881"/>
                  <a:pt x="5757897" y="6108411"/>
                  <a:pt x="5592591" y="6136191"/>
                </a:cubicBezTo>
                <a:cubicBezTo>
                  <a:pt x="5427285" y="6163971"/>
                  <a:pt x="5230712" y="6070550"/>
                  <a:pt x="5005134" y="6136191"/>
                </a:cubicBezTo>
                <a:cubicBezTo>
                  <a:pt x="4779556" y="6201832"/>
                  <a:pt x="4667238" y="6090404"/>
                  <a:pt x="4347182" y="6136191"/>
                </a:cubicBezTo>
                <a:cubicBezTo>
                  <a:pt x="4027126" y="6181978"/>
                  <a:pt x="4065629" y="6103215"/>
                  <a:pt x="3971210" y="6136191"/>
                </a:cubicBezTo>
                <a:cubicBezTo>
                  <a:pt x="3876791" y="6169167"/>
                  <a:pt x="3413489" y="6078816"/>
                  <a:pt x="3242763" y="6136191"/>
                </a:cubicBezTo>
                <a:cubicBezTo>
                  <a:pt x="3072037" y="6193566"/>
                  <a:pt x="2916906" y="6107444"/>
                  <a:pt x="2725801" y="6136191"/>
                </a:cubicBezTo>
                <a:cubicBezTo>
                  <a:pt x="2534696" y="6164938"/>
                  <a:pt x="2205861" y="6082029"/>
                  <a:pt x="2067849" y="6136191"/>
                </a:cubicBezTo>
                <a:cubicBezTo>
                  <a:pt x="1929837" y="6190353"/>
                  <a:pt x="1806620" y="6106551"/>
                  <a:pt x="1691876" y="6136191"/>
                </a:cubicBezTo>
                <a:cubicBezTo>
                  <a:pt x="1577132" y="6165831"/>
                  <a:pt x="1226430" y="6115783"/>
                  <a:pt x="963430" y="6136191"/>
                </a:cubicBezTo>
                <a:cubicBezTo>
                  <a:pt x="700430" y="6156599"/>
                  <a:pt x="286963" y="6062457"/>
                  <a:pt x="0" y="6136191"/>
                </a:cubicBezTo>
                <a:cubicBezTo>
                  <a:pt x="-40497" y="5900936"/>
                  <a:pt x="54758" y="5753297"/>
                  <a:pt x="0" y="5578355"/>
                </a:cubicBezTo>
                <a:cubicBezTo>
                  <a:pt x="-54758" y="5403413"/>
                  <a:pt x="44495" y="5381911"/>
                  <a:pt x="0" y="5204606"/>
                </a:cubicBezTo>
                <a:cubicBezTo>
                  <a:pt x="-44495" y="5027301"/>
                  <a:pt x="55841" y="4841594"/>
                  <a:pt x="0" y="4524046"/>
                </a:cubicBezTo>
                <a:cubicBezTo>
                  <a:pt x="-55841" y="4206498"/>
                  <a:pt x="33185" y="4264089"/>
                  <a:pt x="0" y="4150296"/>
                </a:cubicBezTo>
                <a:cubicBezTo>
                  <a:pt x="-33185" y="4036503"/>
                  <a:pt x="26152" y="3758857"/>
                  <a:pt x="0" y="3592461"/>
                </a:cubicBezTo>
                <a:cubicBezTo>
                  <a:pt x="-26152" y="3426066"/>
                  <a:pt x="22753" y="3294947"/>
                  <a:pt x="0" y="3218711"/>
                </a:cubicBezTo>
                <a:cubicBezTo>
                  <a:pt x="-22753" y="3142475"/>
                  <a:pt x="73971" y="2788757"/>
                  <a:pt x="0" y="2599514"/>
                </a:cubicBezTo>
                <a:cubicBezTo>
                  <a:pt x="-73971" y="2410271"/>
                  <a:pt x="47885" y="2259468"/>
                  <a:pt x="0" y="2041678"/>
                </a:cubicBezTo>
                <a:cubicBezTo>
                  <a:pt x="-47885" y="1823888"/>
                  <a:pt x="59479" y="1721597"/>
                  <a:pt x="0" y="1422481"/>
                </a:cubicBezTo>
                <a:cubicBezTo>
                  <a:pt x="-59479" y="1123365"/>
                  <a:pt x="48546" y="1132665"/>
                  <a:pt x="0" y="864645"/>
                </a:cubicBezTo>
                <a:cubicBezTo>
                  <a:pt x="-48546" y="596625"/>
                  <a:pt x="87511" y="217277"/>
                  <a:pt x="0" y="0"/>
                </a:cubicBezTo>
                <a:close/>
              </a:path>
              <a:path w="7049485" h="6136191" stroke="0" extrusionOk="0">
                <a:moveTo>
                  <a:pt x="0" y="0"/>
                </a:moveTo>
                <a:cubicBezTo>
                  <a:pt x="156205" y="-55703"/>
                  <a:pt x="399607" y="31977"/>
                  <a:pt x="516962" y="0"/>
                </a:cubicBezTo>
                <a:cubicBezTo>
                  <a:pt x="634317" y="-31977"/>
                  <a:pt x="731575" y="4304"/>
                  <a:pt x="892935" y="0"/>
                </a:cubicBezTo>
                <a:cubicBezTo>
                  <a:pt x="1054295" y="-4304"/>
                  <a:pt x="1352718" y="76884"/>
                  <a:pt x="1621382" y="0"/>
                </a:cubicBezTo>
                <a:cubicBezTo>
                  <a:pt x="1890046" y="-76884"/>
                  <a:pt x="1898437" y="19717"/>
                  <a:pt x="2138344" y="0"/>
                </a:cubicBezTo>
                <a:cubicBezTo>
                  <a:pt x="2378251" y="-19717"/>
                  <a:pt x="2509329" y="961"/>
                  <a:pt x="2655306" y="0"/>
                </a:cubicBezTo>
                <a:cubicBezTo>
                  <a:pt x="2801283" y="-961"/>
                  <a:pt x="3052852" y="72387"/>
                  <a:pt x="3383753" y="0"/>
                </a:cubicBezTo>
                <a:cubicBezTo>
                  <a:pt x="3714654" y="-72387"/>
                  <a:pt x="3638196" y="27587"/>
                  <a:pt x="3830220" y="0"/>
                </a:cubicBezTo>
                <a:cubicBezTo>
                  <a:pt x="4022244" y="-27587"/>
                  <a:pt x="4388301" y="40020"/>
                  <a:pt x="4558667" y="0"/>
                </a:cubicBezTo>
                <a:cubicBezTo>
                  <a:pt x="4729033" y="-40020"/>
                  <a:pt x="5105669" y="56551"/>
                  <a:pt x="5287114" y="0"/>
                </a:cubicBezTo>
                <a:cubicBezTo>
                  <a:pt x="5468559" y="-56551"/>
                  <a:pt x="5614646" y="6403"/>
                  <a:pt x="5874571" y="0"/>
                </a:cubicBezTo>
                <a:cubicBezTo>
                  <a:pt x="6134496" y="-6403"/>
                  <a:pt x="6695524" y="125329"/>
                  <a:pt x="7049485" y="0"/>
                </a:cubicBezTo>
                <a:cubicBezTo>
                  <a:pt x="7084970" y="217144"/>
                  <a:pt x="7006048" y="373662"/>
                  <a:pt x="7049485" y="496474"/>
                </a:cubicBezTo>
                <a:cubicBezTo>
                  <a:pt x="7092922" y="619286"/>
                  <a:pt x="7006952" y="791091"/>
                  <a:pt x="7049485" y="870223"/>
                </a:cubicBezTo>
                <a:cubicBezTo>
                  <a:pt x="7092018" y="949355"/>
                  <a:pt x="7004694" y="1275801"/>
                  <a:pt x="7049485" y="1428059"/>
                </a:cubicBezTo>
                <a:cubicBezTo>
                  <a:pt x="7094276" y="1580317"/>
                  <a:pt x="7045863" y="1784463"/>
                  <a:pt x="7049485" y="1985895"/>
                </a:cubicBezTo>
                <a:cubicBezTo>
                  <a:pt x="7053107" y="2187327"/>
                  <a:pt x="7045495" y="2285650"/>
                  <a:pt x="7049485" y="2543730"/>
                </a:cubicBezTo>
                <a:cubicBezTo>
                  <a:pt x="7053475" y="2801810"/>
                  <a:pt x="7004243" y="2884065"/>
                  <a:pt x="7049485" y="3162928"/>
                </a:cubicBezTo>
                <a:cubicBezTo>
                  <a:pt x="7094727" y="3441791"/>
                  <a:pt x="7001091" y="3509792"/>
                  <a:pt x="7049485" y="3782125"/>
                </a:cubicBezTo>
                <a:cubicBezTo>
                  <a:pt x="7097879" y="4054458"/>
                  <a:pt x="7042481" y="4095186"/>
                  <a:pt x="7049485" y="4401322"/>
                </a:cubicBezTo>
                <a:cubicBezTo>
                  <a:pt x="7056489" y="4707458"/>
                  <a:pt x="7020192" y="4687686"/>
                  <a:pt x="7049485" y="4775072"/>
                </a:cubicBezTo>
                <a:cubicBezTo>
                  <a:pt x="7078778" y="4862458"/>
                  <a:pt x="7039272" y="5105803"/>
                  <a:pt x="7049485" y="5210184"/>
                </a:cubicBezTo>
                <a:cubicBezTo>
                  <a:pt x="7059698" y="5314565"/>
                  <a:pt x="6971470" y="5714876"/>
                  <a:pt x="7049485" y="6136191"/>
                </a:cubicBezTo>
                <a:cubicBezTo>
                  <a:pt x="6922326" y="6176377"/>
                  <a:pt x="6688320" y="6115740"/>
                  <a:pt x="6532523" y="6136191"/>
                </a:cubicBezTo>
                <a:cubicBezTo>
                  <a:pt x="6376726" y="6156642"/>
                  <a:pt x="6088598" y="6070142"/>
                  <a:pt x="5945066" y="6136191"/>
                </a:cubicBezTo>
                <a:cubicBezTo>
                  <a:pt x="5801534" y="6202240"/>
                  <a:pt x="5712880" y="6098629"/>
                  <a:pt x="5569093" y="6136191"/>
                </a:cubicBezTo>
                <a:cubicBezTo>
                  <a:pt x="5425306" y="6173753"/>
                  <a:pt x="5309979" y="6126479"/>
                  <a:pt x="5193121" y="6136191"/>
                </a:cubicBezTo>
                <a:cubicBezTo>
                  <a:pt x="5076263" y="6145903"/>
                  <a:pt x="4860724" y="6065835"/>
                  <a:pt x="4605664" y="6136191"/>
                </a:cubicBezTo>
                <a:cubicBezTo>
                  <a:pt x="4350604" y="6206547"/>
                  <a:pt x="4369472" y="6119745"/>
                  <a:pt x="4159196" y="6136191"/>
                </a:cubicBezTo>
                <a:cubicBezTo>
                  <a:pt x="3948920" y="6152637"/>
                  <a:pt x="3674916" y="6106850"/>
                  <a:pt x="3501244" y="6136191"/>
                </a:cubicBezTo>
                <a:cubicBezTo>
                  <a:pt x="3327572" y="6165532"/>
                  <a:pt x="3235588" y="6109629"/>
                  <a:pt x="3054777" y="6136191"/>
                </a:cubicBezTo>
                <a:cubicBezTo>
                  <a:pt x="2873966" y="6162753"/>
                  <a:pt x="2635559" y="6114941"/>
                  <a:pt x="2396825" y="6136191"/>
                </a:cubicBezTo>
                <a:cubicBezTo>
                  <a:pt x="2158091" y="6157441"/>
                  <a:pt x="2180370" y="6093127"/>
                  <a:pt x="2020852" y="6136191"/>
                </a:cubicBezTo>
                <a:cubicBezTo>
                  <a:pt x="1861334" y="6179255"/>
                  <a:pt x="1532160" y="6071628"/>
                  <a:pt x="1362900" y="6136191"/>
                </a:cubicBezTo>
                <a:cubicBezTo>
                  <a:pt x="1193640" y="6200754"/>
                  <a:pt x="1020371" y="6135399"/>
                  <a:pt x="916433" y="6136191"/>
                </a:cubicBezTo>
                <a:cubicBezTo>
                  <a:pt x="812495" y="6136983"/>
                  <a:pt x="698910" y="6133383"/>
                  <a:pt x="540461" y="6136191"/>
                </a:cubicBezTo>
                <a:cubicBezTo>
                  <a:pt x="382012" y="6138999"/>
                  <a:pt x="132778" y="6086898"/>
                  <a:pt x="0" y="6136191"/>
                </a:cubicBezTo>
                <a:cubicBezTo>
                  <a:pt x="-38359" y="5875415"/>
                  <a:pt x="54250" y="5821112"/>
                  <a:pt x="0" y="5516994"/>
                </a:cubicBezTo>
                <a:cubicBezTo>
                  <a:pt x="-54250" y="5212876"/>
                  <a:pt x="7891" y="5272163"/>
                  <a:pt x="0" y="5081882"/>
                </a:cubicBezTo>
                <a:cubicBezTo>
                  <a:pt x="-7891" y="4891601"/>
                  <a:pt x="39285" y="4820676"/>
                  <a:pt x="0" y="4708132"/>
                </a:cubicBezTo>
                <a:cubicBezTo>
                  <a:pt x="-39285" y="4595588"/>
                  <a:pt x="1696" y="4428731"/>
                  <a:pt x="0" y="4334382"/>
                </a:cubicBezTo>
                <a:cubicBezTo>
                  <a:pt x="-1696" y="4240033"/>
                  <a:pt x="1994" y="3976477"/>
                  <a:pt x="0" y="3715185"/>
                </a:cubicBezTo>
                <a:cubicBezTo>
                  <a:pt x="-1994" y="3453893"/>
                  <a:pt x="34968" y="3463501"/>
                  <a:pt x="0" y="3341435"/>
                </a:cubicBezTo>
                <a:cubicBezTo>
                  <a:pt x="-34968" y="3219369"/>
                  <a:pt x="722" y="2920679"/>
                  <a:pt x="0" y="2783599"/>
                </a:cubicBezTo>
                <a:cubicBezTo>
                  <a:pt x="-722" y="2646519"/>
                  <a:pt x="22788" y="2502888"/>
                  <a:pt x="0" y="2348488"/>
                </a:cubicBezTo>
                <a:cubicBezTo>
                  <a:pt x="-22788" y="2194088"/>
                  <a:pt x="9245" y="1954582"/>
                  <a:pt x="0" y="1790652"/>
                </a:cubicBezTo>
                <a:cubicBezTo>
                  <a:pt x="-9245" y="1626722"/>
                  <a:pt x="46526" y="1400376"/>
                  <a:pt x="0" y="1232817"/>
                </a:cubicBezTo>
                <a:cubicBezTo>
                  <a:pt x="-46526" y="1065259"/>
                  <a:pt x="35338" y="924432"/>
                  <a:pt x="0" y="674981"/>
                </a:cubicBezTo>
                <a:cubicBezTo>
                  <a:pt x="-35338" y="425530"/>
                  <a:pt x="7353" y="315700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93790" y="482993"/>
            <a:ext cx="12556450" cy="5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Non-Repeatable Read               Phantom Read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527785" y="1683453"/>
            <a:ext cx="25768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Non-Repeatable Read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27785" y="219196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Reading the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row twice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one transaction and getting different values because another transaction modified and committed it in between.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11160" y="3686337"/>
            <a:ext cx="6279356" cy="153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Example A: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A reads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100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B updates it to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commits.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Transaction A reads again: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Inside the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transaction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11160" y="5884665"/>
            <a:ext cx="7502312" cy="12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Example B: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breaks multi-step operations like: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 interest → verify funds → approve payment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values change mid-process.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77270" y="15967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 Read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77270" y="246046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 the same query twice and getting a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different set of rows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because another transaction inserted or deleted matching rows.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64874" y="3762412"/>
            <a:ext cx="6279356" cy="139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A queries orders </a:t>
            </a:r>
            <a:r>
              <a:rPr lang="en-US" sz="16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amount &gt; 1000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rows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Transaction B inserts a $1500 order and commits.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A re-runs the same query →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rows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A new row appeared like a ghost.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60645" y="5609273"/>
            <a:ext cx="6279356" cy="55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in: reporting, inventory checks, fraud detection, analytics.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145" y="3494722"/>
            <a:ext cx="65901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Levels Comparison</a:t>
            </a:r>
            <a:endParaRPr lang="en-US" sz="3900" dirty="0"/>
          </a:p>
        </p:txBody>
      </p:sp>
      <p:sp>
        <p:nvSpPr>
          <p:cNvPr id="34" name="Shape 32"/>
          <p:cNvSpPr/>
          <p:nvPr/>
        </p:nvSpPr>
        <p:spPr>
          <a:xfrm>
            <a:off x="793790" y="6655951"/>
            <a:ext cx="13042821" cy="615196"/>
          </a:xfrm>
          <a:prstGeom prst="roundRect">
            <a:avLst>
              <a:gd name="adj" fmla="val 290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500146-E8B8-EF4B-6F4F-7E30FBEE3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102582"/>
              </p:ext>
            </p:extLst>
          </p:nvPr>
        </p:nvGraphicFramePr>
        <p:xfrm>
          <a:off x="565265" y="108206"/>
          <a:ext cx="12984479" cy="801318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695067">
                  <a:extLst>
                    <a:ext uri="{9D8B030D-6E8A-4147-A177-3AD203B41FA5}">
                      <a16:colId xmlns:a16="http://schemas.microsoft.com/office/drawing/2014/main" val="299355924"/>
                    </a:ext>
                  </a:extLst>
                </a:gridCol>
                <a:gridCol w="1439041">
                  <a:extLst>
                    <a:ext uri="{9D8B030D-6E8A-4147-A177-3AD203B41FA5}">
                      <a16:colId xmlns:a16="http://schemas.microsoft.com/office/drawing/2014/main" val="2608284596"/>
                    </a:ext>
                  </a:extLst>
                </a:gridCol>
                <a:gridCol w="1356826">
                  <a:extLst>
                    <a:ext uri="{9D8B030D-6E8A-4147-A177-3AD203B41FA5}">
                      <a16:colId xmlns:a16="http://schemas.microsoft.com/office/drawing/2014/main" val="978253614"/>
                    </a:ext>
                  </a:extLst>
                </a:gridCol>
                <a:gridCol w="1356826">
                  <a:extLst>
                    <a:ext uri="{9D8B030D-6E8A-4147-A177-3AD203B41FA5}">
                      <a16:colId xmlns:a16="http://schemas.microsoft.com/office/drawing/2014/main" val="1439290216"/>
                    </a:ext>
                  </a:extLst>
                </a:gridCol>
                <a:gridCol w="3112038">
                  <a:extLst>
                    <a:ext uri="{9D8B030D-6E8A-4147-A177-3AD203B41FA5}">
                      <a16:colId xmlns:a16="http://schemas.microsoft.com/office/drawing/2014/main" val="122243266"/>
                    </a:ext>
                  </a:extLst>
                </a:gridCol>
                <a:gridCol w="2616540">
                  <a:extLst>
                    <a:ext uri="{9D8B030D-6E8A-4147-A177-3AD203B41FA5}">
                      <a16:colId xmlns:a16="http://schemas.microsoft.com/office/drawing/2014/main" val="306043751"/>
                    </a:ext>
                  </a:extLst>
                </a:gridCol>
                <a:gridCol w="1408141">
                  <a:extLst>
                    <a:ext uri="{9D8B030D-6E8A-4147-A177-3AD203B41FA5}">
                      <a16:colId xmlns:a16="http://schemas.microsoft.com/office/drawing/2014/main" val="848036"/>
                    </a:ext>
                  </a:extLst>
                </a:gridCol>
              </a:tblGrid>
              <a:tr h="697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 dirty="0">
                          <a:effectLst/>
                        </a:rPr>
                        <a:t>Level</a:t>
                      </a:r>
                      <a:endParaRPr lang="en-CA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Dirty Read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Non-Repeatable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Phantom Read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Use Case &amp; Analogy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Prevents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Performance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extLst>
                  <a:ext uri="{0D108BD9-81ED-4DB2-BD59-A6C34878D82A}">
                    <a16:rowId xmlns:a16="http://schemas.microsoft.com/office/drawing/2014/main" val="4156467735"/>
                  </a:ext>
                </a:extLst>
              </a:tr>
              <a:tr h="1395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Read Uncommitted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Allowed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 dirty="0">
                          <a:effectLst/>
                        </a:rPr>
                        <a:t>Allowed</a:t>
                      </a:r>
                      <a:endParaRPr lang="en-CA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Allowed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 dirty="0">
                          <a:effectLst/>
                        </a:rPr>
                        <a:t>"The Gossip": Reading data instantly, even if it's not finalized. High risk, rarely used in critical financial systems.</a:t>
                      </a:r>
                      <a:endParaRPr lang="en-CA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❌ Dirty Reads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❌ Non-repeatable reads</a:t>
                      </a:r>
                      <a:br>
                        <a:rPr lang="en-CA" sz="2000" kern="100">
                          <a:effectLst/>
                        </a:rPr>
                      </a:br>
                      <a:r>
                        <a:rPr lang="en-CA" sz="2000" kern="100">
                          <a:effectLst/>
                        </a:rPr>
                        <a:t>❌ Phantom reads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 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Very High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extLst>
                  <a:ext uri="{0D108BD9-81ED-4DB2-BD59-A6C34878D82A}">
                    <a16:rowId xmlns:a16="http://schemas.microsoft.com/office/drawing/2014/main" val="4247796165"/>
                  </a:ext>
                </a:extLst>
              </a:tr>
              <a:tr h="1861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Read Committed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Allowed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Allowed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Default in PostgreSQL/Oracle. "The Official Statement." You only see data that has been officially committed. Prevents gossip, but data can change mid-transaction.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✅ Dirty Reads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❌ Non-repeatable reads</a:t>
                      </a:r>
                      <a:br>
                        <a:rPr lang="en-CA" sz="2000" kern="100">
                          <a:effectLst/>
                        </a:rPr>
                      </a:br>
                      <a:r>
                        <a:rPr lang="en-CA" sz="2000" kern="100">
                          <a:effectLst/>
                        </a:rPr>
                        <a:t>❌ Phantom reads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 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High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extLst>
                  <a:ext uri="{0D108BD9-81ED-4DB2-BD59-A6C34878D82A}">
                    <a16:rowId xmlns:a16="http://schemas.microsoft.com/office/drawing/2014/main" val="608824693"/>
                  </a:ext>
                </a:extLst>
              </a:tr>
              <a:tr h="1861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Repeatable Read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Allowed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Default in MySQL/InnoDB. "The Snapshot." If you read a row, you see the same value even if someone else changes it. However, new "phantom" rows can appear.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✅ Dirty Read</a:t>
                      </a:r>
                      <a:br>
                        <a:rPr lang="en-CA" sz="2000" kern="100">
                          <a:effectLst/>
                        </a:rPr>
                      </a:br>
                      <a:r>
                        <a:rPr lang="en-CA" sz="2000" kern="100">
                          <a:effectLst/>
                        </a:rPr>
                        <a:t>✅ Non-repeatable Read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❌ Phantom Reads (conceptually)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 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Medium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extLst>
                  <a:ext uri="{0D108BD9-81ED-4DB2-BD59-A6C34878D82A}">
                    <a16:rowId xmlns:a16="http://schemas.microsoft.com/office/drawing/2014/main" val="51228829"/>
                  </a:ext>
                </a:extLst>
              </a:tr>
              <a:tr h="1395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Serializable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Prevented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 dirty="0">
                          <a:effectLst/>
                        </a:rPr>
                        <a:t>"The Vault." Transactions execute as if they were queued one after another. Highest consistency, lowest concurrency.</a:t>
                      </a:r>
                      <a:endParaRPr lang="en-CA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✅ Dirty Read</a:t>
                      </a:r>
                      <a:br>
                        <a:rPr lang="en-CA" sz="2000" kern="100">
                          <a:effectLst/>
                        </a:rPr>
                      </a:br>
                      <a:r>
                        <a:rPr lang="en-CA" sz="2000" kern="100">
                          <a:effectLst/>
                        </a:rPr>
                        <a:t>✅ Non-repeatable Read</a:t>
                      </a:r>
                    </a:p>
                    <a:p>
                      <a:pPr>
                        <a:buNone/>
                      </a:pPr>
                      <a:r>
                        <a:rPr lang="en-CA" sz="2000" kern="100">
                          <a:effectLst/>
                        </a:rPr>
                        <a:t>✅ Phantom Reads (conceptually)</a:t>
                      </a:r>
                      <a:endParaRPr lang="en-CA" sz="20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kern="100" dirty="0">
                          <a:effectLst/>
                        </a:rPr>
                        <a:t>Lower</a:t>
                      </a:r>
                      <a:endParaRPr lang="en-CA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161" marR="63161" marT="0" marB="0"/>
                </a:tc>
                <a:extLst>
                  <a:ext uri="{0D108BD9-81ED-4DB2-BD59-A6C34878D82A}">
                    <a16:rowId xmlns:a16="http://schemas.microsoft.com/office/drawing/2014/main" val="358558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000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265A9B84-7596-FFC9-AE1D-240BD748DA87}"/>
              </a:ext>
            </a:extLst>
          </p:cNvPr>
          <p:cNvSpPr/>
          <p:nvPr/>
        </p:nvSpPr>
        <p:spPr>
          <a:xfrm>
            <a:off x="1000039" y="3979253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0A44E626-EF4A-B280-E701-BBCAE348A01F}"/>
              </a:ext>
            </a:extLst>
          </p:cNvPr>
          <p:cNvSpPr/>
          <p:nvPr/>
        </p:nvSpPr>
        <p:spPr>
          <a:xfrm>
            <a:off x="1198397" y="4128081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TRANSACTION ISOLATION LEVEL SERIALIZABLE;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4119504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69581" y="565547"/>
            <a:ext cx="1563767" cy="305753"/>
          </a:xfrm>
          <a:prstGeom prst="roundRect">
            <a:avLst>
              <a:gd name="adj" fmla="val 40220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271974" y="616744"/>
            <a:ext cx="1358979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OF THE TRADE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169581" y="929997"/>
            <a:ext cx="7777639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Concurrency in the Application Layer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6169581" y="2217658"/>
            <a:ext cx="777763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Databases provide transactions and isolation levels. But in modern systems, most concurrency mistakes actually happen in the </a:t>
            </a: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layer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inside SQL.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581" y="2891314"/>
            <a:ext cx="853916" cy="10247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0420" y="3062049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Server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170420" y="3416975"/>
            <a:ext cx="67767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Receives concurrent requests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581" y="3916085"/>
            <a:ext cx="853916" cy="10247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0420" y="4086820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170420" y="4441746"/>
            <a:ext cx="67767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Orchestrates operations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581" y="4940856"/>
            <a:ext cx="853916" cy="10247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0420" y="5111591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Repositories / ORM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170420" y="5466517"/>
            <a:ext cx="67767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Accesses the database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581" y="5965627"/>
            <a:ext cx="853916" cy="102477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0420" y="6136362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7170420" y="6491288"/>
            <a:ext cx="67767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Executes transactions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169581" y="7155656"/>
            <a:ext cx="777763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Consistency must be controlled </a:t>
            </a: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above the database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well. Transaction logic lives in your application code.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3623"/>
            <a:ext cx="101949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Application-Level Transaction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8053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Consider creating a task (like Jira/Trello). A single business operation requires multiple steps: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2921318"/>
            <a:ext cx="6565106" cy="3944660"/>
          </a:xfrm>
          <a:prstGeom prst="roundRect">
            <a:avLst>
              <a:gd name="adj" fmla="val 7245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9273" y="3119676"/>
            <a:ext cx="27849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Multi-Step Problem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49273" y="365307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7047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3687" y="369028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94115" y="37212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Task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49273" y="449639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7047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687" y="453360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94115" y="45646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Comments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49273" y="533971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7047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3687" y="537692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494115" y="5407938"/>
            <a:ext cx="28808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+mj-lt"/>
                <a:ea typeface="Inter" pitchFamily="34" charset="-122"/>
                <a:cs typeface="Inter" pitchFamily="34" charset="-120"/>
              </a:rPr>
              <a:t>Update Project Statistics</a:t>
            </a:r>
            <a:endParaRPr lang="en-US" sz="195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9273" y="618303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7047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3687" y="622024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94115" y="62512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Activity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64874" y="3119676"/>
            <a:ext cx="27083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Dangerous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564874" y="362819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step 3 fails but steps 1 and 2 already succeeded, the database becomes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inconsistent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4441865"/>
            <a:ext cx="6279356" cy="111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exists 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Comments exist 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counter incorrect 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64874" y="573476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 why we need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transaction covering the entire business operation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Writing raw SQL transactions everywhere is error-prone — developers forget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rollback()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error handling.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01" y="803315"/>
            <a:ext cx="6820733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Repository &amp; Transactor Pattern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36201" y="1556504"/>
            <a:ext cx="12557998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Repositories</a:t>
            </a: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(TaskRepository, CommentRepository, UserRepository) handle data access for their domain but operate independently — they don't coordinate transactions across operations.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36201" y="2736195"/>
            <a:ext cx="21615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Transactor Pattern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36201" y="3112789"/>
            <a:ext cx="6084808" cy="689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supervisory layer that controls the full transaction lifecycle: </a:t>
            </a:r>
            <a:r>
              <a:rPr lang="en-US" sz="12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BEGIN → execute business logic → COMMIT or ROLLBACK</a:t>
            </a: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If any step fails, it automatically triggers a rollback.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6201" y="3916699"/>
            <a:ext cx="6084808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When </a:t>
            </a: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repositoryTransactor.run(async () =&gt; { ... })</a:t>
            </a: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executes, a </a:t>
            </a: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</a:t>
            </a: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implicitly started. All repository operations inside share that context.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20723" y="5851803"/>
            <a:ext cx="6084808" cy="821293"/>
          </a:xfrm>
          <a:prstGeom prst="roundRect">
            <a:avLst>
              <a:gd name="adj" fmla="val 17451"/>
            </a:avLst>
          </a:prstGeom>
          <a:solidFill>
            <a:srgbClr val="FFC4B3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909" y="6086713"/>
            <a:ext cx="198953" cy="159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8050" y="6019324"/>
            <a:ext cx="5408295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developer never needs to manually call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or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rollback()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Transactor handles it, eliminating human error.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17011" y="2477603"/>
            <a:ext cx="21906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Pseudo-code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517011" y="2679859"/>
            <a:ext cx="6084808" cy="4602599"/>
          </a:xfrm>
          <a:prstGeom prst="roundRect">
            <a:avLst>
              <a:gd name="adj" fmla="val 311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509153" y="2679859"/>
            <a:ext cx="6100524" cy="4602599"/>
          </a:xfrm>
          <a:prstGeom prst="roundRect">
            <a:avLst>
              <a:gd name="adj" fmla="val 5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68339" y="2799278"/>
            <a:ext cx="5782151" cy="436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CreateTaskUseCase {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constructor(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private taskRepository: TaskRepository,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private repositoryTransactor: RepositoryTransactor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 {}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async handle(request) {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this.repositoryTransactor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.run(async () =&gt; {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const task = Task.create(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request.taskName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await this.taskRepository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.insert(task);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// Auto-rollback if this fails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task;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2098"/>
            <a:ext cx="101932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Industry Favors the Transactor Pattern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59010"/>
            <a:ext cx="4215289" cy="2428875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9768" y="2764988"/>
            <a:ext cx="27377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Human Error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194209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forgotten rollbacks, partial writes, or dangling data. The framework manages commits and rollbacks automatically.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559010"/>
            <a:ext cx="4215408" cy="2428875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3415" y="2764988"/>
            <a:ext cx="32652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Case–Level Boundaries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13415" y="3194209"/>
            <a:ext cx="380345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belong at the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Case level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(e.g., </a:t>
            </a: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CreateOrderUseCase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), not inside individual repository methods. Fragmenting transactions breaks atomicity.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559010"/>
            <a:ext cx="4215289" cy="2428875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27181" y="27649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Widely Adopted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7181" y="3194209"/>
            <a:ext cx="380333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 in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NestJS, Spring Boot, Go-based services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Domain-Driven Design systems. Framework responsibility, not individual developer concern.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211128"/>
            <a:ext cx="13042821" cy="1476256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1410" y="5218748"/>
            <a:ext cx="6513790" cy="1461016"/>
          </a:xfrm>
          <a:prstGeom prst="roundRect">
            <a:avLst>
              <a:gd name="adj" fmla="val 12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9768" y="54171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Transactor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846326"/>
            <a:ext cx="611707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safety = developer's full responsibility → high error risk in complex workflows.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0" y="5218748"/>
            <a:ext cx="6513790" cy="1461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0" y="5218748"/>
            <a:ext cx="22860" cy="1461016"/>
          </a:xfrm>
          <a:prstGeom prst="roundRect">
            <a:avLst>
              <a:gd name="adj" fmla="val 781396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13558" y="54171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Transactor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513558" y="5846326"/>
            <a:ext cx="611707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control = framework responsibility → developers focus on business logic.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5948"/>
            <a:ext cx="75082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API-Based Concurrency Testing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83368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Race conditions rarely appear during development with single requests. In production, hundreds of users interact simultaneously. Engineers intentionally stress the application to expose hidden synchronization problems.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3009543"/>
            <a:ext cx="496133" cy="4961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4330" y="30095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JMeter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024330" y="3438763"/>
            <a:ext cx="68122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standard, heavily used in banking and telecom. Simulates thousands of users, workflows, and authenticated sessions via a graphical interface.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4788218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24330" y="47882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024330" y="5217438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Modern, scriptable load testing tool written in JavaScript. Widely integrated into CI/CD pipelines.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0190" y="6249353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4330" y="6249353"/>
            <a:ext cx="24882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Benchmark Tools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024330" y="6678573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Lightweight command-line tools to quickly hammer API endpoints without complex setup.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7471"/>
            <a:ext cx="88737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Interpreting Concurrency Test Results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33563"/>
            <a:ext cx="28364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Test Command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366962"/>
            <a:ext cx="6279356" cy="4108133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3908" y="2366962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2266" y="2515791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100 concurrent users, 1000 total requests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./benchmark -c 100 -n 1000 \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-u http://localhost:3000/api/transfer \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-m POST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Successful requests: 998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Failed requests:       2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 distribution: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200: 998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409:   2  ← HTTP 409 Conflict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669833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-c 100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100 concurrent users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-n 1000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1000 total requests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21999" y="1635204"/>
            <a:ext cx="6565106" cy="5876806"/>
          </a:xfrm>
          <a:prstGeom prst="roundRect">
            <a:avLst>
              <a:gd name="adj" fmla="val 4863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357" y="18335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the Results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0357" y="2342078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beginner sees 998 successes and assumes good performance. An engineer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immediately investigates any failure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20357" y="3155752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 409 Conflict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may mean the database successfully prevented an unsafe concurrent update via optimistic locking — a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 outcome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20357" y="4286964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can also signal deadlocks or logical race conditions requiring log analysis.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620357" y="5145286"/>
            <a:ext cx="6168390" cy="1478280"/>
          </a:xfrm>
          <a:prstGeom prst="roundRect">
            <a:avLst>
              <a:gd name="adj" fmla="val 12083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715" y="5448181"/>
            <a:ext cx="248007" cy="19835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65081" y="5393174"/>
            <a:ext cx="5325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Industrial objective: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Always prefer safe failure — a controlled error is far better than a corrupted financial transfer.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7163" y="434459"/>
            <a:ext cx="7447836" cy="49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Replicas &amp; Consistency Trade-offs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17163" y="1174671"/>
            <a:ext cx="12395954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systems scale, the primary database gets overloaded with read queries.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Replicas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are copies that handle only </a:t>
            </a:r>
            <a:r>
              <a:rPr lang="en-US" sz="16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queries — but they introduce a critical trade-off.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86" y="1765221"/>
            <a:ext cx="8373189" cy="5664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2884" y="3808081"/>
            <a:ext cx="1524684" cy="139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Replica Architecture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811582" y="5623486"/>
            <a:ext cx="2268239" cy="69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Replication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811582" y="6419917"/>
            <a:ext cx="2268239" cy="49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Changes sent to replicas with delay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495911" y="5623486"/>
            <a:ext cx="2268239" cy="69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 1 (Reader)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3495911" y="6419917"/>
            <a:ext cx="2268239" cy="49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Serves SELECT queries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495911" y="2264222"/>
            <a:ext cx="2268239" cy="69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 2 (Reader)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3495911" y="3060652"/>
            <a:ext cx="2268239" cy="49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Serves SELECT queries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826109" y="2313611"/>
            <a:ext cx="2268239" cy="34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(Writer)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8826109" y="2761410"/>
            <a:ext cx="2268239" cy="74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Handles INSERT/UPDATE/DELETE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68028" y="7584303"/>
            <a:ext cx="1239595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Replication is usually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asynchronous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performance, meaning a replica is always slightly behind the primary — this is called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replication lag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157"/>
            <a:ext cx="8455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Replication Lag Bug &amp; Solutions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642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Bug Scenario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09764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204" y="313485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38632" y="3165872"/>
            <a:ext cx="51077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posts a comment → goes to Primary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94096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204" y="397817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438632" y="4009192"/>
            <a:ext cx="48873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is redirected to the comment page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93790" y="4784288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204" y="48214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438632" y="4852511"/>
            <a:ext cx="56345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balancer routes read to a Replica that hasn't received the new comment yet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93790" y="5869662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204" y="590686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438632" y="5937885"/>
            <a:ext cx="56345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sees "Comment posted!" but the page shows no comments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21999" y="2365891"/>
            <a:ext cx="6565106" cy="4415552"/>
          </a:xfrm>
          <a:prstGeom prst="roundRect">
            <a:avLst>
              <a:gd name="adj" fmla="val 6473"/>
            </a:avLst>
          </a:prstGeom>
          <a:solidFill>
            <a:srgbClr val="FFA6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20357" y="25642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620357" y="3097649"/>
            <a:ext cx="2985016" cy="3166348"/>
          </a:xfrm>
          <a:prstGeom prst="roundRect">
            <a:avLst>
              <a:gd name="adj" fmla="val 3676"/>
            </a:avLst>
          </a:prstGeom>
          <a:solidFill>
            <a:srgbClr val="FFA647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97497" y="3097649"/>
            <a:ext cx="91440" cy="3166348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10155" y="3318867"/>
            <a:ext cx="24740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Read-After-Write Consistency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10155" y="4137541"/>
            <a:ext cx="247400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Remember that User A just wrote something. For the next 5–10 seconds, route their reads to the </a:t>
            </a:r>
            <a:r>
              <a:rPr lang="en-US" sz="1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</a:t>
            </a: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the Replica.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0803731" y="3097649"/>
            <a:ext cx="2985016" cy="3166348"/>
          </a:xfrm>
          <a:prstGeom prst="roundRect">
            <a:avLst>
              <a:gd name="adj" fmla="val 3676"/>
            </a:avLst>
          </a:prstGeom>
          <a:solidFill>
            <a:srgbClr val="FFA647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80871" y="3097649"/>
            <a:ext cx="91440" cy="3166348"/>
          </a:xfrm>
          <a:prstGeom prst="roundRect">
            <a:avLst>
              <a:gd name="adj" fmla="val 19534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93529" y="3318867"/>
            <a:ext cx="24740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GTID Consistent Reads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093529" y="4137541"/>
            <a:ext cx="247400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setups (MySQL with GTID) allow the replica to wait until it has caught up to the specific transaction ID before returning data.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6343" y="1247418"/>
            <a:ext cx="386726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Summary: Key Takeaways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986343" y="1755934"/>
            <a:ext cx="8144113" cy="1123950"/>
          </a:xfrm>
          <a:prstGeom prst="roundRect">
            <a:avLst>
              <a:gd name="adj" fmla="val 1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18860" y="1888450"/>
            <a:ext cx="374928" cy="374928"/>
          </a:xfrm>
          <a:prstGeom prst="roundRect">
            <a:avLst>
              <a:gd name="adj" fmla="val 2438624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968" y="1991558"/>
            <a:ext cx="168712" cy="1687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8860" y="2342078"/>
            <a:ext cx="1562219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18860" y="2584490"/>
            <a:ext cx="7879080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COMMIT/ROLLBACK provide atomicity to prevent partial failures in multi-step operations.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986343" y="2958584"/>
            <a:ext cx="8144113" cy="1123950"/>
          </a:xfrm>
          <a:prstGeom prst="roundRect">
            <a:avLst>
              <a:gd name="adj" fmla="val 1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18860" y="3091101"/>
            <a:ext cx="374928" cy="374928"/>
          </a:xfrm>
          <a:prstGeom prst="roundRect">
            <a:avLst>
              <a:gd name="adj" fmla="val 2438624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968" y="3194209"/>
            <a:ext cx="168712" cy="1687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18860" y="3544729"/>
            <a:ext cx="1562219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Conditions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18860" y="3787140"/>
            <a:ext cx="7879080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Concurrent operations interleaving incorrectly lead to lost updates, overselling, and data corruption.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986343" y="4161234"/>
            <a:ext cx="8144113" cy="1123950"/>
          </a:xfrm>
          <a:prstGeom prst="roundRect">
            <a:avLst>
              <a:gd name="adj" fmla="val 1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118860" y="4293751"/>
            <a:ext cx="374928" cy="374928"/>
          </a:xfrm>
          <a:prstGeom prst="roundRect">
            <a:avLst>
              <a:gd name="adj" fmla="val 2438624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1968" y="4396859"/>
            <a:ext cx="168712" cy="1687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18860" y="4747379"/>
            <a:ext cx="1562219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Levels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18860" y="4989790"/>
            <a:ext cx="7879080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Committed → Serializable: tools to balance performance against consistency guarantees.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986343" y="5363885"/>
            <a:ext cx="8144113" cy="1123950"/>
          </a:xfrm>
          <a:prstGeom prst="roundRect">
            <a:avLst>
              <a:gd name="adj" fmla="val 100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118860" y="5496401"/>
            <a:ext cx="374928" cy="374928"/>
          </a:xfrm>
          <a:prstGeom prst="roundRect">
            <a:avLst>
              <a:gd name="adj" fmla="val 2438624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1968" y="5599509"/>
            <a:ext cx="168712" cy="1687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18860" y="5950029"/>
            <a:ext cx="1562219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Replicas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118860" y="6192441"/>
            <a:ext cx="7879080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read throughput but introduce eventual consistency — requiring application-level logic to handle stale reads.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986343" y="6576298"/>
            <a:ext cx="8144113" cy="405884"/>
          </a:xfrm>
          <a:prstGeom prst="roundRect">
            <a:avLst>
              <a:gd name="adj" fmla="val 27714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1240" y="6745010"/>
            <a:ext cx="156210" cy="12489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92347" y="6686193"/>
            <a:ext cx="7613213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Step: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Try the activity.pdf file — test your endpoints under concurrency and analyze the results firsthand.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2707</Words>
  <Application>Microsoft Macintosh PowerPoint</Application>
  <PresentationFormat>Custom</PresentationFormat>
  <Paragraphs>383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Inter Light</vt:lpstr>
      <vt:lpstr>Inter</vt:lpstr>
      <vt:lpstr>Aptos</vt:lpstr>
      <vt:lpstr>Consolas</vt:lpstr>
      <vt:lpstr>Arial</vt:lpstr>
      <vt:lpstr>Manrope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Narges Yarahmadi Gharaei</cp:lastModifiedBy>
  <cp:revision>15</cp:revision>
  <dcterms:created xsi:type="dcterms:W3CDTF">2026-02-25T20:29:00Z</dcterms:created>
  <dcterms:modified xsi:type="dcterms:W3CDTF">2026-02-25T21:41:11Z</dcterms:modified>
</cp:coreProperties>
</file>